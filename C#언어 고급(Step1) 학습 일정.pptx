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notesMasterIdLst>
    <p:notesMasterId r:id="rId16"/>
  </p:notesMasterIdLst>
  <p:sldIdLst>
    <p:sldId id="256" r:id="rId2"/>
    <p:sldId id="748" r:id="rId3"/>
    <p:sldId id="820" r:id="rId4"/>
    <p:sldId id="664" r:id="rId5"/>
    <p:sldId id="969" r:id="rId6"/>
    <p:sldId id="970" r:id="rId7"/>
    <p:sldId id="971" r:id="rId8"/>
    <p:sldId id="972" r:id="rId9"/>
    <p:sldId id="977" r:id="rId10"/>
    <p:sldId id="979" r:id="rId11"/>
    <p:sldId id="978" r:id="rId12"/>
    <p:sldId id="980" r:id="rId13"/>
    <p:sldId id="981" r:id="rId14"/>
    <p:sldId id="982" r:id="rId15"/>
  </p:sldIdLst>
  <p:sldSz cx="9144000" cy="6858000" type="screen4x3"/>
  <p:notesSz cx="6858000" cy="9144000"/>
  <p:embeddedFontLst>
    <p:embeddedFont>
      <p:font typeface="Franklin Gothic Demi" panose="020B0703020102020204" pitchFamily="34" charset="0"/>
      <p:regular r:id="rId17"/>
      <p:italic r:id="rId18"/>
    </p:embeddedFont>
    <p:embeddedFont>
      <p:font typeface="Georgia" panose="02040502050405020303" pitchFamily="18" charset="0"/>
      <p:regular r:id="rId19"/>
      <p:bold r:id="rId20"/>
      <p:italic r:id="rId21"/>
      <p:boldItalic r:id="rId22"/>
    </p:embeddedFont>
    <p:embeddedFont>
      <p:font typeface="HY헤드라인M" panose="02030600000101010101" pitchFamily="18" charset="-127"/>
      <p:regular r:id="rId23"/>
    </p:embeddedFont>
    <p:embeddedFont>
      <p:font typeface="MS Reference Sans Serif" panose="020B0604030504040204" pitchFamily="34" charset="0"/>
      <p:regular r:id="rId24"/>
    </p:embeddedFont>
    <p:embeddedFont>
      <p:font typeface="나눔고딕" pitchFamily="2" charset="-127"/>
      <p:regular r:id="rId25"/>
      <p:bold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844"/>
    <a:srgbClr val="20B3D8"/>
    <a:srgbClr val="FFFFFF"/>
    <a:srgbClr val="20B4D8"/>
    <a:srgbClr val="2F83B9"/>
    <a:srgbClr val="0B3162"/>
    <a:srgbClr val="1C657C"/>
    <a:srgbClr val="2D586B"/>
    <a:srgbClr val="F9A818"/>
    <a:srgbClr val="38A9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24" autoAdjust="0"/>
    <p:restoredTop sz="90336" autoAdjust="0"/>
  </p:normalViewPr>
  <p:slideViewPr>
    <p:cSldViewPr snapToGrid="0">
      <p:cViewPr varScale="1">
        <p:scale>
          <a:sx n="72" d="100"/>
          <a:sy n="72" d="100"/>
        </p:scale>
        <p:origin x="66" y="10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811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355B9-9D7C-4CC1-97EB-A465385148B0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51D4A-E060-40E2-80F3-1901C94FE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05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51D4A-E060-40E2-80F3-1901C94FE5C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05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" y="0"/>
            <a:ext cx="914288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12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220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7776318" y="5710227"/>
            <a:ext cx="1367682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" dirty="0">
                <a:solidFill>
                  <a:schemeClr val="bg1"/>
                </a:solidFill>
                <a:latin typeface="Georgia" panose="02040502050405020303" pitchFamily="18" charset="0"/>
              </a:rPr>
              <a:t>Copyright 2022. DaeKyeong all rights reserved         </a:t>
            </a:r>
            <a:endParaRPr lang="ko-KR" altLang="en-US" sz="4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76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" y="420"/>
            <a:ext cx="9142880" cy="68571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3200" b="1" kern="1200" spc="-1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91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89F0BDFA-BE09-4013-BA4B-89F2D7B8B14E}" type="datetimeFigureOut">
              <a:rPr lang="ko-KR" altLang="en-US" smtClean="0"/>
              <a:pPr/>
              <a:t>2025-11-16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DD6C0820-7B92-4F7E-A12E-2ECDD3C8CA8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12198" y="5210355"/>
            <a:ext cx="1431802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" dirty="0">
                <a:solidFill>
                  <a:schemeClr val="bg1"/>
                </a:solidFill>
                <a:latin typeface="Georgia" panose="02040502050405020303" pitchFamily="18" charset="0"/>
              </a:rPr>
              <a:t>Copyright 2022. DaeKyeong all rights reserved                </a:t>
            </a:r>
            <a:endParaRPr lang="ko-KR" altLang="en-US" sz="4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943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5" r:id="rId2"/>
    <p:sldLayoutId id="2147483709" r:id="rId3"/>
    <p:sldLayoutId id="214748371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332" y="1365850"/>
            <a:ext cx="58945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C#</a:t>
            </a:r>
            <a:r>
              <a:rPr lang="ko-KR" altLang="en-US" sz="48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언어 고급</a:t>
            </a:r>
            <a:r>
              <a:rPr lang="en-US" altLang="ko-KR" sz="48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(Step1)</a:t>
            </a:r>
            <a:endParaRPr lang="ko-KR" altLang="en-US" sz="48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6185" y="782204"/>
            <a:ext cx="1087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MS Reference Sans Serif" panose="020B0604030504040204" pitchFamily="34" charset="0"/>
              </a:rPr>
              <a:t>C#</a:t>
            </a:r>
            <a:r>
              <a:rPr lang="ko-KR" altLang="en-US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MS Reference Sans Serif" panose="020B0604030504040204" pitchFamily="34" charset="0"/>
              </a:rPr>
              <a:t>언어</a:t>
            </a:r>
            <a:endParaRPr lang="en-US" altLang="ko-KR" sz="20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accent1">
                  <a:lumMod val="50000"/>
                </a:schemeClr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00332" y="3243532"/>
            <a:ext cx="2915728" cy="2225615"/>
          </a:xfrm>
          <a:prstGeom prst="rect">
            <a:avLst/>
          </a:prstGeom>
          <a:solidFill>
            <a:srgbClr val="20B3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MS Reference Sans Serif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8DA233-D86F-FE42-664B-73B8EA9CD31B}"/>
              </a:ext>
            </a:extLst>
          </p:cNvPr>
          <p:cNvSpPr txBox="1"/>
          <p:nvPr/>
        </p:nvSpPr>
        <p:spPr>
          <a:xfrm>
            <a:off x="681492" y="4010714"/>
            <a:ext cx="5405647" cy="16796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2025. 11.17-2025.11.19(3</a:t>
            </a:r>
            <a:r>
              <a:rPr lang="ko-KR" altLang="en-US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일</a:t>
            </a:r>
            <a:r>
              <a:rPr lang="en-US" altLang="ko-KR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, 24</a:t>
            </a:r>
            <a:r>
              <a:rPr lang="ko-KR" altLang="en-US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시간</a:t>
            </a:r>
            <a:r>
              <a:rPr lang="en-US" altLang="ko-KR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Prepared by </a:t>
            </a:r>
            <a:r>
              <a:rPr lang="en-US" altLang="ko-KR" sz="2400" b="1" spc="-1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DaeKyeong</a:t>
            </a:r>
            <a:r>
              <a:rPr lang="en-US" altLang="ko-KR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 Kim</a:t>
            </a:r>
          </a:p>
          <a:p>
            <a:pPr>
              <a:lnSpc>
                <a:spcPct val="150000"/>
              </a:lnSpc>
            </a:pPr>
            <a:r>
              <a:rPr lang="en-US" altLang="ko-KR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Ph.D.</a:t>
            </a:r>
          </a:p>
        </p:txBody>
      </p:sp>
      <p:pic>
        <p:nvPicPr>
          <p:cNvPr id="3" name="Picture 2" descr="한국기술교육대학교">
            <a:extLst>
              <a:ext uri="{FF2B5EF4-FFF2-40B4-BE49-F238E27FC236}">
                <a16:creationId xmlns:a16="http://schemas.microsoft.com/office/drawing/2014/main" id="{68AB4439-D4F5-8104-01B0-E17BD83D4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50" y="6298859"/>
            <a:ext cx="2171700" cy="46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F49D2F6-F2E8-B482-6026-CC9FFA1D8FC6}"/>
              </a:ext>
            </a:extLst>
          </p:cNvPr>
          <p:cNvCxnSpPr/>
          <p:nvPr/>
        </p:nvCxnSpPr>
        <p:spPr>
          <a:xfrm>
            <a:off x="171898" y="6336653"/>
            <a:ext cx="0" cy="39113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11A93D-45DF-09AC-749E-F4F35187F37D}"/>
              </a:ext>
            </a:extLst>
          </p:cNvPr>
          <p:cNvSpPr txBox="1"/>
          <p:nvPr/>
        </p:nvSpPr>
        <p:spPr>
          <a:xfrm>
            <a:off x="396185" y="6338547"/>
            <a:ext cx="8431932" cy="371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u="sng" dirty="0">
                <a:solidFill>
                  <a:schemeClr val="bg1"/>
                </a:solidFill>
                <a:latin typeface="MS Reference Sans Serif" panose="020B0604030504040204" pitchFamily="34" charset="0"/>
              </a:rPr>
              <a:t>SAMSUNG ELECTRO-MECHANICS</a:t>
            </a:r>
            <a:endParaRPr lang="ko-KR" altLang="en-US" sz="1200" b="1" dirty="0">
              <a:solidFill>
                <a:schemeClr val="bg1"/>
              </a:solidFill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676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Agenda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198408" y="1026545"/>
            <a:ext cx="7703387" cy="461665"/>
            <a:chOff x="198408" y="862644"/>
            <a:chExt cx="7703387" cy="461665"/>
          </a:xfrm>
        </p:grpSpPr>
        <p:sp>
          <p:nvSpPr>
            <p:cNvPr id="6" name="직사각형 5"/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5222" y="862644"/>
              <a:ext cx="75665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400" b="1" kern="0" dirty="0">
                  <a:solidFill>
                    <a:srgbClr val="000000"/>
                  </a:solidFill>
                  <a:latin typeface="MS Reference Sans Serif" panose="020B0604030504040204" pitchFamily="34" charset="0"/>
                </a:rPr>
                <a:t>교 과 목 개요 및 특징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24290" y="1526876"/>
            <a:ext cx="884207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이 워크샵에서는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–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아래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-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내용의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C#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언어 고급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(Step1)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내용을 숙지할 수 있도록 합니다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200" b="1" dirty="0">
              <a:latin typeface="MS Reference Sans Serif" panose="020B0604030504040204" pitchFamily="34" charset="0"/>
            </a:endParaRPr>
          </a:p>
          <a:p>
            <a:r>
              <a:rPr lang="en-US" altLang="ko-KR" sz="2200" b="1" dirty="0">
                <a:latin typeface="MS Reference Sans Serif" panose="020B0604030504040204" pitchFamily="34" charset="0"/>
              </a:rPr>
              <a:t>-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아래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</a:rPr>
              <a:t>『10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장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』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배열과 컬렉션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그리고 </a:t>
            </a:r>
            <a:r>
              <a:rPr lang="ko-KR" altLang="en-US" sz="2000" b="1" dirty="0" err="1">
                <a:latin typeface="MS Reference Sans Serif" panose="020B0604030504040204" pitchFamily="34" charset="0"/>
              </a:rPr>
              <a:t>인덱서</a:t>
            </a:r>
            <a:endParaRPr lang="ko-KR" altLang="en-US" sz="2000" b="1" dirty="0">
              <a:latin typeface="MS Reference Sans Serif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</a:rPr>
              <a:t>『11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장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』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일반화 프로그래밍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</a:rPr>
              <a:t>『12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장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』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예외 처리하기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</a:rPr>
              <a:t>『13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장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』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대리자와 이벤트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</a:rPr>
              <a:t>『20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장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』 </a:t>
            </a:r>
            <a:r>
              <a:rPr lang="en-US" altLang="ko-KR" sz="2000" b="1" dirty="0" err="1">
                <a:latin typeface="MS Reference Sans Serif" panose="020B0604030504040204" pitchFamily="34" charset="0"/>
              </a:rPr>
              <a:t>WinForm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으로 만드는 사용자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1681955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MS Reference Sans Serif" panose="020B0604030504040204" pitchFamily="34" charset="0"/>
              </a:rPr>
              <a:t>학습일정 및 내용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AD3B24C-19C4-1009-9B68-A238F5256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504267"/>
              </p:ext>
            </p:extLst>
          </p:nvPr>
        </p:nvGraphicFramePr>
        <p:xfrm>
          <a:off x="273599" y="790417"/>
          <a:ext cx="8552348" cy="5848350"/>
        </p:xfrm>
        <a:graphic>
          <a:graphicData uri="http://schemas.openxmlformats.org/drawingml/2006/table">
            <a:tbl>
              <a:tblPr/>
              <a:tblGrid>
                <a:gridCol w="1352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15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15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9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234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시간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</a:t>
                      </a:r>
                      <a:r>
                        <a:rPr lang="ko-KR" altLang="en-US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일차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</a:t>
                      </a:r>
                      <a:r>
                        <a:rPr lang="ko-KR" altLang="en-US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일차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3</a:t>
                      </a:r>
                      <a:r>
                        <a:rPr lang="ko-KR" altLang="en-US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일차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Total</a:t>
                      </a: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8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08:00~08:50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『10</a:t>
                      </a:r>
                      <a:r>
                        <a:rPr lang="ko-KR" altLang="en-US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</a:t>
                      </a:r>
                      <a:r>
                        <a:rPr lang="en-US" altLang="ko-KR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』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배열과 컬렉션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,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그리고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인덱서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marL="228600" indent="-228600" algn="ctr" fontAlgn="ctr">
                        <a:buAutoNum type="arabicPeriod"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배열이란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2. </a:t>
                      </a:r>
                      <a:r>
                        <a:rPr lang="ko-KR" altLang="en-US" sz="700" dirty="0"/>
                        <a:t>배열을 초기화하는 세 가지 방법</a:t>
                      </a:r>
                      <a:endParaRPr lang="en-US" altLang="ko-KR" sz="700" dirty="0"/>
                    </a:p>
                    <a:p>
                      <a:pPr marL="228600" indent="-228600" algn="ctr" fontAlgn="ctr">
                        <a:buAutoNum type="arabicPeriod"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20000"/>
                        </a:lnSpc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『11</a:t>
                      </a:r>
                      <a:r>
                        <a:rPr lang="ko-KR" altLang="en-US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</a:t>
                      </a:r>
                      <a:r>
                        <a:rPr lang="en-US" altLang="ko-KR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』 </a:t>
                      </a:r>
                      <a:r>
                        <a:rPr lang="ko-KR" altLang="en-US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일반화 프로그래밍</a:t>
                      </a:r>
                      <a:endParaRPr lang="en-US" altLang="ko-KR" sz="800" b="1" i="0" u="none" strike="noStrike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일반화 프로그래밍이란</a:t>
                      </a:r>
                      <a:r>
                        <a:rPr lang="en-US" altLang="ko-KR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일반화 메소드</a:t>
                      </a:r>
                      <a:endParaRPr lang="en-US" altLang="ko-KR" sz="700" b="1" kern="1200" noProof="0" dirty="0">
                        <a:solidFill>
                          <a:schemeClr val="tx2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1: </a:t>
                      </a:r>
                      <a:r>
                        <a:rPr lang="ko-KR" altLang="en-US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일반화 메서드로 배열 검색</a:t>
                      </a:r>
                      <a:endParaRPr lang="en-US" altLang="ko-KR" sz="700" b="1" kern="1200" noProof="0" dirty="0">
                        <a:solidFill>
                          <a:schemeClr val="tx2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2: </a:t>
                      </a:r>
                      <a:r>
                        <a:rPr lang="ko-KR" altLang="en-US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일반화 메서드로 배열 필터링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171450" indent="-171450" algn="ctr" defTabSz="914290" rtl="0" eaLnBrk="1" fontAlgn="ctr" latinLnBrk="1" hangingPunct="1">
                        <a:lnSpc>
                          <a:spcPct val="120000"/>
                        </a:lnSpc>
                        <a:buFontTx/>
                        <a:buChar char="-"/>
                      </a:pPr>
                      <a:endParaRPr lang="en-US" altLang="ko-KR" sz="7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『13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장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』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대리자와 이벤트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228600" indent="-228600" algn="ctr" defTabSz="914400" rtl="0" eaLnBrk="1" fontAlgn="ctr" latinLnBrk="1" hangingPunct="1">
                        <a:buAutoNum type="arabicPeriod"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대리자란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대리자는 왜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언제 사용하나요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일반화 대리자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대리자 체인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1: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계산기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with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대리자 </a:t>
                      </a:r>
                    </a:p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　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7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09:00~09:50</a:t>
                      </a:r>
                      <a:endParaRPr lang="ko-KR" altLang="en-US" sz="7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3.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System.Array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배열 분할하기</a:t>
                      </a:r>
                      <a:endParaRPr lang="ko-KR" altLang="en-US" sz="700" kern="1200" noProof="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일반화 클래스</a:t>
                      </a:r>
                      <a:endParaRPr lang="en-US" altLang="ko-KR" sz="700" kern="1200" noProof="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형식 매개 변수 제약</a:t>
                      </a:r>
                      <a:endParaRPr lang="en-US" altLang="ko-KR" sz="700" kern="1200" noProof="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3: </a:t>
                      </a:r>
                      <a:r>
                        <a:rPr lang="ko-KR" altLang="en-US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제약이 있는 일반화 클래스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kern="1200" noProof="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익명 메소드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이벤트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객체에 일어난 사건 알리기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2: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온도 모니터링 시스템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주문 처리 시스템</a:t>
                      </a:r>
                    </a:p>
                    <a:p>
                      <a:pPr algn="ctr" latinLnBrk="1"/>
                      <a:endParaRPr lang="ko-KR" altLang="en-US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9824567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3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10:00~10:5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FontTx/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5. 2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차원 배열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algn="ctr" latinLnBrk="0">
                        <a:spcBef>
                          <a:spcPts val="171"/>
                        </a:spcBef>
                        <a:tabLst>
                          <a:tab pos="60873" algn="l"/>
                          <a:tab pos="97396" algn="l"/>
                        </a:tabLst>
                      </a:pP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실습 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1: </a:t>
                      </a: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학생 성적 관리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-</a:t>
                      </a:r>
                      <a:r>
                        <a:rPr lang="en-US" altLang="ko-KR" sz="700" dirty="0" err="1"/>
                        <a:t>EduScore</a:t>
                      </a:r>
                      <a:endParaRPr lang="en-US" altLang="ko-KR" sz="7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71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0873" algn="l"/>
                          <a:tab pos="97396" algn="l"/>
                        </a:tabLst>
                        <a:defRPr/>
                      </a:pP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실습 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2: </a:t>
                      </a: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좌석 예약 시스템 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-Seat-Now</a:t>
                      </a:r>
                      <a:endParaRPr lang="ko-KR" altLang="en-US" sz="700" b="1" dirty="0">
                        <a:solidFill>
                          <a:schemeClr val="tx2"/>
                        </a:solidFill>
                        <a:latin typeface="MS Reference Sans Serif" panose="020B060403050404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kern="1200" noProof="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000" b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일반화 컬렉션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4: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단어 빈도수 계산기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5: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학생 관리 시스템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0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2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8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『20</a:t>
                      </a:r>
                      <a:r>
                        <a:rPr lang="ko-KR" altLang="en-US" sz="800" b="1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장</a:t>
                      </a:r>
                      <a:r>
                        <a:rPr lang="en-US" altLang="ko-KR" sz="800" b="1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』 </a:t>
                      </a:r>
                      <a:r>
                        <a:rPr lang="en-US" altLang="ko-KR" sz="800" b="1" kern="1200" noProof="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WinForm</a:t>
                      </a:r>
                      <a:r>
                        <a:rPr lang="ko-KR" altLang="en-US" sz="800" b="1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으로 만드는 사용자 인터페이스</a:t>
                      </a:r>
                    </a:p>
                    <a:p>
                      <a:pPr marL="228600" marR="0" indent="-22860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WinForm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소개 및 개발 환경 설정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WinForm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윈도우 만들기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3. Application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클래스 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메시지 필터링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algn="ctr" latinLnBrk="1"/>
                      <a:endParaRPr lang="ko-KR" altLang="en-US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533420"/>
                  </a:ext>
                </a:extLst>
              </a:tr>
              <a:tr h="4076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4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11:00~11:50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다차원 배열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7.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가변배열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(Jagged Array)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월별 일수 관리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4: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시험 점수 관리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실습 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5: </a:t>
                      </a: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조직도 관리 시스템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-</a:t>
                      </a:r>
                      <a:r>
                        <a:rPr lang="en-US" altLang="ko-KR" sz="700" b="1" dirty="0" err="1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TeamStructure</a:t>
                      </a:r>
                      <a:endParaRPr lang="ko-KR" altLang="en-US" sz="700" b="1" dirty="0">
                        <a:solidFill>
                          <a:schemeClr val="tx2"/>
                        </a:solidFill>
                        <a:latin typeface="MS Reference Sans Serif" panose="020B0604030504040204" pitchFamily="34" charset="0"/>
                      </a:endParaRPr>
                    </a:p>
                    <a:p>
                      <a:pPr marL="0" algn="ctr" defTabSz="914400" rtl="0" eaLnBrk="1" fontAlgn="ctr" latinLnBrk="1" hangingPunct="1">
                        <a:buFontTx/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6. Foreach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를 사용할 수 있는 일반화 클래스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윈도우를 표현하는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Form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클래스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8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5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13:00~13:50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8.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컬렉션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(Collection)</a:t>
                      </a: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컬렉션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ArrayList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컬렉션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Queue</a:t>
                      </a: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컬렉션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Stack</a:t>
                      </a: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컬렉션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Hashtable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20000"/>
                        </a:lnSpc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『12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장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』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예외 처리하기</a:t>
                      </a:r>
                    </a:p>
                    <a:p>
                      <a:pPr marL="228600" marR="0" indent="-22860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예외에 대하여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2. try ~ catch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로 예외 받기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1: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안전한 계산기 </a:t>
                      </a:r>
                    </a:p>
                    <a:p>
                      <a:pPr marL="228600" marR="0" indent="-22860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폼 디자이너를 이용한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WinForm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 UI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구성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8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6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14:00~14:50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6: Queue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활용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고객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대기열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WaitingON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7: Queue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활용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프린터 출력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대기열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Qprint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3.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System.Exception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클래스</a:t>
                      </a: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7.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사용자 인터페이스와 비동기 작업</a:t>
                      </a: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2303365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7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15:00~15:50</a:t>
                      </a:r>
                      <a:endParaRPr lang="ko-KR" altLang="en-US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8: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단어 빈도수 계산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WordCount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9: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Hashtable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로 전화번호부 만들기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HashPhone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예외 던지기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5.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try~catch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finally</a:t>
                      </a: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사용자 정의 예외 클래스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7.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예외 필터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(Exception Filter)</a:t>
                      </a: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1: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윈폼으로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 계산기  만들기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75865242"/>
                  </a:ext>
                </a:extLst>
              </a:tr>
              <a:tr h="6365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39440979"/>
                  </a:ext>
                </a:extLst>
              </a:tr>
              <a:tr h="3710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8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16:00~16:50</a:t>
                      </a:r>
                      <a:endParaRPr lang="ko-KR" altLang="en-US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ts val="171"/>
                        </a:spcBef>
                        <a:tabLst>
                          <a:tab pos="60873" algn="l"/>
                          <a:tab pos="97396" algn="l"/>
                        </a:tabLst>
                      </a:pP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컬렉션 초기화</a:t>
                      </a:r>
                      <a:endParaRPr lang="en-US" altLang="ko-KR" sz="700" b="1" dirty="0">
                        <a:solidFill>
                          <a:schemeClr val="tx2"/>
                        </a:solidFill>
                        <a:latin typeface="MS Reference Sans Serif" panose="020B0604030504040204" pitchFamily="34" charset="0"/>
                      </a:endParaRPr>
                    </a:p>
                    <a:p>
                      <a:pPr algn="ctr" latinLnBrk="0">
                        <a:spcBef>
                          <a:spcPts val="171"/>
                        </a:spcBef>
                        <a:tabLst>
                          <a:tab pos="60873" algn="l"/>
                          <a:tab pos="97396" algn="l"/>
                        </a:tabLst>
                      </a:pP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9. </a:t>
                      </a:r>
                      <a:r>
                        <a:rPr lang="ko-KR" altLang="en-US" sz="700" b="1" dirty="0" err="1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인덱서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(Indexer)</a:t>
                      </a:r>
                    </a:p>
                    <a:p>
                      <a:pPr algn="ctr" latinLnBrk="0">
                        <a:spcBef>
                          <a:spcPts val="171"/>
                        </a:spcBef>
                        <a:tabLst>
                          <a:tab pos="60873" algn="l"/>
                          <a:tab pos="97396" algn="l"/>
                        </a:tabLst>
                      </a:pP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10. Foreach</a:t>
                      </a: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가 가능한 객체 만들기</a:t>
                      </a:r>
                    </a:p>
                    <a:p>
                      <a:pPr algn="ctr" latinLnBrk="0">
                        <a:spcBef>
                          <a:spcPts val="171"/>
                        </a:spcBef>
                        <a:tabLst>
                          <a:tab pos="60873" algn="l"/>
                          <a:tab pos="97396" algn="l"/>
                        </a:tabLst>
                      </a:pPr>
                      <a:endParaRPr lang="ko-KR" altLang="en-US" sz="700" b="1" dirty="0">
                        <a:solidFill>
                          <a:schemeClr val="tx2"/>
                        </a:solidFill>
                        <a:latin typeface="MS Reference Sans Serif" panose="020B0604030504040204" pitchFamily="34" charset="0"/>
                      </a:endParaRP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20000"/>
                        </a:lnSpc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8.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예외 처리 다시 생각해보기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2: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사용자 등록 시스템 </a:t>
                      </a: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필기 평가</a:t>
                      </a:r>
                    </a:p>
                  </a:txBody>
                  <a:tcPr marL="4603" marR="4603" marT="4603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448290"/>
                  </a:ext>
                </a:extLst>
              </a:tr>
              <a:tr h="944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Total Time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　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8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　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8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　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8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1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24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3557EA-F090-EBBD-C1CD-51170654A724}"/>
              </a:ext>
            </a:extLst>
          </p:cNvPr>
          <p:cNvSpPr txBox="1"/>
          <p:nvPr/>
        </p:nvSpPr>
        <p:spPr>
          <a:xfrm>
            <a:off x="184041" y="6526052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* 커리큘럼은 협의에 따라 변경 가능</a:t>
            </a:r>
            <a:endParaRPr lang="en-US" altLang="ko-KR" sz="1000" dirty="0">
              <a:solidFill>
                <a:srgbClr val="0000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835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929" y="1365850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32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</a:rPr>
              <a:t>Unit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820" y="1950625"/>
            <a:ext cx="25699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48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</a:rPr>
              <a:t>참고자료</a:t>
            </a:r>
            <a:endParaRPr lang="en-US" altLang="ko-KR" sz="48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552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214" y="85727"/>
            <a:ext cx="8263152" cy="638174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Georgia" panose="02040502050405020303" pitchFamily="18" charset="0"/>
              </a:rPr>
              <a:t>비주얼스튜디오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Tip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8408" y="1026545"/>
            <a:ext cx="7703387" cy="461665"/>
            <a:chOff x="198408" y="862644"/>
            <a:chExt cx="7703387" cy="461665"/>
          </a:xfrm>
        </p:grpSpPr>
        <p:sp>
          <p:nvSpPr>
            <p:cNvPr id="6" name="직사각형 5"/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5222" y="862644"/>
              <a:ext cx="75665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400" b="1" dirty="0">
                  <a:latin typeface="MS Reference Sans Serif" panose="020B0604030504040204" pitchFamily="34" charset="0"/>
                </a:rPr>
                <a:t>Visual Studio</a:t>
              </a:r>
              <a:r>
                <a:rPr lang="ko-KR" altLang="en-US" sz="2400" b="1" dirty="0">
                  <a:latin typeface="MS Reference Sans Serif" panose="020B0604030504040204" pitchFamily="34" charset="0"/>
                </a:rPr>
                <a:t>의 글꼴 크기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24290" y="1526876"/>
            <a:ext cx="88420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200" b="1" dirty="0">
                <a:latin typeface="MS Reference Sans Serif" panose="020B0604030504040204" pitchFamily="34" charset="0"/>
              </a:rPr>
              <a:t>Visual Studio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의 글꼴 크기는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도구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 &gt; 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옵션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 &gt; 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환경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 &gt; 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글꼴 및 색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에서 조절할 수 있습니다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. 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글꼴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및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크기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옵션을 수정하면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IDE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내의 글꼴 및 텍스트 크기를 변경할 수 있습니다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. </a:t>
            </a:r>
            <a:endParaRPr lang="en-US" altLang="ko-KR" sz="1400" b="1" dirty="0">
              <a:latin typeface="MS Reference Sans Serif" panose="020B060403050404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63D9E8-13E6-F47C-D15A-000E1F3A0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866" y="2842995"/>
            <a:ext cx="5324268" cy="310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03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214" y="85727"/>
            <a:ext cx="8263152" cy="638174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Georgia" panose="02040502050405020303" pitchFamily="18" charset="0"/>
              </a:rPr>
              <a:t>비주얼스튜디오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Tip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8408" y="1026545"/>
            <a:ext cx="7703387" cy="461665"/>
            <a:chOff x="198408" y="862644"/>
            <a:chExt cx="7703387" cy="461665"/>
          </a:xfrm>
        </p:grpSpPr>
        <p:sp>
          <p:nvSpPr>
            <p:cNvPr id="6" name="직사각형 5"/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5222" y="862644"/>
              <a:ext cx="75665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400" b="1" dirty="0">
                  <a:latin typeface="MS Reference Sans Serif" panose="020B0604030504040204" pitchFamily="34" charset="0"/>
                </a:rPr>
                <a:t>Visual Studio</a:t>
              </a:r>
              <a:r>
                <a:rPr lang="ko-KR" altLang="en-US" sz="2400" b="1" dirty="0">
                  <a:latin typeface="MS Reference Sans Serif" panose="020B0604030504040204" pitchFamily="34" charset="0"/>
                </a:rPr>
                <a:t>의 글꼴 크기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24290" y="1526876"/>
            <a:ext cx="88420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마우스 </a:t>
            </a:r>
            <a:r>
              <a:rPr lang="ko-KR" altLang="en-US" sz="2200" b="1" dirty="0" err="1">
                <a:latin typeface="MS Reference Sans Serif" panose="020B0604030504040204" pitchFamily="34" charset="0"/>
              </a:rPr>
              <a:t>휠로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 조정하기</a:t>
            </a:r>
            <a:endParaRPr lang="en-US" altLang="ko-KR" sz="1400" b="1" dirty="0">
              <a:latin typeface="MS Reference Sans Serif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C877E5-9B4D-F7C6-9065-1723E263F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866" y="2725632"/>
            <a:ext cx="5324268" cy="310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63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214" y="85727"/>
            <a:ext cx="8263152" cy="638174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Georgia" panose="02040502050405020303" pitchFamily="18" charset="0"/>
              </a:rPr>
              <a:t>비주얼스튜디오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Tip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8408" y="1026545"/>
            <a:ext cx="7703387" cy="461665"/>
            <a:chOff x="198408" y="862644"/>
            <a:chExt cx="7703387" cy="461665"/>
          </a:xfrm>
        </p:grpSpPr>
        <p:sp>
          <p:nvSpPr>
            <p:cNvPr id="6" name="직사각형 5"/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5222" y="862644"/>
              <a:ext cx="75665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>
                  <a:latin typeface="MS Reference Sans Serif" panose="020B0604030504040204" pitchFamily="34" charset="0"/>
                </a:rPr>
                <a:t>메뉴 크기</a:t>
              </a:r>
              <a:r>
                <a:rPr lang="en-US" altLang="ko-KR" sz="2400" b="1" dirty="0">
                  <a:latin typeface="MS Reference Sans Serif" panose="020B0604030504040204" pitchFamily="34" charset="0"/>
                </a:rPr>
                <a:t>(</a:t>
              </a:r>
              <a:r>
                <a:rPr lang="ko-KR" altLang="en-US" sz="2400" b="1" dirty="0">
                  <a:latin typeface="MS Reference Sans Serif" panose="020B0604030504040204" pitchFamily="34" charset="0"/>
                </a:rPr>
                <a:t>아이콘</a:t>
              </a:r>
              <a:r>
                <a:rPr lang="en-US" altLang="ko-KR" sz="2400" b="1" dirty="0">
                  <a:latin typeface="MS Reference Sans Serif" panose="020B0604030504040204" pitchFamily="34" charset="0"/>
                </a:rPr>
                <a:t>·</a:t>
              </a:r>
              <a:r>
                <a:rPr lang="ko-KR" altLang="en-US" sz="2400" b="1" dirty="0">
                  <a:latin typeface="MS Reference Sans Serif" panose="020B0604030504040204" pitchFamily="34" charset="0"/>
                </a:rPr>
                <a:t>글자 크기</a:t>
              </a:r>
              <a:r>
                <a:rPr lang="en-US" altLang="ko-KR" sz="2400" b="1" dirty="0">
                  <a:latin typeface="MS Reference Sans Serif" panose="020B0604030504040204" pitchFamily="34" charset="0"/>
                </a:rPr>
                <a:t>·</a:t>
              </a:r>
              <a:r>
                <a:rPr lang="ko-KR" altLang="en-US" sz="2400" b="1" dirty="0" err="1">
                  <a:latin typeface="MS Reference Sans Serif" panose="020B0604030504040204" pitchFamily="34" charset="0"/>
                </a:rPr>
                <a:t>툴바</a:t>
              </a:r>
              <a:r>
                <a:rPr lang="ko-KR" altLang="en-US" sz="2400" b="1" dirty="0">
                  <a:latin typeface="MS Reference Sans Serif" panose="020B0604030504040204" pitchFamily="34" charset="0"/>
                </a:rPr>
                <a:t> 높이</a:t>
              </a:r>
              <a:r>
                <a:rPr lang="en-US" altLang="ko-KR" sz="2400" b="1" dirty="0">
                  <a:latin typeface="MS Reference Sans Serif" panose="020B0604030504040204" pitchFamily="34" charset="0"/>
                </a:rPr>
                <a:t>)</a:t>
              </a:r>
              <a:endParaRPr lang="ko-KR" altLang="en-US" sz="2400" b="1" dirty="0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24290" y="1526876"/>
            <a:ext cx="884207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200" b="1" dirty="0">
                <a:latin typeface="MS Reference Sans Serif" panose="020B0604030504040204" pitchFamily="34" charset="0"/>
              </a:rPr>
              <a:t>Visual Studio 2022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에서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Visual Studio 2022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에서 메뉴 크기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(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아이콘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·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글자 크기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·</a:t>
            </a:r>
            <a:r>
              <a:rPr lang="ko-KR" altLang="en-US" sz="2200" b="1" dirty="0" err="1">
                <a:latin typeface="MS Reference Sans Serif" panose="020B0604030504040204" pitchFamily="34" charset="0"/>
              </a:rPr>
              <a:t>툴바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 높이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)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를 첨부하신 이미지처럼 크게 조절하려면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실제로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Visual Studio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자체 설정이 아니라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Windows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디스플레이 배율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(DPI)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에 의해 결정됩니다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즉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메뉴 크기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= VS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내부 설정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X → Windows DPI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설정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O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200" b="1" dirty="0">
                <a:latin typeface="MS Reference Sans Serif" panose="020B0604030504040204" pitchFamily="34" charset="0"/>
              </a:rPr>
              <a:t>Windows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바탕화면에서 마우스 오른쪽 클릭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디스플레이 설정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배율 및 레이아웃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(Scale and Layout)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항목에서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→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125%, 150%, 175%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등으로 변경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ko-KR" altLang="en-US" sz="22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984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214" y="85727"/>
            <a:ext cx="8263152" cy="638174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Georgia" panose="02040502050405020303" pitchFamily="18" charset="0"/>
              </a:rPr>
              <a:t>비주얼스튜디오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Tip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8408" y="1026545"/>
            <a:ext cx="7703387" cy="461665"/>
            <a:chOff x="198408" y="862644"/>
            <a:chExt cx="7703387" cy="461665"/>
          </a:xfrm>
        </p:grpSpPr>
        <p:sp>
          <p:nvSpPr>
            <p:cNvPr id="6" name="직사각형 5"/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5222" y="862644"/>
              <a:ext cx="75665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>
                  <a:latin typeface="MS Reference Sans Serif" panose="020B0604030504040204" pitchFamily="34" charset="0"/>
                </a:rPr>
                <a:t>창</a:t>
              </a:r>
              <a:r>
                <a:rPr lang="en-US" altLang="ko-KR" sz="2400" b="1" dirty="0">
                  <a:latin typeface="MS Reference Sans Serif" panose="020B0604030504040204" pitchFamily="34" charset="0"/>
                </a:rPr>
                <a:t> </a:t>
              </a:r>
              <a:r>
                <a:rPr lang="ko-KR" altLang="en-US" sz="2400" b="1" dirty="0">
                  <a:latin typeface="MS Reference Sans Serif" panose="020B0604030504040204" pitchFamily="34" charset="0"/>
                </a:rPr>
                <a:t>세로 분할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24290" y="1526876"/>
            <a:ext cx="884207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비주얼 스튜디오에서 창을 세로로 분할하려면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창 상단의 탭을 </a:t>
            </a:r>
            <a:r>
              <a:rPr lang="ko-KR" altLang="en-US" sz="2200" b="1" dirty="0" err="1">
                <a:latin typeface="MS Reference Sans Serif" panose="020B0604030504040204" pitchFamily="34" charset="0"/>
              </a:rPr>
              <a:t>드래그하여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 원하는 위치에 놓거나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창 메뉴에서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분할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을 선택하면 됩니다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.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드래그 앤 드롭 방식은 탭을 끌어 화면의 상하 또는 좌우 원하는 위치에 놓는 것이고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메뉴 방식은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창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메뉴의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분할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을 선택하여 창을 두 개로 나누는 것입니다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. </a:t>
            </a:r>
            <a:endParaRPr lang="ko-KR" altLang="en-US" sz="2200" b="1" dirty="0">
              <a:latin typeface="MS Reference Sans Serif" panose="020B060403050404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02C0A9-CC44-E216-C375-608E18A29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812" y="3944246"/>
            <a:ext cx="5382376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56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214" y="85727"/>
            <a:ext cx="8263152" cy="638174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Georgia" panose="02040502050405020303" pitchFamily="18" charset="0"/>
              </a:rPr>
              <a:t>비주얼스튜디오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Tip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8408" y="1026545"/>
            <a:ext cx="7703387" cy="461665"/>
            <a:chOff x="198408" y="862644"/>
            <a:chExt cx="7703387" cy="461665"/>
          </a:xfrm>
        </p:grpSpPr>
        <p:sp>
          <p:nvSpPr>
            <p:cNvPr id="6" name="직사각형 5"/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5222" y="862644"/>
              <a:ext cx="75665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>
                  <a:latin typeface="MS Reference Sans Serif" panose="020B0604030504040204" pitchFamily="34" charset="0"/>
                </a:rPr>
                <a:t>세로 스크롤 막대 지도 모드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24290" y="1526876"/>
            <a:ext cx="88420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비주얼 스튜디오에서 세로 스크롤 막대 지도 모드를 사용하려면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도구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 &gt; 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옵션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 &gt; 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텍스트 편집기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 &gt; 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모든 언어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 &gt; 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스크롤 막대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에서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세로 스크롤 막대에 지도 모드 사용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옵션을 선택하면 됩니다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. </a:t>
            </a:r>
            <a:endParaRPr lang="ko-KR" altLang="en-US" sz="2200" b="1" dirty="0">
              <a:latin typeface="MS Reference Sans Serif" panose="020B0604030504040204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59787B6-EE4B-7E8A-B0D1-EBE3DE270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742" y="2877838"/>
            <a:ext cx="6055053" cy="3514221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A7D97E9-78A0-6BB5-67C2-15C0B8037003}"/>
              </a:ext>
            </a:extLst>
          </p:cNvPr>
          <p:cNvSpPr/>
          <p:nvPr/>
        </p:nvSpPr>
        <p:spPr>
          <a:xfrm>
            <a:off x="4015409" y="4982818"/>
            <a:ext cx="3525077" cy="8486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798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214" y="85727"/>
            <a:ext cx="8263152" cy="638174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Georgia" panose="02040502050405020303" pitchFamily="18" charset="0"/>
              </a:rPr>
              <a:t>비주얼스튜디오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Tip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8408" y="1026545"/>
            <a:ext cx="7703387" cy="461665"/>
            <a:chOff x="198408" y="862644"/>
            <a:chExt cx="7703387" cy="461665"/>
          </a:xfrm>
        </p:grpSpPr>
        <p:sp>
          <p:nvSpPr>
            <p:cNvPr id="6" name="직사각형 5"/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5222" y="862644"/>
              <a:ext cx="75665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>
                  <a:latin typeface="MS Reference Sans Serif" panose="020B0604030504040204" pitchFamily="34" charset="0"/>
                </a:rPr>
                <a:t>개발자가 반드시 알아야 하는 </a:t>
              </a:r>
              <a:r>
                <a:rPr lang="en-US" altLang="ko-KR" sz="2400" b="1" dirty="0">
                  <a:latin typeface="MS Reference Sans Serif" panose="020B0604030504040204" pitchFamily="34" charset="0"/>
                </a:rPr>
                <a:t>TOP 10 </a:t>
              </a:r>
              <a:r>
                <a:rPr lang="ko-KR" altLang="en-US" sz="2400" b="1" dirty="0">
                  <a:latin typeface="MS Reference Sans Serif" panose="020B0604030504040204" pitchFamily="34" charset="0"/>
                </a:rPr>
                <a:t>단축키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36D7743-66C5-B30E-07EC-BD969A21F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418622"/>
              </p:ext>
            </p:extLst>
          </p:nvPr>
        </p:nvGraphicFramePr>
        <p:xfrm>
          <a:off x="628650" y="1671562"/>
          <a:ext cx="7886700" cy="4968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1256756028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547031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1" kern="1200" dirty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2000" b="1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b="1" kern="1200" dirty="0">
                          <a:solidFill>
                            <a:schemeClr val="tx1"/>
                          </a:solidFill>
                        </a:rPr>
                        <a:t>단축키</a:t>
                      </a:r>
                      <a:endParaRPr lang="ko-KR" altLang="en-US" sz="2000" b="1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115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 정렬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Ctrl + K, Ctrl + 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716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 접기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Ctrl + M, 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9544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 펼치기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Ctrl + M, 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103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접기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펼치기 </a:t>
                      </a:r>
                      <a:r>
                        <a:rPr lang="ko-KR" altLang="en-US" sz="1400" dirty="0" err="1"/>
                        <a:t>토글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sz="1400" dirty="0"/>
                        <a:t>Toggle Outlining)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Ctrl + M, M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2311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빠른 수정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Ctrl + 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998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찾기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Ctrl + 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107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바꾸기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Ctrl +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980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 찾기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Ctrl + Shift + 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180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 바꾸기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Ctrl + Shift +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4069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파일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기호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Ctrl + ,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699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줄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Alt + ↑/↓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379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줄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Ctrl + Shift + L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9458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줄 복사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 dirty="0"/>
                        <a:t>Ctrl + C (</a:t>
                      </a:r>
                      <a:r>
                        <a:rPr lang="ko-KR" altLang="en-US" sz="1400" b="1" dirty="0"/>
                        <a:t>줄 선택 없이</a:t>
                      </a:r>
                      <a:r>
                        <a:rPr lang="en-US" altLang="ko-KR" sz="1400" b="1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1379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코드 정리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sz="1400" dirty="0"/>
                        <a:t>Code Cleanup)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Ctrl + K, Ctrl + E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478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디버깅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448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70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214" y="85727"/>
            <a:ext cx="8263152" cy="638174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Georgia" panose="02040502050405020303" pitchFamily="18" charset="0"/>
              </a:rPr>
              <a:t>비주얼스튜디오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Tip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8408" y="1026545"/>
            <a:ext cx="7703387" cy="461665"/>
            <a:chOff x="198408" y="862644"/>
            <a:chExt cx="7703387" cy="461665"/>
          </a:xfrm>
        </p:grpSpPr>
        <p:sp>
          <p:nvSpPr>
            <p:cNvPr id="6" name="직사각형 5"/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5222" y="862644"/>
              <a:ext cx="75665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>
                  <a:latin typeface="MS Reference Sans Serif" panose="020B0604030504040204" pitchFamily="34" charset="0"/>
                </a:rPr>
                <a:t>함수 접기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24290" y="1526876"/>
            <a:ext cx="88420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비주얼 스튜디오에서 함수를 접으려면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함수 코드 영역에 커서를 둔 후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Ctrl + M, Ctrl + M, Ctrl + O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단축키를 사용합니다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함수 접기 및 펴기 단축키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MS Reference Sans Serif" panose="020B0604030504040204" pitchFamily="34" charset="0"/>
              </a:rPr>
              <a:t>현재 함수만 접기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/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펴기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: Ctrl + M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을 누른 후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Ctrl + M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을 다시 누릅니다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MS Reference Sans Serif" panose="020B0604030504040204" pitchFamily="34" charset="0"/>
              </a:rPr>
              <a:t>모든 함수 접기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: Ctrl + M, Ctrl + O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를 순서대로 누릅니다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MS Reference Sans Serif" panose="020B0604030504040204" pitchFamily="34" charset="0"/>
              </a:rPr>
              <a:t>모든 함수 펼치기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: Ctrl + M, Ctrl + L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을 순서대로 누릅니다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. </a:t>
            </a:r>
            <a:endParaRPr lang="ko-KR" altLang="en-US" sz="20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982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214" y="85727"/>
            <a:ext cx="8263152" cy="638174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Georgia" panose="02040502050405020303" pitchFamily="18" charset="0"/>
              </a:rPr>
              <a:t>비주얼스튜디오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Tip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8408" y="1026545"/>
            <a:ext cx="7703387" cy="461665"/>
            <a:chOff x="198408" y="862644"/>
            <a:chExt cx="7703387" cy="461665"/>
          </a:xfrm>
        </p:grpSpPr>
        <p:sp>
          <p:nvSpPr>
            <p:cNvPr id="6" name="직사각형 5"/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5222" y="862644"/>
              <a:ext cx="75665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>
                  <a:latin typeface="MS Reference Sans Serif" panose="020B0604030504040204" pitchFamily="34" charset="0"/>
                </a:rPr>
                <a:t>다중 커서</a:t>
              </a:r>
              <a:r>
                <a:rPr lang="en-US" altLang="ko-KR" sz="2400" b="1" dirty="0">
                  <a:latin typeface="MS Reference Sans Serif" panose="020B0604030504040204" pitchFamily="34" charset="0"/>
                </a:rPr>
                <a:t>(multi-cursor)</a:t>
              </a:r>
              <a:endParaRPr lang="ko-KR" altLang="en-US" sz="2400" b="1" dirty="0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24290" y="1526876"/>
            <a:ext cx="884207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비주얼 스튜디오의 동시 입력 기능은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'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다중 커서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(multi-cursor)'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기능을 사용하며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마우스나 키보드 단축키를 통해 여러 곳에 커서를 추가한 뒤 동시에 타이핑하는 방식으로 사용할 수 있습니다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MS Reference Sans Serif" panose="020B0604030504040204" pitchFamily="34" charset="0"/>
              </a:rPr>
              <a:t>마우스로 다중 커서 추가하기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</a:rPr>
              <a:t>Alt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키를 누른 채로 원하는 위치를 마우스로 클릭하면 여러 커서가 생성됩니다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MS Reference Sans Serif" panose="020B0604030504040204" pitchFamily="34" charset="0"/>
              </a:rPr>
              <a:t>열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(column)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모드로 편집하기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</a:rPr>
              <a:t>Alt +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마우스 드래그 또는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Alt + Shift +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방향키를 사용하면 특정 열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(column)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을 선택하여 동시에 편집할 수 있습니다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. </a:t>
            </a:r>
            <a:endParaRPr lang="ko-KR" altLang="en-US" sz="20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334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214" y="85727"/>
            <a:ext cx="8263152" cy="638174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Georgia" panose="02040502050405020303" pitchFamily="18" charset="0"/>
              </a:rPr>
              <a:t>비주얼스튜디오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Tip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8408" y="1026545"/>
            <a:ext cx="7703387" cy="461665"/>
            <a:chOff x="198408" y="862644"/>
            <a:chExt cx="7703387" cy="461665"/>
          </a:xfrm>
        </p:grpSpPr>
        <p:sp>
          <p:nvSpPr>
            <p:cNvPr id="6" name="직사각형 5"/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5222" y="862644"/>
              <a:ext cx="75665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>
                  <a:latin typeface="MS Reference Sans Serif" panose="020B0604030504040204" pitchFamily="34" charset="0"/>
                </a:rPr>
                <a:t> 현재 줄 아래에 새 줄을 삽입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24290" y="1526876"/>
            <a:ext cx="88420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200" b="1" dirty="0">
                <a:latin typeface="MS Reference Sans Serif" panose="020B0604030504040204" pitchFamily="34" charset="0"/>
              </a:rPr>
              <a:t>Ctrl + Enter: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현재 줄 아래에 빈 줄을 삽입합니다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200" b="1" dirty="0">
                <a:latin typeface="MS Reference Sans Serif" panose="020B0604030504040204" pitchFamily="34" charset="0"/>
              </a:rPr>
              <a:t>Ctrl + Shift + Enter: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현재 줄 위에 빈 줄을 삽입합니다</a:t>
            </a:r>
            <a:endParaRPr lang="ko-KR" altLang="en-US" sz="20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352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214" y="85727"/>
            <a:ext cx="8263152" cy="638174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Georgia" panose="02040502050405020303" pitchFamily="18" charset="0"/>
              </a:rPr>
              <a:t>비주얼스튜디오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Tip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8408" y="1026545"/>
            <a:ext cx="7703387" cy="461665"/>
            <a:chOff x="198408" y="862644"/>
            <a:chExt cx="7703387" cy="461665"/>
          </a:xfrm>
        </p:grpSpPr>
        <p:sp>
          <p:nvSpPr>
            <p:cNvPr id="6" name="직사각형 5"/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5222" y="862644"/>
              <a:ext cx="75665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>
                  <a:latin typeface="MS Reference Sans Serif" panose="020B0604030504040204" pitchFamily="34" charset="0"/>
                </a:rPr>
                <a:t>터미널 열기</a:t>
              </a: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24290" y="1526876"/>
            <a:ext cx="88420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비주얼 스튜디오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(VS Code)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에서 터미널을 여는 단축키는 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Ctrl + \` (</a:t>
            </a:r>
            <a:r>
              <a:rPr lang="ko-KR" altLang="en-US" sz="2200" b="1" dirty="0" err="1">
                <a:latin typeface="MS Reference Sans Serif" panose="020B0604030504040204" pitchFamily="34" charset="0"/>
              </a:rPr>
              <a:t>백틱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)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입니다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. 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이 단축키들을 사용하면 현재 열려 있는 통합 터미널을 </a:t>
            </a:r>
            <a:r>
              <a:rPr lang="ko-KR" altLang="en-US" sz="2200" b="1" dirty="0" err="1">
                <a:latin typeface="MS Reference Sans Serif" panose="020B0604030504040204" pitchFamily="34" charset="0"/>
              </a:rPr>
              <a:t>토글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(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켜고 끄기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)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하거나 새 터미널을 만들 수 있습니다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200" b="1" dirty="0">
                <a:latin typeface="MS Reference Sans Serif" panose="020B0604030504040204" pitchFamily="34" charset="0"/>
              </a:rPr>
              <a:t>터미널 열기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/</a:t>
            </a:r>
            <a:r>
              <a:rPr lang="ko-KR" altLang="en-US" sz="2200" b="1" dirty="0">
                <a:latin typeface="MS Reference Sans Serif" panose="020B0604030504040204" pitchFamily="34" charset="0"/>
              </a:rPr>
              <a:t>닫기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: Ctrl + ` (</a:t>
            </a:r>
            <a:r>
              <a:rPr lang="ko-KR" altLang="en-US" sz="2200" b="1" dirty="0" err="1">
                <a:latin typeface="MS Reference Sans Serif" panose="020B0604030504040204" pitchFamily="34" charset="0"/>
              </a:rPr>
              <a:t>백틱</a:t>
            </a:r>
            <a:r>
              <a:rPr lang="en-US" altLang="ko-KR" sz="2200" b="1" dirty="0">
                <a:latin typeface="MS Reference Sans Serif" panose="020B0604030504040204" pitchFamily="34" charset="0"/>
              </a:rPr>
              <a:t>)</a:t>
            </a:r>
            <a:endParaRPr lang="ko-KR" altLang="en-US" sz="2000" b="1" dirty="0">
              <a:latin typeface="MS Reference Sans Serif" panose="020B060403050404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35DFDF-42E2-5894-3146-085D9181F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690" y="3250814"/>
            <a:ext cx="5530620" cy="276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76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15510</TotalTime>
  <Words>1178</Words>
  <Application>Microsoft Office PowerPoint</Application>
  <PresentationFormat>화면 슬라이드 쇼(4:3)</PresentationFormat>
  <Paragraphs>195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맑은 고딕</vt:lpstr>
      <vt:lpstr>Wingdings</vt:lpstr>
      <vt:lpstr>Arial</vt:lpstr>
      <vt:lpstr>Georgia</vt:lpstr>
      <vt:lpstr>Franklin Gothic Demi</vt:lpstr>
      <vt:lpstr>HY헤드라인M</vt:lpstr>
      <vt:lpstr>MS Reference Sans Serif</vt:lpstr>
      <vt:lpstr>나눔고딕</vt:lpstr>
      <vt:lpstr>Office 테마</vt:lpstr>
      <vt:lpstr>PowerPoint 프레젠테이션</vt:lpstr>
      <vt:lpstr>Agenda</vt:lpstr>
      <vt:lpstr>학습일정 및 내용</vt:lpstr>
      <vt:lpstr>PowerPoint 프레젠테이션</vt:lpstr>
      <vt:lpstr>비주얼스튜디오 Tip</vt:lpstr>
      <vt:lpstr>비주얼스튜디오 Tip</vt:lpstr>
      <vt:lpstr>비주얼스튜디오 Tip</vt:lpstr>
      <vt:lpstr>비주얼스튜디오 Tip</vt:lpstr>
      <vt:lpstr>비주얼스튜디오 Tip</vt:lpstr>
      <vt:lpstr>비주얼스튜디오 Tip</vt:lpstr>
      <vt:lpstr>비주얼스튜디오 Tip</vt:lpstr>
      <vt:lpstr>비주얼스튜디오 Tip</vt:lpstr>
      <vt:lpstr>비주얼스튜디오 Tip</vt:lpstr>
      <vt:lpstr>비주얼스튜디오 Tip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김혜선</dc:creator>
  <cp:lastModifiedBy>대경 김</cp:lastModifiedBy>
  <cp:revision>913</cp:revision>
  <dcterms:created xsi:type="dcterms:W3CDTF">2016-06-24T06:15:59Z</dcterms:created>
  <dcterms:modified xsi:type="dcterms:W3CDTF">2025-11-16T02:48:00Z</dcterms:modified>
</cp:coreProperties>
</file>