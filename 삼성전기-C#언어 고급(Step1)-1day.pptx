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1"/>
  </p:sldMasterIdLst>
  <p:notesMasterIdLst>
    <p:notesMasterId r:id="rId161"/>
  </p:notesMasterIdLst>
  <p:sldIdLst>
    <p:sldId id="1125" r:id="rId2"/>
    <p:sldId id="820" r:id="rId3"/>
    <p:sldId id="284" r:id="rId4"/>
    <p:sldId id="323" r:id="rId5"/>
    <p:sldId id="347" r:id="rId6"/>
    <p:sldId id="2345" r:id="rId7"/>
    <p:sldId id="2336" r:id="rId8"/>
    <p:sldId id="2338" r:id="rId9"/>
    <p:sldId id="2339" r:id="rId10"/>
    <p:sldId id="2337" r:id="rId11"/>
    <p:sldId id="2340" r:id="rId12"/>
    <p:sldId id="2341" r:id="rId13"/>
    <p:sldId id="2344" r:id="rId14"/>
    <p:sldId id="2342" r:id="rId15"/>
    <p:sldId id="2343" r:id="rId16"/>
    <p:sldId id="2346" r:id="rId17"/>
    <p:sldId id="2347" r:id="rId18"/>
    <p:sldId id="341" r:id="rId19"/>
    <p:sldId id="2348" r:id="rId20"/>
    <p:sldId id="2349" r:id="rId21"/>
    <p:sldId id="2350" r:id="rId22"/>
    <p:sldId id="342" r:id="rId23"/>
    <p:sldId id="2351" r:id="rId24"/>
    <p:sldId id="2352" r:id="rId25"/>
    <p:sldId id="2353" r:id="rId26"/>
    <p:sldId id="2354" r:id="rId27"/>
    <p:sldId id="2355" r:id="rId28"/>
    <p:sldId id="2356" r:id="rId29"/>
    <p:sldId id="2357" r:id="rId30"/>
    <p:sldId id="2358" r:id="rId31"/>
    <p:sldId id="2359" r:id="rId32"/>
    <p:sldId id="2360" r:id="rId33"/>
    <p:sldId id="2361" r:id="rId34"/>
    <p:sldId id="2362" r:id="rId35"/>
    <p:sldId id="2363" r:id="rId36"/>
    <p:sldId id="2364" r:id="rId37"/>
    <p:sldId id="2365" r:id="rId38"/>
    <p:sldId id="2366" r:id="rId39"/>
    <p:sldId id="2367" r:id="rId40"/>
    <p:sldId id="2368" r:id="rId41"/>
    <p:sldId id="2369" r:id="rId42"/>
    <p:sldId id="2370" r:id="rId43"/>
    <p:sldId id="2371" r:id="rId44"/>
    <p:sldId id="2372" r:id="rId45"/>
    <p:sldId id="346" r:id="rId46"/>
    <p:sldId id="2373" r:id="rId47"/>
    <p:sldId id="2374" r:id="rId48"/>
    <p:sldId id="2375" r:id="rId49"/>
    <p:sldId id="2376" r:id="rId50"/>
    <p:sldId id="2382" r:id="rId51"/>
    <p:sldId id="2383" r:id="rId52"/>
    <p:sldId id="2384" r:id="rId53"/>
    <p:sldId id="2377" r:id="rId54"/>
    <p:sldId id="2469" r:id="rId55"/>
    <p:sldId id="2378" r:id="rId56"/>
    <p:sldId id="2379" r:id="rId57"/>
    <p:sldId id="2380" r:id="rId58"/>
    <p:sldId id="2470" r:id="rId59"/>
    <p:sldId id="2381" r:id="rId60"/>
    <p:sldId id="2385" r:id="rId61"/>
    <p:sldId id="2386" r:id="rId62"/>
    <p:sldId id="348" r:id="rId63"/>
    <p:sldId id="2387" r:id="rId64"/>
    <p:sldId id="2388" r:id="rId65"/>
    <p:sldId id="2389" r:id="rId66"/>
    <p:sldId id="2390" r:id="rId67"/>
    <p:sldId id="2391" r:id="rId68"/>
    <p:sldId id="2392" r:id="rId69"/>
    <p:sldId id="2393" r:id="rId70"/>
    <p:sldId id="2394" r:id="rId71"/>
    <p:sldId id="2395" r:id="rId72"/>
    <p:sldId id="2396" r:id="rId73"/>
    <p:sldId id="2397" r:id="rId74"/>
    <p:sldId id="2398" r:id="rId75"/>
    <p:sldId id="2471" r:id="rId76"/>
    <p:sldId id="2399" r:id="rId77"/>
    <p:sldId id="2402" r:id="rId78"/>
    <p:sldId id="2401" r:id="rId79"/>
    <p:sldId id="2472" r:id="rId80"/>
    <p:sldId id="2403" r:id="rId81"/>
    <p:sldId id="2404" r:id="rId82"/>
    <p:sldId id="2405" r:id="rId83"/>
    <p:sldId id="2406" r:id="rId84"/>
    <p:sldId id="2473" r:id="rId85"/>
    <p:sldId id="2407" r:id="rId86"/>
    <p:sldId id="2408" r:id="rId87"/>
    <p:sldId id="349" r:id="rId88"/>
    <p:sldId id="350" r:id="rId89"/>
    <p:sldId id="2409" r:id="rId90"/>
    <p:sldId id="2410" r:id="rId91"/>
    <p:sldId id="2411" r:id="rId92"/>
    <p:sldId id="2412" r:id="rId93"/>
    <p:sldId id="351" r:id="rId94"/>
    <p:sldId id="2413" r:id="rId95"/>
    <p:sldId id="2414" r:id="rId96"/>
    <p:sldId id="2415" r:id="rId97"/>
    <p:sldId id="2416" r:id="rId98"/>
    <p:sldId id="2476" r:id="rId99"/>
    <p:sldId id="2417" r:id="rId100"/>
    <p:sldId id="2418" r:id="rId101"/>
    <p:sldId id="2419" r:id="rId102"/>
    <p:sldId id="2420" r:id="rId103"/>
    <p:sldId id="352" r:id="rId104"/>
    <p:sldId id="2421" r:id="rId105"/>
    <p:sldId id="2422" r:id="rId106"/>
    <p:sldId id="2423" r:id="rId107"/>
    <p:sldId id="353" r:id="rId108"/>
    <p:sldId id="2424" r:id="rId109"/>
    <p:sldId id="2425" r:id="rId110"/>
    <p:sldId id="2426" r:id="rId111"/>
    <p:sldId id="2427" r:id="rId112"/>
    <p:sldId id="2428" r:id="rId113"/>
    <p:sldId id="2429" r:id="rId114"/>
    <p:sldId id="2430" r:id="rId115"/>
    <p:sldId id="2431" r:id="rId116"/>
    <p:sldId id="2432" r:id="rId117"/>
    <p:sldId id="2474" r:id="rId118"/>
    <p:sldId id="2433" r:id="rId119"/>
    <p:sldId id="2434" r:id="rId120"/>
    <p:sldId id="2475" r:id="rId121"/>
    <p:sldId id="2435" r:id="rId122"/>
    <p:sldId id="2436" r:id="rId123"/>
    <p:sldId id="2437" r:id="rId124"/>
    <p:sldId id="2438" r:id="rId125"/>
    <p:sldId id="2439" r:id="rId126"/>
    <p:sldId id="2440" r:id="rId127"/>
    <p:sldId id="2441" r:id="rId128"/>
    <p:sldId id="2442" r:id="rId129"/>
    <p:sldId id="2443" r:id="rId130"/>
    <p:sldId id="2444" r:id="rId131"/>
    <p:sldId id="2445" r:id="rId132"/>
    <p:sldId id="343" r:id="rId133"/>
    <p:sldId id="354" r:id="rId134"/>
    <p:sldId id="2446" r:id="rId135"/>
    <p:sldId id="2447" r:id="rId136"/>
    <p:sldId id="2448" r:id="rId137"/>
    <p:sldId id="2449" r:id="rId138"/>
    <p:sldId id="2450" r:id="rId139"/>
    <p:sldId id="2451" r:id="rId140"/>
    <p:sldId id="2452" r:id="rId141"/>
    <p:sldId id="2453" r:id="rId142"/>
    <p:sldId id="2454" r:id="rId143"/>
    <p:sldId id="2477" r:id="rId144"/>
    <p:sldId id="2479" r:id="rId145"/>
    <p:sldId id="2457" r:id="rId146"/>
    <p:sldId id="2455" r:id="rId147"/>
    <p:sldId id="2456" r:id="rId148"/>
    <p:sldId id="2458" r:id="rId149"/>
    <p:sldId id="2459" r:id="rId150"/>
    <p:sldId id="2460" r:id="rId151"/>
    <p:sldId id="2461" r:id="rId152"/>
    <p:sldId id="2462" r:id="rId153"/>
    <p:sldId id="2463" r:id="rId154"/>
    <p:sldId id="2464" r:id="rId155"/>
    <p:sldId id="2465" r:id="rId156"/>
    <p:sldId id="2466" r:id="rId157"/>
    <p:sldId id="2467" r:id="rId158"/>
    <p:sldId id="2468" r:id="rId159"/>
    <p:sldId id="679" r:id="rId160"/>
  </p:sldIdLst>
  <p:sldSz cx="9144000" cy="6858000" type="screen4x3"/>
  <p:notesSz cx="6858000" cy="9144000"/>
  <p:embeddedFontLst>
    <p:embeddedFont>
      <p:font typeface="HY헤드라인M" panose="02030600000101010101" pitchFamily="18" charset="-127"/>
      <p:regular r:id="rId162"/>
    </p:embeddedFont>
    <p:embeddedFont>
      <p:font typeface="나눔고딕" pitchFamily="2" charset="-127"/>
      <p:regular r:id="rId163"/>
      <p:bold r:id="rId164"/>
    </p:embeddedFont>
    <p:embeddedFont>
      <p:font typeface="Franklin Gothic Demi" panose="020B0703020102020204" pitchFamily="34" charset="0"/>
      <p:regular r:id="rId165"/>
      <p:italic r:id="rId166"/>
    </p:embeddedFont>
    <p:embeddedFont>
      <p:font typeface="Georgia" panose="02040502050405020303" pitchFamily="18" charset="0"/>
      <p:regular r:id="rId167"/>
      <p:bold r:id="rId168"/>
      <p:italic r:id="rId169"/>
      <p:boldItalic r:id="rId170"/>
    </p:embeddedFont>
    <p:embeddedFont>
      <p:font typeface="HY견명조" panose="02030600000101010101" pitchFamily="18" charset="-127"/>
      <p:regular r:id="rId171"/>
    </p:embeddedFont>
    <p:embeddedFont>
      <p:font typeface="Lora" pitchFamily="2" charset="0"/>
      <p:regular r:id="rId172"/>
      <p:bold r:id="rId173"/>
      <p:italic r:id="rId174"/>
      <p:boldItalic r:id="rId175"/>
    </p:embeddedFont>
    <p:embeddedFont>
      <p:font typeface="MS Reference Sans Serif" panose="020B0604030504040204" pitchFamily="34" charset="0"/>
      <p:regular r:id="rId176"/>
    </p:embeddedFont>
    <p:embeddedFont>
      <p:font typeface="맑은 고딕" panose="020B0503020000020004" pitchFamily="50" charset="-127"/>
      <p:regular r:id="rId177"/>
      <p:bold r:id="rId17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B3D8"/>
    <a:srgbClr val="FFFFFF"/>
    <a:srgbClr val="20B4D8"/>
    <a:srgbClr val="2F83B9"/>
    <a:srgbClr val="0B3162"/>
    <a:srgbClr val="1C657C"/>
    <a:srgbClr val="2D586B"/>
    <a:srgbClr val="F9A818"/>
    <a:srgbClr val="38A9CE"/>
    <a:srgbClr val="1C38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6" autoAdjust="0"/>
    <p:restoredTop sz="90336" autoAdjust="0"/>
  </p:normalViewPr>
  <p:slideViewPr>
    <p:cSldViewPr snapToGrid="0">
      <p:cViewPr varScale="1">
        <p:scale>
          <a:sx n="114" d="100"/>
          <a:sy n="114" d="100"/>
        </p:scale>
        <p:origin x="153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6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font" Target="fonts/font9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theme" Target="theme/theme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font" Target="fonts/font10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notesMaster" Target="notesMasters/notesMaster1.xml"/><Relationship Id="rId182" Type="http://schemas.openxmlformats.org/officeDocument/2006/relationships/tableStyles" Target="tableStyles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font" Target="fonts/font16.fntdata"/><Relationship Id="rId172" Type="http://schemas.openxmlformats.org/officeDocument/2006/relationships/font" Target="fonts/font11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font" Target="fonts/font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font" Target="fonts/font17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font" Target="fonts/font2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font" Target="fonts/font13.fntdata"/><Relationship Id="rId179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font" Target="fonts/font3.fntdata"/><Relationship Id="rId16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viewProps" Target="viewProp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font" Target="fonts/font14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font" Target="fonts/font4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font" Target="fonts/font15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355B9-9D7C-4CC1-97EB-A465385148B0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251D4A-E060-40E2-80F3-1901C94FE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05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51D4A-E060-40E2-80F3-1901C94FE5C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382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411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219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009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276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759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224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18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377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91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1294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07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8421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165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5134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702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2292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1432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6196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8373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7664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9417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2394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6187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7387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2817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7277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2028-E276-F18A-B7FA-3DC1B4F1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39A22-A4D7-35B3-028D-AD49EF27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B76A27-8F21-653A-72AA-C7A0AF1F2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2FC7-4C97-B504-66F6-520EBDBE4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3841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2028-E276-F18A-B7FA-3DC1B4F1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39A22-A4D7-35B3-028D-AD49EF27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B76A27-8F21-653A-72AA-C7A0AF1F2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2FC7-4C97-B504-66F6-520EBDBE4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0843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2028-E276-F18A-B7FA-3DC1B4F1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39A22-A4D7-35B3-028D-AD49EF27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B76A27-8F21-653A-72AA-C7A0AF1F2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2FC7-4C97-B504-66F6-520EBDBE4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125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2028-E276-F18A-B7FA-3DC1B4F1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39A22-A4D7-35B3-028D-AD49EF27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B76A27-8F21-653A-72AA-C7A0AF1F2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2FC7-4C97-B504-66F6-520EBDBE4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4852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2028-E276-F18A-B7FA-3DC1B4F1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39A22-A4D7-35B3-028D-AD49EF27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B76A27-8F21-653A-72AA-C7A0AF1F2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2FC7-4C97-B504-66F6-520EBDBE4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5634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2028-E276-F18A-B7FA-3DC1B4F1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39A22-A4D7-35B3-028D-AD49EF27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B76A27-8F21-653A-72AA-C7A0AF1F2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2FC7-4C97-B504-66F6-520EBDBE4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497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2028-E276-F18A-B7FA-3DC1B4F1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39A22-A4D7-35B3-028D-AD49EF27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B76A27-8F21-653A-72AA-C7A0AF1F2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2FC7-4C97-B504-66F6-520EBDBE4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45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2028-E276-F18A-B7FA-3DC1B4F1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39A22-A4D7-35B3-028D-AD49EF27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B76A27-8F21-653A-72AA-C7A0AF1F2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2FC7-4C97-B504-66F6-520EBDBE4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7457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2028-E276-F18A-B7FA-3DC1B4F1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39A22-A4D7-35B3-028D-AD49EF27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B76A27-8F21-653A-72AA-C7A0AF1F2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2FC7-4C97-B504-66F6-520EBDBE4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1485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2028-E276-F18A-B7FA-3DC1B4F1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39A22-A4D7-35B3-028D-AD49EF27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B76A27-8F21-653A-72AA-C7A0AF1F2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2FC7-4C97-B504-66F6-520EBDBE4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3950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2028-E276-F18A-B7FA-3DC1B4F1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39A22-A4D7-35B3-028D-AD49EF27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B76A27-8F21-653A-72AA-C7A0AF1F2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2FC7-4C97-B504-66F6-520EBDBE4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2680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2028-E276-F18A-B7FA-3DC1B4F1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39A22-A4D7-35B3-028D-AD49EF27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B76A27-8F21-653A-72AA-C7A0AF1F2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2FC7-4C97-B504-66F6-520EBDBE4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5227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2028-E276-F18A-B7FA-3DC1B4F1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39A22-A4D7-35B3-028D-AD49EF27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B76A27-8F21-653A-72AA-C7A0AF1F2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2FC7-4C97-B504-66F6-520EBDBE4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4810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2028-E276-F18A-B7FA-3DC1B4F1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39A22-A4D7-35B3-028D-AD49EF27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B76A27-8F21-653A-72AA-C7A0AF1F2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2FC7-4C97-B504-66F6-520EBDBE4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2978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2028-E276-F18A-B7FA-3DC1B4F1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39A22-A4D7-35B3-028D-AD49EF27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B76A27-8F21-653A-72AA-C7A0AF1F2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2FC7-4C97-B504-66F6-520EBDBE4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7383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17941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0EA4C-CF49-0D4E-0CBD-30245F85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F4DA6F-1FC4-2893-0C15-2C5E46610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C0BA1E-8A81-B52B-8A85-814FC8730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9644B6-CC52-B95E-7D7F-0986D11B5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1944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0EA4C-CF49-0D4E-0CBD-30245F85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F4DA6F-1FC4-2893-0C15-2C5E46610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C0BA1E-8A81-B52B-8A85-814FC8730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9644B6-CC52-B95E-7D7F-0986D11B5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0144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0EA4C-CF49-0D4E-0CBD-30245F85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F4DA6F-1FC4-2893-0C15-2C5E46610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C0BA1E-8A81-B52B-8A85-814FC8730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9644B6-CC52-B95E-7D7F-0986D11B5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0946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0EA4C-CF49-0D4E-0CBD-30245F85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F4DA6F-1FC4-2893-0C15-2C5E46610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C0BA1E-8A81-B52B-8A85-814FC8730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9644B6-CC52-B95E-7D7F-0986D11B5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4202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0EA4C-CF49-0D4E-0CBD-30245F85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F4DA6F-1FC4-2893-0C15-2C5E46610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C0BA1E-8A81-B52B-8A85-814FC8730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9644B6-CC52-B95E-7D7F-0986D11B5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05339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0EA4C-CF49-0D4E-0CBD-30245F85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F4DA6F-1FC4-2893-0C15-2C5E46610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C0BA1E-8A81-B52B-8A85-814FC8730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9644B6-CC52-B95E-7D7F-0986D11B5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60027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0EA4C-CF49-0D4E-0CBD-30245F85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F4DA6F-1FC4-2893-0C15-2C5E46610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C0BA1E-8A81-B52B-8A85-814FC8730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9644B6-CC52-B95E-7D7F-0986D11B5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84742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0EA4C-CF49-0D4E-0CBD-30245F85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F4DA6F-1FC4-2893-0C15-2C5E46610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C0BA1E-8A81-B52B-8A85-814FC8730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9644B6-CC52-B95E-7D7F-0986D11B5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7399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0EA4C-CF49-0D4E-0CBD-30245F85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F4DA6F-1FC4-2893-0C15-2C5E46610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C0BA1E-8A81-B52B-8A85-814FC8730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9644B6-CC52-B95E-7D7F-0986D11B5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19158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0EA4C-CF49-0D4E-0CBD-30245F85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F4DA6F-1FC4-2893-0C15-2C5E46610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C0BA1E-8A81-B52B-8A85-814FC8730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9644B6-CC52-B95E-7D7F-0986D11B5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73209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0EA4C-CF49-0D4E-0CBD-30245F85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F4DA6F-1FC4-2893-0C15-2C5E46610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C0BA1E-8A81-B52B-8A85-814FC8730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9644B6-CC52-B95E-7D7F-0986D11B5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42444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691A3-60E7-D2F4-FF5F-6DCBA6B2F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21ADEF-6BF4-0244-1E8B-CEDE4417A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9815C7-0BF2-43AD-24C1-01C805D46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50894D-97A6-CEA1-C585-55F3D020C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9546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691A3-60E7-D2F4-FF5F-6DCBA6B2F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21ADEF-6BF4-0244-1E8B-CEDE4417A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9815C7-0BF2-43AD-24C1-01C805D46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50894D-97A6-CEA1-C585-55F3D020C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30263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691A3-60E7-D2F4-FF5F-6DCBA6B2F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21ADEF-6BF4-0244-1E8B-CEDE4417A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9815C7-0BF2-43AD-24C1-01C805D46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50894D-97A6-CEA1-C585-55F3D020C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41870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315E6-C525-2616-3BE8-C887BF00C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9BB30D-28E4-9E90-99E4-5D77D2B41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D252F9-8DEA-202D-C1A7-A4C078FA9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E6EA7F-055E-6760-53FB-E8B641AA0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19054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315E6-C525-2616-3BE8-C887BF00C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9BB30D-28E4-9E90-99E4-5D77D2B41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D252F9-8DEA-202D-C1A7-A4C078FA9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E6EA7F-055E-6760-53FB-E8B641AA0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64712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46587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656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7912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30558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13980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58547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1797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15821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87290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223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85070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6423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68398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3882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70889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7BEC-B7E1-B5C0-845B-A05E2108F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2599E1-780B-0926-E6B3-75C4868CA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2C508F-B878-43F3-8EF5-54A931047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B24671-46DB-856B-94CE-B3C8D8E5E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003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7BEC-B7E1-B5C0-845B-A05E2108F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2599E1-780B-0926-E6B3-75C4868CA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2C508F-B878-43F3-8EF5-54A931047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B24671-46DB-856B-94CE-B3C8D8E5E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98799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7BEC-B7E1-B5C0-845B-A05E2108F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2599E1-780B-0926-E6B3-75C4868CA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2C508F-B878-43F3-8EF5-54A931047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B24671-46DB-856B-94CE-B3C8D8E5E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0258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7BEC-B7E1-B5C0-845B-A05E2108F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2599E1-780B-0926-E6B3-75C4868CA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2C508F-B878-43F3-8EF5-54A931047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B24671-46DB-856B-94CE-B3C8D8E5E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86449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7BEC-B7E1-B5C0-845B-A05E2108F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2599E1-780B-0926-E6B3-75C4868CA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2C508F-B878-43F3-8EF5-54A931047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B24671-46DB-856B-94CE-B3C8D8E5E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60519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58574-1A3F-0CEB-C501-646C439B9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EA2DED-E054-6B12-3A01-8BD94243A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998FE3-F9B4-7631-E2A3-461495310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C69903-2AA4-F010-1902-48403E27C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61745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58574-1A3F-0CEB-C501-646C439B9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EA2DED-E054-6B12-3A01-8BD94243A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998FE3-F9B4-7631-E2A3-461495310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C69903-2AA4-F010-1902-48403E27C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24606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58574-1A3F-0CEB-C501-646C439B9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EA2DED-E054-6B12-3A01-8BD94243A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998FE3-F9B4-7631-E2A3-461495310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C69903-2AA4-F010-1902-48403E27C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27713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58574-1A3F-0CEB-C501-646C439B9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EA2DED-E054-6B12-3A01-8BD94243A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998FE3-F9B4-7631-E2A3-461495310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C69903-2AA4-F010-1902-48403E27C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55870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58574-1A3F-0CEB-C501-646C439B9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EA2DED-E054-6B12-3A01-8BD94243A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998FE3-F9B4-7631-E2A3-461495310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C69903-2AA4-F010-1902-48403E27C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65028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98269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69877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16415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82012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16596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88713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35821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94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87158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73225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96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26974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F5878-8FF3-35AA-F0E3-243B8B51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8B4885-9C16-CBE4-9439-4A0CD1A43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82D1D9-8812-F6EC-DA77-2BCA3E8E9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3027F6-5C15-5BAC-C246-82C103B5B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97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20371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F5878-8FF3-35AA-F0E3-243B8B51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8B4885-9C16-CBE4-9439-4A0CD1A43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82D1D9-8812-F6EC-DA77-2BCA3E8E9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3027F6-5C15-5BAC-C246-82C103B5B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98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018103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F5878-8FF3-35AA-F0E3-243B8B51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8B4885-9C16-CBE4-9439-4A0CD1A43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82D1D9-8812-F6EC-DA77-2BCA3E8E9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3027F6-5C15-5BAC-C246-82C103B5B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99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06290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510-36D0-08ED-CACE-3E1E54718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DA87C-7CE0-A608-C0ED-299A20679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54DBDF-BF86-0753-B58D-2BA9391A9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99A0BB-7B3C-8CCD-B0D2-BDEDF205C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100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5029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510-36D0-08ED-CACE-3E1E54718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DA87C-7CE0-A608-C0ED-299A20679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54DBDF-BF86-0753-B58D-2BA9391A9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99A0BB-7B3C-8CCD-B0D2-BDEDF205C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05936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510-36D0-08ED-CACE-3E1E54718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DA87C-7CE0-A608-C0ED-299A20679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54DBDF-BF86-0753-B58D-2BA9391A9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99A0BB-7B3C-8CCD-B0D2-BDEDF205C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37853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135189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05321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5817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148206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175622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108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437085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012054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357869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948462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49276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925326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141132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235537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930672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255405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727574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697043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492949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996979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2202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3368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569824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567583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200907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56293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324812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17491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39882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893093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494258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263524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4982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451200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722019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941145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235500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513037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509017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108117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E9D1E-5A77-1EF9-5405-D2A73F9B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7740-6ABC-137A-F2D2-C28ED5350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F7A9D0-BDDB-886A-DF91-1A3704429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E59B85-1A09-7132-A5C8-A606457C8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151115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E9D1E-5A77-1EF9-5405-D2A73F9B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7740-6ABC-137A-F2D2-C28ED5350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F7A9D0-BDDB-886A-DF91-1A3704429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E59B85-1A09-7132-A5C8-A606457C8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455308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E9D1E-5A77-1EF9-5405-D2A73F9B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7740-6ABC-137A-F2D2-C28ED5350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F7A9D0-BDDB-886A-DF91-1A3704429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E59B85-1A09-7132-A5C8-A606457C8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275142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E9D1E-5A77-1EF9-5405-D2A73F9B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7740-6ABC-137A-F2D2-C28ED5350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F7A9D0-BDDB-886A-DF91-1A3704429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E59B85-1A09-7132-A5C8-A606457C8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1822656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E9D1E-5A77-1EF9-5405-D2A73F9B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7740-6ABC-137A-F2D2-C28ED5350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F7A9D0-BDDB-886A-DF91-1A3704429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E59B85-1A09-7132-A5C8-A606457C8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633242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E9D1E-5A77-1EF9-5405-D2A73F9B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7740-6ABC-137A-F2D2-C28ED5350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F7A9D0-BDDB-886A-DF91-1A3704429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E59B85-1A09-7132-A5C8-A606457C8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881179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81D1-1271-D785-0B40-5D8A1781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3D9B04-0054-A90E-DA5D-B4EF1AF8E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AF429A-ADE7-AE62-7265-4BD1B16B5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EA958-668A-65CC-D646-C4368CA43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978280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81D1-1271-D785-0B40-5D8A1781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3D9B04-0054-A90E-DA5D-B4EF1AF8E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AF429A-ADE7-AE62-7265-4BD1B16B5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EA958-668A-65CC-D646-C4368CA43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641888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81D1-1271-D785-0B40-5D8A1781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3D9B04-0054-A90E-DA5D-B4EF1AF8E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AF429A-ADE7-AE62-7265-4BD1B16B5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EA958-668A-65CC-D646-C4368CA43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980288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81D1-1271-D785-0B40-5D8A1781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3D9B04-0054-A90E-DA5D-B4EF1AF8E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AF429A-ADE7-AE62-7265-4BD1B16B5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EA958-668A-65CC-D646-C4368CA43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386786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81D1-1271-D785-0B40-5D8A1781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3D9B04-0054-A90E-DA5D-B4EF1AF8E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AF429A-ADE7-AE62-7265-4BD1B16B5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EA958-668A-65CC-D646-C4368CA43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302684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81D1-1271-D785-0B40-5D8A1781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3D9B04-0054-A90E-DA5D-B4EF1AF8E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AF429A-ADE7-AE62-7265-4BD1B16B5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EA958-668A-65CC-D646-C4368CA43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618080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81D1-1271-D785-0B40-5D8A1781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3D9B04-0054-A90E-DA5D-B4EF1AF8E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AF429A-ADE7-AE62-7265-4BD1B16B5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EA958-668A-65CC-D646-C4368CA43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753745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81D1-1271-D785-0B40-5D8A1781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3D9B04-0054-A90E-DA5D-B4EF1AF8E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AF429A-ADE7-AE62-7265-4BD1B16B5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EA958-668A-65CC-D646-C4368CA43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48380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81D1-1271-D785-0B40-5D8A1781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3D9B04-0054-A90E-DA5D-B4EF1AF8E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AF429A-ADE7-AE62-7265-4BD1B16B5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EA958-668A-65CC-D646-C4368CA43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540479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81D1-1271-D785-0B40-5D8A1781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3D9B04-0054-A90E-DA5D-B4EF1AF8E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AF429A-ADE7-AE62-7265-4BD1B16B5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EA958-668A-65CC-D646-C4368CA43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316872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81D1-1271-D785-0B40-5D8A1781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3D9B04-0054-A90E-DA5D-B4EF1AF8E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AF429A-ADE7-AE62-7265-4BD1B16B5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EA958-668A-65CC-D646-C4368CA43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58657-C80D-4EAD-A927-22950385D8AB}" type="slidenum">
              <a:rPr lang="ko-KR" altLang="en-US" smtClean="0"/>
              <a:t>158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900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" y="0"/>
            <a:ext cx="914288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12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2220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7776318" y="5710227"/>
            <a:ext cx="1367682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" dirty="0">
                <a:solidFill>
                  <a:schemeClr val="bg1"/>
                </a:solidFill>
                <a:latin typeface="Georgia" panose="02040502050405020303" pitchFamily="18" charset="0"/>
              </a:rPr>
              <a:t>Copyright 2022. DaeKyeong all rights reserved         </a:t>
            </a:r>
            <a:endParaRPr lang="ko-KR" altLang="en-US" sz="4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76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" y="420"/>
            <a:ext cx="9142880" cy="68571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3200" b="1" kern="1200" spc="-15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5AA1D49C-A58D-5F49-F4A0-0F180198588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693477" y="6655029"/>
            <a:ext cx="450523" cy="202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24304" rIns="0" bIns="24304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2E963571-07F4-403C-B728-654AA7503A0C}" type="slidenum">
              <a:rPr lang="ko-KR" altLang="en-US" sz="1000" smtClean="0">
                <a:solidFill>
                  <a:prstClr val="black">
                    <a:lumMod val="65000"/>
                    <a:lumOff val="35000"/>
                    <a:alpha val="99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>
                <a:defRPr/>
              </a:pPr>
              <a:t>‹#›</a:t>
            </a:fld>
            <a:endParaRPr lang="en-US" altLang="ko-KR" sz="900" dirty="0">
              <a:solidFill>
                <a:prstClr val="black">
                  <a:lumMod val="65000"/>
                  <a:lumOff val="35000"/>
                  <a:alpha val="99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6916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0560"/>
          </a:xfrm>
        </p:spPr>
        <p:txBody>
          <a:bodyPr/>
          <a:lstStyle>
            <a:lvl1pPr marL="252000" indent="-252000">
              <a:lnSpc>
                <a:spcPct val="120000"/>
              </a:lnSpc>
              <a:buFont typeface="Wingdings" pitchFamily="2" charset="2"/>
              <a:buChar char="v"/>
              <a:defRPr sz="1800" b="1">
                <a:latin typeface="+mn-ea"/>
                <a:ea typeface="+mn-ea"/>
              </a:defRPr>
            </a:lvl1pPr>
            <a:lvl2pPr marL="504000" indent="-252000">
              <a:lnSpc>
                <a:spcPct val="120000"/>
              </a:lnSpc>
              <a:buClr>
                <a:srgbClr val="333399"/>
              </a:buClr>
              <a:buFont typeface="Wingdings" pitchFamily="2" charset="2"/>
              <a:buChar char="§"/>
              <a:defRPr sz="1500">
                <a:solidFill>
                  <a:srgbClr val="000066"/>
                </a:solidFill>
                <a:latin typeface="HY견명조" pitchFamily="18" charset="-127"/>
                <a:ea typeface="HY견명조" pitchFamily="18" charset="-127"/>
              </a:defRPr>
            </a:lvl2pPr>
            <a:lvl3pPr marL="756000" indent="-252000">
              <a:lnSpc>
                <a:spcPct val="120000"/>
              </a:lnSpc>
              <a:buFont typeface="맑은 고딕" pitchFamily="50" charset="-127"/>
              <a:buChar char="–"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HY견명조" pitchFamily="18" charset="-127"/>
                <a:ea typeface="HY견명조" pitchFamily="18" charset="-127"/>
              </a:defRPr>
            </a:lvl3pPr>
            <a:lvl4pPr marL="1008000" indent="-252000">
              <a:lnSpc>
                <a:spcPct val="12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HY견명조" pitchFamily="18" charset="-127"/>
                <a:ea typeface="HY견명조" pitchFamily="18" charset="-127"/>
              </a:defRPr>
            </a:lvl4pPr>
            <a:lvl5pPr marL="1008000" indent="252000">
              <a:lnSpc>
                <a:spcPct val="12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HY견명조" pitchFamily="18" charset="-127"/>
                <a:ea typeface="HY견명조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11455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89F0BDFA-BE09-4013-BA4B-89F2D7B8B14E}" type="datetimeFigureOut">
              <a:rPr lang="ko-KR" altLang="en-US" smtClean="0"/>
              <a:pPr/>
              <a:t>2025-11-15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DD6C0820-7B92-4F7E-A12E-2ECDD3C8CA8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712198" y="5210355"/>
            <a:ext cx="1431802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" dirty="0">
                <a:solidFill>
                  <a:schemeClr val="bg1"/>
                </a:solidFill>
                <a:latin typeface="Georgia" panose="02040502050405020303" pitchFamily="18" charset="0"/>
              </a:rPr>
              <a:t>Copyright 2022. DaeKyeong all rights reserved                </a:t>
            </a:r>
            <a:endParaRPr lang="ko-KR" altLang="en-US" sz="4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943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5" r:id="rId2"/>
    <p:sldLayoutId id="2147483709" r:id="rId3"/>
    <p:sldLayoutId id="2147483714" r:id="rId4"/>
    <p:sldLayoutId id="2147483716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emf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4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4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4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4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4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4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4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4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4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4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4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4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332" y="1365850"/>
            <a:ext cx="807464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『1</a:t>
            </a:r>
            <a:r>
              <a:rPr lang="ko-KR" altLang="en-US" sz="48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일차</a:t>
            </a:r>
            <a:r>
              <a:rPr lang="en-US" altLang="ko-KR" sz="48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 』 : </a:t>
            </a:r>
          </a:p>
          <a:p>
            <a:r>
              <a:rPr lang="ko-KR" altLang="en-US" sz="48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배열과 컬렉션</a:t>
            </a:r>
            <a:r>
              <a:rPr lang="en-US" altLang="ko-KR" sz="48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, </a:t>
            </a:r>
            <a:r>
              <a:rPr lang="ko-KR" altLang="en-US" sz="48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그리고 </a:t>
            </a:r>
            <a:r>
              <a:rPr lang="ko-KR" altLang="en-US" sz="4800" b="1" spc="-1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인덱서</a:t>
            </a:r>
            <a:endParaRPr lang="ko-KR" altLang="en-US" sz="48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0714" y="782204"/>
            <a:ext cx="39982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MS Reference Sans Serif" panose="020B0604030504040204" pitchFamily="34" charset="0"/>
              </a:rPr>
              <a:t>삼성전기 </a:t>
            </a:r>
            <a:r>
              <a:rPr lang="en-US" altLang="ko-KR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MS Reference Sans Serif" panose="020B0604030504040204" pitchFamily="34" charset="0"/>
              </a:rPr>
              <a:t>: C#</a:t>
            </a:r>
            <a:r>
              <a:rPr lang="ko-KR" altLang="en-US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MS Reference Sans Serif" panose="020B0604030504040204" pitchFamily="34" charset="0"/>
              </a:rPr>
              <a:t>언어 고급</a:t>
            </a:r>
            <a:r>
              <a:rPr lang="en-US" altLang="ko-KR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MS Reference Sans Serif" panose="020B0604030504040204" pitchFamily="34" charset="0"/>
              </a:rPr>
              <a:t>(Step1)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500332" y="3243532"/>
            <a:ext cx="2915728" cy="2225615"/>
          </a:xfrm>
          <a:prstGeom prst="rect">
            <a:avLst/>
          </a:prstGeom>
          <a:solidFill>
            <a:srgbClr val="20B3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S Reference Sans Serif" panose="020B0604030504040204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00332" y="3243532"/>
            <a:ext cx="2915728" cy="2225615"/>
          </a:xfrm>
          <a:prstGeom prst="rect">
            <a:avLst/>
          </a:prstGeom>
          <a:solidFill>
            <a:srgbClr val="20B3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S Reference Sans Serif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1492" y="4010714"/>
            <a:ext cx="5405647" cy="16796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2025. 11.17-2025.11.19(3</a:t>
            </a:r>
            <a:r>
              <a:rPr lang="ko-KR" altLang="en-US" sz="24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일</a:t>
            </a:r>
            <a:r>
              <a:rPr lang="en-US" altLang="ko-KR" sz="24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, 24</a:t>
            </a:r>
            <a:r>
              <a:rPr lang="ko-KR" altLang="en-US" sz="24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시간</a:t>
            </a:r>
            <a:r>
              <a:rPr lang="en-US" altLang="ko-KR" sz="24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4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Prepared by </a:t>
            </a:r>
            <a:r>
              <a:rPr lang="en-US" altLang="ko-KR" sz="2400" b="1" spc="-1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DaeKyeong</a:t>
            </a:r>
            <a:r>
              <a:rPr lang="en-US" altLang="ko-KR" sz="24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 Kim</a:t>
            </a:r>
          </a:p>
          <a:p>
            <a:pPr>
              <a:lnSpc>
                <a:spcPct val="150000"/>
              </a:lnSpc>
            </a:pPr>
            <a:r>
              <a:rPr lang="en-US" altLang="ko-KR" sz="24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MS Reference Sans Serif" panose="020B0604030504040204" pitchFamily="34" charset="0"/>
              </a:rPr>
              <a:t>Ph.D.</a:t>
            </a:r>
          </a:p>
        </p:txBody>
      </p:sp>
      <p:pic>
        <p:nvPicPr>
          <p:cNvPr id="8" name="Picture 2" descr="한국기술교육대학교">
            <a:extLst>
              <a:ext uri="{FF2B5EF4-FFF2-40B4-BE49-F238E27FC236}">
                <a16:creationId xmlns:a16="http://schemas.microsoft.com/office/drawing/2014/main" id="{2C315A85-452B-A963-15B8-C8CFA9590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150" y="6298859"/>
            <a:ext cx="2171700" cy="46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5A18045-30EF-D5BF-E415-7C9A0C7D3C8A}"/>
              </a:ext>
            </a:extLst>
          </p:cNvPr>
          <p:cNvCxnSpPr/>
          <p:nvPr/>
        </p:nvCxnSpPr>
        <p:spPr>
          <a:xfrm>
            <a:off x="171898" y="6336653"/>
            <a:ext cx="0" cy="39113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1391028-4EA9-FA81-554C-7521E0EB12C4}"/>
              </a:ext>
            </a:extLst>
          </p:cNvPr>
          <p:cNvSpPr txBox="1"/>
          <p:nvPr/>
        </p:nvSpPr>
        <p:spPr>
          <a:xfrm>
            <a:off x="396185" y="6338547"/>
            <a:ext cx="8431932" cy="371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u="sng" dirty="0">
                <a:solidFill>
                  <a:schemeClr val="bg1"/>
                </a:solidFill>
                <a:latin typeface="MS Reference Sans Serif" panose="020B0604030504040204" pitchFamily="34" charset="0"/>
              </a:rPr>
              <a:t>SAMSUNG ELECTRO-MECHANICS </a:t>
            </a:r>
            <a:endParaRPr lang="ko-KR" altLang="en-US" sz="1200" b="1" dirty="0">
              <a:solidFill>
                <a:schemeClr val="bg1"/>
              </a:solidFill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38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MS Reference Sans Serif" panose="020B0604030504040204" pitchFamily="34" charset="0"/>
              </a:rPr>
              <a:t>학습일정 및 내용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AD3B24C-19C4-1009-9B68-A238F525675E}"/>
              </a:ext>
            </a:extLst>
          </p:cNvPr>
          <p:cNvGraphicFramePr>
            <a:graphicFrameLocks noGrp="1"/>
          </p:cNvGraphicFramePr>
          <p:nvPr/>
        </p:nvGraphicFramePr>
        <p:xfrm>
          <a:off x="273599" y="790417"/>
          <a:ext cx="8552348" cy="5848350"/>
        </p:xfrm>
        <a:graphic>
          <a:graphicData uri="http://schemas.openxmlformats.org/drawingml/2006/table">
            <a:tbl>
              <a:tblPr/>
              <a:tblGrid>
                <a:gridCol w="1352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5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15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15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9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234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시간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</a:t>
                      </a:r>
                      <a:r>
                        <a:rPr lang="ko-KR" altLang="en-US" sz="70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일차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</a:t>
                      </a:r>
                      <a:r>
                        <a:rPr lang="ko-KR" altLang="en-US" sz="70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일차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3</a:t>
                      </a:r>
                      <a:r>
                        <a:rPr lang="ko-KR" altLang="en-US" sz="70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일차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Total</a:t>
                      </a: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8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</a:t>
                      </a:r>
                      <a:r>
                        <a:rPr lang="ko-KR" altLang="en-US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08:00~08:50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『10</a:t>
                      </a:r>
                      <a:r>
                        <a:rPr lang="ko-KR" altLang="en-US" sz="800" b="1" i="0" u="none" strike="noStrike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</a:t>
                      </a:r>
                      <a:r>
                        <a:rPr lang="en-US" altLang="ko-KR" sz="800" b="1" i="0" u="none" strike="noStrike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』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배열과 컬렉션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,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그리고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인덱서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marL="228600" indent="-228600" algn="ctr" fontAlgn="ctr">
                        <a:buAutoNum type="arabicPeriod"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배열이란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2. </a:t>
                      </a:r>
                      <a:r>
                        <a:rPr lang="ko-KR" altLang="en-US" sz="700" dirty="0"/>
                        <a:t>배열을 초기화하는 세 가지 방법</a:t>
                      </a:r>
                      <a:endParaRPr lang="en-US" altLang="ko-KR" sz="700" dirty="0"/>
                    </a:p>
                    <a:p>
                      <a:pPr marL="228600" indent="-228600" algn="ctr" fontAlgn="ctr">
                        <a:buAutoNum type="arabicPeriod"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20000"/>
                        </a:lnSpc>
                        <a:buNone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『11</a:t>
                      </a:r>
                      <a:r>
                        <a:rPr lang="ko-KR" altLang="en-US" sz="800" b="1" i="0" u="none" strike="noStrike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</a:t>
                      </a:r>
                      <a:r>
                        <a:rPr lang="en-US" altLang="ko-KR" sz="800" b="1" i="0" u="none" strike="noStrike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』 </a:t>
                      </a:r>
                      <a:r>
                        <a:rPr lang="ko-KR" altLang="en-US" sz="800" b="1" i="0" u="none" strike="noStrike" kern="1200" baseline="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일반화 프로그래밍</a:t>
                      </a:r>
                      <a:endParaRPr lang="en-US" altLang="ko-KR" sz="800" b="1" i="0" u="none" strike="noStrike" kern="1200" baseline="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일반화 프로그래밍이란</a:t>
                      </a:r>
                      <a:r>
                        <a:rPr lang="en-US" altLang="ko-KR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일반화 메소드</a:t>
                      </a:r>
                      <a:endParaRPr lang="en-US" altLang="ko-KR" sz="700" b="1" kern="1200" noProof="0" dirty="0">
                        <a:solidFill>
                          <a:schemeClr val="tx2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1: </a:t>
                      </a:r>
                      <a:r>
                        <a:rPr lang="ko-KR" altLang="en-US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일반화 메서드로 배열 검색</a:t>
                      </a:r>
                      <a:endParaRPr lang="en-US" altLang="ko-KR" sz="700" b="1" kern="1200" noProof="0" dirty="0">
                        <a:solidFill>
                          <a:schemeClr val="tx2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2: </a:t>
                      </a:r>
                      <a:r>
                        <a:rPr lang="ko-KR" altLang="en-US" sz="700" b="1" kern="1200" noProof="0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일반화 메서드로 배열 필터링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171450" indent="-171450" algn="ctr" defTabSz="914290" rtl="0" eaLnBrk="1" fontAlgn="ctr" latinLnBrk="1" hangingPunct="1">
                        <a:lnSpc>
                          <a:spcPct val="120000"/>
                        </a:lnSpc>
                        <a:buFontTx/>
                        <a:buChar char="-"/>
                      </a:pPr>
                      <a:endParaRPr lang="en-US" altLang="ko-KR" sz="700" b="0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『13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장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』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대리자와 이벤트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228600" indent="-228600" algn="ctr" defTabSz="914400" rtl="0" eaLnBrk="1" fontAlgn="ctr" latinLnBrk="1" hangingPunct="1">
                        <a:buAutoNum type="arabicPeriod"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대리자란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indent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대리자는 왜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언제 사용하나요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indent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일반화 대리자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대리자 체인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1: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계산기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with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대리자 </a:t>
                      </a:r>
                    </a:p>
                    <a:p>
                      <a:pPr marL="0" marR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　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7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</a:t>
                      </a:r>
                      <a:r>
                        <a:rPr lang="ko-KR" altLang="en-US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290" rtl="0" eaLnBrk="1" fontAlgn="ctr" latinLnBrk="1" hangingPunct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09:00~09:50</a:t>
                      </a:r>
                      <a:endParaRPr lang="ko-KR" altLang="en-US" sz="700" dirty="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3.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System.Array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배열 분할하기</a:t>
                      </a:r>
                      <a:endParaRPr lang="ko-KR" altLang="en-US" sz="700" kern="1200" noProof="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700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일반화 클래스</a:t>
                      </a:r>
                      <a:endParaRPr lang="en-US" altLang="ko-KR" sz="700" kern="1200" noProof="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700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형식 매개 변수 제약</a:t>
                      </a:r>
                      <a:endParaRPr lang="en-US" altLang="ko-KR" sz="700" kern="1200" noProof="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3: </a:t>
                      </a:r>
                      <a:r>
                        <a:rPr lang="ko-KR" altLang="en-US" sz="700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제약이 있는 일반화 클래스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kern="1200" noProof="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익명 메소드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6.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이벤트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객체에 일어난 사건 알리기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2: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온도 모니터링 시스템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3: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주문 처리 시스템</a:t>
                      </a:r>
                    </a:p>
                    <a:p>
                      <a:pPr algn="ctr" latinLnBrk="1"/>
                      <a:endParaRPr lang="ko-KR" altLang="en-US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9824567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3</a:t>
                      </a:r>
                      <a:r>
                        <a:rPr lang="ko-KR" altLang="en-US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290" rtl="0" eaLnBrk="1" fontAlgn="ctr" latinLnBrk="1" hangingPunct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10:00~10:5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FontTx/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5. 2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차원 배열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algn="ctr" latinLnBrk="0">
                        <a:spcBef>
                          <a:spcPts val="171"/>
                        </a:spcBef>
                        <a:tabLst>
                          <a:tab pos="60873" algn="l"/>
                          <a:tab pos="97396" algn="l"/>
                        </a:tabLst>
                      </a:pPr>
                      <a:r>
                        <a:rPr lang="ko-KR" altLang="en-US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실습 </a:t>
                      </a: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1: </a:t>
                      </a:r>
                      <a:r>
                        <a:rPr lang="ko-KR" altLang="en-US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학생 성적 관리</a:t>
                      </a: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-</a:t>
                      </a:r>
                      <a:r>
                        <a:rPr lang="en-US" altLang="ko-KR" sz="700" dirty="0" err="1"/>
                        <a:t>EduScore</a:t>
                      </a:r>
                      <a:endParaRPr lang="en-US" altLang="ko-KR" sz="7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71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0873" algn="l"/>
                          <a:tab pos="97396" algn="l"/>
                        </a:tabLst>
                        <a:defRPr/>
                      </a:pPr>
                      <a:r>
                        <a:rPr lang="ko-KR" altLang="en-US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실습 </a:t>
                      </a: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2: </a:t>
                      </a:r>
                      <a:r>
                        <a:rPr lang="ko-KR" altLang="en-US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좌석 예약 시스템 </a:t>
                      </a: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-Seat-Now</a:t>
                      </a:r>
                      <a:endParaRPr lang="ko-KR" altLang="en-US" sz="700" b="1" dirty="0">
                        <a:solidFill>
                          <a:schemeClr val="tx2"/>
                        </a:solidFill>
                        <a:latin typeface="MS Reference Sans Serif" panose="020B0604030504040204" pitchFamily="34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kern="1200" noProof="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000" b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일반화 컬렉션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4: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단어 빈도수 계산기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5: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학생 관리 시스템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000" b="0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2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8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『20</a:t>
                      </a:r>
                      <a:r>
                        <a:rPr lang="ko-KR" altLang="en-US" sz="800" b="1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장</a:t>
                      </a:r>
                      <a:r>
                        <a:rPr lang="en-US" altLang="ko-KR" sz="800" b="1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』 </a:t>
                      </a:r>
                      <a:r>
                        <a:rPr lang="en-US" altLang="ko-KR" sz="800" b="1" kern="1200" noProof="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WinForm</a:t>
                      </a:r>
                      <a:r>
                        <a:rPr lang="ko-KR" altLang="en-US" sz="800" b="1" kern="1200" noProof="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으로 만드는 사용자 인터페이스</a:t>
                      </a:r>
                    </a:p>
                    <a:p>
                      <a:pPr marL="228600" marR="0" indent="-22860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WinForm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소개 및 개발 환경 설정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2.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WinForm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윈도우 만들기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3. Application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클래스 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ctr" defTabSz="91429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메시지 필터링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  <a:p>
                      <a:pPr algn="ctr" latinLnBrk="1"/>
                      <a:endParaRPr lang="ko-KR" altLang="en-US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533420"/>
                  </a:ext>
                </a:extLst>
              </a:tr>
              <a:tr h="4076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4</a:t>
                      </a:r>
                      <a:r>
                        <a:rPr lang="ko-KR" altLang="en-US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290" rtl="0" eaLnBrk="1" fontAlgn="ctr" latinLnBrk="1" hangingPunct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11:00~11:50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6.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다차원 배열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7.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가변배열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(Jagged Array)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3: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월별 일수 관리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4: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시험 점수 관리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실습 </a:t>
                      </a: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5: </a:t>
                      </a:r>
                      <a:r>
                        <a:rPr lang="ko-KR" altLang="en-US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조직도 관리 시스템</a:t>
                      </a: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-</a:t>
                      </a:r>
                      <a:r>
                        <a:rPr lang="en-US" altLang="ko-KR" sz="700" b="1" dirty="0" err="1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TeamStructure</a:t>
                      </a:r>
                      <a:endParaRPr lang="ko-KR" altLang="en-US" sz="700" b="1" dirty="0">
                        <a:solidFill>
                          <a:schemeClr val="tx2"/>
                        </a:solidFill>
                        <a:latin typeface="MS Reference Sans Serif" panose="020B0604030504040204" pitchFamily="34" charset="0"/>
                      </a:endParaRPr>
                    </a:p>
                    <a:p>
                      <a:pPr marL="0" algn="ctr" defTabSz="914400" rtl="0" eaLnBrk="1" fontAlgn="ctr" latinLnBrk="1" hangingPunct="1">
                        <a:buFontTx/>
                        <a:buNone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6. Foreach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를 사용할 수 있는 일반화 클래스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윈도우를 표현하는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Form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클래스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8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5</a:t>
                      </a:r>
                      <a:r>
                        <a:rPr lang="ko-KR" altLang="en-US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290" rtl="0" eaLnBrk="1" fontAlgn="ctr" latinLnBrk="1" hangingPunct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13:00~13:50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8.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컬렉션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(Collection)</a:t>
                      </a: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컬렉션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ArrayList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컬렉션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Queue</a:t>
                      </a: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컬렉션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Stack</a:t>
                      </a: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컬렉션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Hashtable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20000"/>
                        </a:lnSpc>
                        <a:buNone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『12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장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』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예외 처리하기</a:t>
                      </a:r>
                    </a:p>
                    <a:p>
                      <a:pPr marL="228600" marR="0" indent="-22860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예외에 대하여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2. try ~ catch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로 예외 받기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1: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안전한 계산기 </a:t>
                      </a:r>
                    </a:p>
                    <a:p>
                      <a:pPr marL="228600" marR="0" indent="-22860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6.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폼 디자이너를 이용한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WinForm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 UI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구성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8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6</a:t>
                      </a:r>
                      <a:r>
                        <a:rPr lang="ko-KR" altLang="en-US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290" rtl="0" eaLnBrk="1" fontAlgn="ctr" latinLnBrk="1" hangingPunct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14:00~14:50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6: Queue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활용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고객 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대기열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WaitingON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7: Queue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활용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프린터 출력 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대기열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Qprint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3.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System.Exception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클래스</a:t>
                      </a: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7.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사용자 인터페이스와 비동기 작업</a:t>
                      </a: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2303365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7</a:t>
                      </a:r>
                      <a:r>
                        <a:rPr lang="ko-KR" altLang="en-US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290" rtl="0" eaLnBrk="1" fontAlgn="ctr" latinLnBrk="1" hangingPunct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15:00~15:50</a:t>
                      </a:r>
                      <a:endParaRPr lang="ko-KR" altLang="en-US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8: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단어 빈도수 계산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WordCount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9: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Hashtable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로 전화번호부 만들기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HashPhone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예외 던지기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5. </a:t>
                      </a:r>
                      <a:r>
                        <a:rPr lang="en-US" altLang="ko-KR" sz="700" kern="1200" dirty="0" err="1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try~catch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와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finally</a:t>
                      </a: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6.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사용자 정의 예외 클래스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7.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예외 필터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(Exception Filter)</a:t>
                      </a: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1: 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윈폼으로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 계산기  만들기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75865242"/>
                  </a:ext>
                </a:extLst>
              </a:tr>
              <a:tr h="6365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39440979"/>
                  </a:ext>
                </a:extLst>
              </a:tr>
              <a:tr h="3710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8</a:t>
                      </a:r>
                      <a:r>
                        <a:rPr lang="ko-KR" altLang="en-US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교시</a:t>
                      </a:r>
                      <a:endParaRPr lang="en-US" altLang="ko-KR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algn="ctr" defTabSz="914290" rtl="0" eaLnBrk="1" fontAlgn="ctr" latinLnBrk="1" hangingPunct="1"/>
                      <a:r>
                        <a:rPr lang="en-US" altLang="ko-KR" sz="700" b="1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16:00~16:50</a:t>
                      </a:r>
                      <a:endParaRPr lang="ko-KR" altLang="en-US" sz="700" b="1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Bef>
                          <a:spcPts val="171"/>
                        </a:spcBef>
                        <a:tabLst>
                          <a:tab pos="60873" algn="l"/>
                          <a:tab pos="97396" algn="l"/>
                        </a:tabLst>
                      </a:pPr>
                      <a:r>
                        <a:rPr lang="ko-KR" altLang="en-US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컬렉션 초기화</a:t>
                      </a:r>
                      <a:endParaRPr lang="en-US" altLang="ko-KR" sz="700" b="1" dirty="0">
                        <a:solidFill>
                          <a:schemeClr val="tx2"/>
                        </a:solidFill>
                        <a:latin typeface="MS Reference Sans Serif" panose="020B0604030504040204" pitchFamily="34" charset="0"/>
                      </a:endParaRPr>
                    </a:p>
                    <a:p>
                      <a:pPr algn="ctr" latinLnBrk="0">
                        <a:spcBef>
                          <a:spcPts val="171"/>
                        </a:spcBef>
                        <a:tabLst>
                          <a:tab pos="60873" algn="l"/>
                          <a:tab pos="97396" algn="l"/>
                        </a:tabLst>
                      </a:pP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9. </a:t>
                      </a:r>
                      <a:r>
                        <a:rPr lang="ko-KR" altLang="en-US" sz="700" b="1" dirty="0" err="1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인덱서</a:t>
                      </a: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(Indexer)</a:t>
                      </a:r>
                    </a:p>
                    <a:p>
                      <a:pPr algn="ctr" latinLnBrk="0">
                        <a:spcBef>
                          <a:spcPts val="171"/>
                        </a:spcBef>
                        <a:tabLst>
                          <a:tab pos="60873" algn="l"/>
                          <a:tab pos="97396" algn="l"/>
                        </a:tabLst>
                      </a:pPr>
                      <a:r>
                        <a:rPr lang="en-US" altLang="ko-KR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10. Foreach</a:t>
                      </a:r>
                      <a:r>
                        <a:rPr lang="ko-KR" altLang="en-US" sz="700" b="1" dirty="0">
                          <a:solidFill>
                            <a:schemeClr val="tx2"/>
                          </a:solidFill>
                          <a:latin typeface="MS Reference Sans Serif" panose="020B0604030504040204" pitchFamily="34" charset="0"/>
                        </a:rPr>
                        <a:t>가 가능한 객체 만들기</a:t>
                      </a:r>
                    </a:p>
                    <a:p>
                      <a:pPr algn="ctr" latinLnBrk="0">
                        <a:spcBef>
                          <a:spcPts val="171"/>
                        </a:spcBef>
                        <a:tabLst>
                          <a:tab pos="60873" algn="l"/>
                          <a:tab pos="97396" algn="l"/>
                        </a:tabLst>
                      </a:pPr>
                      <a:endParaRPr lang="ko-KR" altLang="en-US" sz="700" b="1" dirty="0">
                        <a:solidFill>
                          <a:schemeClr val="tx2"/>
                        </a:solidFill>
                        <a:latin typeface="MS Reference Sans Serif" panose="020B0604030504040204" pitchFamily="34" charset="0"/>
                      </a:endParaRP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20000"/>
                        </a:lnSpc>
                        <a:buNone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8.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예외 처리 다시 생각해보기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2: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Franklin Gothic Demi" panose="020B0703020102020204" pitchFamily="34" charset="0"/>
                          <a:ea typeface="+mn-ea"/>
                          <a:cs typeface="+mn-cs"/>
                        </a:rPr>
                        <a:t>사용자 등록 시스템 </a:t>
                      </a:r>
                    </a:p>
                    <a:p>
                      <a:pPr marL="0" indent="0" algn="ctr" defTabSz="914400" rtl="0" eaLnBrk="1" fontAlgn="ctr" latinLnBrk="1" hangingPunct="1">
                        <a:buNone/>
                      </a:pPr>
                      <a:endParaRPr lang="ko-KR" altLang="en-US" sz="700" kern="1200" dirty="0">
                        <a:solidFill>
                          <a:schemeClr val="tx1"/>
                        </a:solidFill>
                        <a:latin typeface="Franklin Gothic Demi" panose="020B0703020102020204" pitchFamily="34" charset="0"/>
                        <a:ea typeface="+mn-ea"/>
                        <a:cs typeface="+mn-cs"/>
                      </a:endParaRPr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altLang="ko-KR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필기 평가</a:t>
                      </a:r>
                    </a:p>
                  </a:txBody>
                  <a:tcPr marL="4603" marR="4603" marT="4603" marB="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marL="4603" marR="4603" marT="4603" marB="0"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448290"/>
                  </a:ext>
                </a:extLst>
              </a:tr>
              <a:tr h="944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Total Time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　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8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　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8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　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8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1" i="0" u="none" strike="noStrike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baseline="0" dirty="0">
                          <a:latin typeface="+mn-ea"/>
                          <a:ea typeface="+mn-ea"/>
                          <a:cs typeface="Arial" pitchFamily="34" charset="0"/>
                        </a:rPr>
                        <a:t>24</a:t>
                      </a:r>
                    </a:p>
                  </a:txBody>
                  <a:tcPr marL="4603" marR="4603" marT="460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3557EA-F090-EBBD-C1CD-51170654A724}"/>
              </a:ext>
            </a:extLst>
          </p:cNvPr>
          <p:cNvSpPr txBox="1"/>
          <p:nvPr/>
        </p:nvSpPr>
        <p:spPr>
          <a:xfrm>
            <a:off x="184041" y="6526052"/>
            <a:ext cx="2121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* 커리큘럼은 협의에 따라 변경 가능</a:t>
            </a:r>
            <a:endParaRPr lang="en-US" altLang="ko-KR" sz="1000" dirty="0">
              <a:solidFill>
                <a:srgbClr val="0000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835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MS Reference Sans Serif" panose="020B0604030504040204" pitchFamily="34" charset="0"/>
              </a:rPr>
              <a:t>목차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414F7D-E737-3627-DDF0-025A9907B3A2}"/>
              </a:ext>
            </a:extLst>
          </p:cNvPr>
          <p:cNvSpPr txBox="1"/>
          <p:nvPr/>
        </p:nvSpPr>
        <p:spPr>
          <a:xfrm>
            <a:off x="224290" y="966044"/>
            <a:ext cx="884207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3200" b="1" dirty="0">
                <a:latin typeface="MS Reference Sans Serif" panose="020B0604030504040204" pitchFamily="34" charset="0"/>
              </a:rPr>
              <a:t>배열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3200" b="1" dirty="0">
                <a:latin typeface="MS Reference Sans Serif" panose="020B0604030504040204" pitchFamily="34" charset="0"/>
              </a:rPr>
              <a:t>배열 초기화 방법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3200" b="1" dirty="0" err="1">
                <a:latin typeface="MS Reference Sans Serif" panose="020B0604030504040204" pitchFamily="34" charset="0"/>
              </a:rPr>
              <a:t>System.Array</a:t>
            </a:r>
            <a:r>
              <a:rPr lang="en-US" altLang="ko-KR" sz="32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3200" b="1" dirty="0">
                <a:latin typeface="MS Reference Sans Serif" panose="020B0604030504040204" pitchFamily="34" charset="0"/>
              </a:rPr>
              <a:t>클래스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3200" b="1" dirty="0">
                <a:latin typeface="MS Reference Sans Serif" panose="020B0604030504040204" pitchFamily="34" charset="0"/>
              </a:rPr>
              <a:t>다차원 배열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3200" b="1" dirty="0">
                <a:latin typeface="MS Reference Sans Serif" panose="020B0604030504040204" pitchFamily="34" charset="0"/>
              </a:rPr>
              <a:t>컬렉션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3200" b="1" dirty="0" err="1">
                <a:latin typeface="MS Reference Sans Serif" panose="020B0604030504040204" pitchFamily="34" charset="0"/>
              </a:rPr>
              <a:t>인덱서</a:t>
            </a:r>
            <a:endParaRPr lang="en-US" altLang="ko-KR" sz="2800" b="1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457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171F0-4701-1B51-1EDF-AAEA56BC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배열이란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Google Shape;100;p14">
            <a:extLst>
              <a:ext uri="{FF2B5EF4-FFF2-40B4-BE49-F238E27FC236}">
                <a16:creationId xmlns:a16="http://schemas.microsoft.com/office/drawing/2014/main" id="{4D78B6F0-7D80-4D66-A24E-64B032C561B3}"/>
              </a:ext>
            </a:extLst>
          </p:cNvPr>
          <p:cNvSpPr txBox="1">
            <a:spLocks/>
          </p:cNvSpPr>
          <p:nvPr/>
        </p:nvSpPr>
        <p:spPr>
          <a:xfrm>
            <a:off x="427673" y="1013309"/>
            <a:ext cx="7190555" cy="2104414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50"/>
              </a:spcBef>
              <a:buNone/>
            </a:pPr>
            <a:r>
              <a:rPr lang="ko-KR" altLang="en-US" sz="3200" b="1" dirty="0">
                <a:latin typeface="MS Reference Sans Serif" panose="020B0604030504040204" pitchFamily="34" charset="0"/>
                <a:cs typeface="Lora"/>
                <a:sym typeface="Lora"/>
              </a:rPr>
              <a:t>배열</a:t>
            </a:r>
            <a:r>
              <a:rPr lang="en-US" altLang="ko-KR" sz="3200" b="1" dirty="0">
                <a:latin typeface="MS Reference Sans Serif" panose="020B0604030504040204" pitchFamily="34" charset="0"/>
                <a:cs typeface="Lora"/>
                <a:sym typeface="Lora"/>
              </a:rPr>
              <a:t>(Array)</a:t>
            </a:r>
            <a:endParaRPr lang="en-US" altLang="ko-KR" sz="2400" dirty="0">
              <a:solidFill>
                <a:schemeClr val="dk1"/>
              </a:solidFill>
              <a:latin typeface="MS Reference Sans Serif" panose="020B0604030504040204" pitchFamily="34" charset="0"/>
            </a:endParaRPr>
          </a:p>
          <a:p>
            <a:endParaRPr lang="en-US" altLang="ko-KR" sz="16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r>
              <a:rPr lang="ko-KR" altLang="en-US" sz="1600" b="1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같은 형식의 복수 인스턴스를 저장</a:t>
            </a:r>
            <a:r>
              <a:rPr lang="ko-KR" altLang="en-US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할 수 있는 형식</a:t>
            </a:r>
            <a:endParaRPr lang="en-US" altLang="ko-KR" sz="16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r>
              <a:rPr lang="ko-KR" altLang="en-US" sz="1600" b="1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참조형식</a:t>
            </a:r>
            <a:r>
              <a:rPr lang="ko-KR" altLang="en-US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으로써 연속된 메모리 공간을 가리킴</a:t>
            </a:r>
            <a:endParaRPr lang="en-US" altLang="ko-KR" sz="16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r>
              <a:rPr lang="ko-KR" altLang="en-US" sz="1600" b="1" dirty="0" err="1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반복문</a:t>
            </a:r>
            <a:r>
              <a:rPr lang="en-US" altLang="ko-KR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,</a:t>
            </a:r>
            <a:r>
              <a:rPr lang="ko-KR" altLang="en-US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 특히 </a:t>
            </a:r>
            <a:r>
              <a:rPr lang="en-US" altLang="ko-KR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for/foreach</a:t>
            </a:r>
            <a:r>
              <a:rPr lang="ko-KR" altLang="en-US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문과 함께 사용하면 효율 향상</a:t>
            </a:r>
            <a:endParaRPr lang="en-US" altLang="ko-KR" sz="16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꺾쇠 괄호 </a:t>
            </a:r>
            <a:r>
              <a:rPr lang="en-US" altLang="ko-KR" sz="1600" b="1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[ ] </a:t>
            </a:r>
            <a:r>
              <a:rPr lang="ko-KR" altLang="en-US" sz="1600" b="1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안에 배열의 크기를 지정</a:t>
            </a:r>
            <a:r>
              <a:rPr lang="ko-KR" altLang="en-US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하여 다음과 같이 선언</a:t>
            </a:r>
            <a:endParaRPr lang="en-US" altLang="ko-KR" sz="16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endParaRPr lang="en-US" altLang="ko-KR" sz="16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C3BC0AC-744B-46D6-82C0-C21DD323E695}"/>
              </a:ext>
            </a:extLst>
          </p:cNvPr>
          <p:cNvSpPr/>
          <p:nvPr/>
        </p:nvSpPr>
        <p:spPr>
          <a:xfrm>
            <a:off x="891788" y="4531995"/>
            <a:ext cx="7045203" cy="5265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noAutofit/>
          </a:bodyPr>
          <a:lstStyle/>
          <a:p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데이터형식</a:t>
            </a:r>
            <a:r>
              <a:rPr lang="en-US" altLang="ko-KR" sz="1600" dirty="0">
                <a:highlight>
                  <a:srgbClr val="FFCD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 ]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배열이름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ko-KR" sz="1600" dirty="0">
                <a:highlight>
                  <a:srgbClr val="FFCD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데이터형식</a:t>
            </a:r>
            <a:r>
              <a:rPr lang="en-US" altLang="ko-KR" sz="1600" dirty="0">
                <a:highlight>
                  <a:srgbClr val="FFCD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ko-KR" altLang="en-US" sz="1600" dirty="0">
                <a:highlight>
                  <a:srgbClr val="FFCD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용량 </a:t>
            </a:r>
            <a:r>
              <a:rPr lang="en-US" altLang="ko-KR" sz="1600" dirty="0">
                <a:highlight>
                  <a:srgbClr val="FFCD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AE6935-0D60-4B8B-B3E6-6D9D47993761}"/>
              </a:ext>
            </a:extLst>
          </p:cNvPr>
          <p:cNvSpPr/>
          <p:nvPr/>
        </p:nvSpPr>
        <p:spPr>
          <a:xfrm>
            <a:off x="891788" y="5422009"/>
            <a:ext cx="7045203" cy="3412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highlight>
                  <a:srgbClr val="FFCD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array = </a:t>
            </a:r>
            <a:r>
              <a:rPr lang="en-US" altLang="ko-KR" sz="1600" dirty="0">
                <a:highlight>
                  <a:srgbClr val="FFCD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int</a:t>
            </a:r>
            <a:r>
              <a:rPr lang="en-US" altLang="ko-KR" sz="1600" dirty="0">
                <a:highlight>
                  <a:srgbClr val="FFCD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[5]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361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직사각형 79">
            <a:extLst>
              <a:ext uri="{FF2B5EF4-FFF2-40B4-BE49-F238E27FC236}">
                <a16:creationId xmlns:a16="http://schemas.microsoft.com/office/drawing/2014/main" id="{D39B45E2-65CF-4B5B-85BA-BEAEC44EB822}"/>
              </a:ext>
            </a:extLst>
          </p:cNvPr>
          <p:cNvSpPr/>
          <p:nvPr/>
        </p:nvSpPr>
        <p:spPr>
          <a:xfrm>
            <a:off x="4768101" y="1781925"/>
            <a:ext cx="4075444" cy="23504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35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D0C7BE4A-4138-411C-A4FD-78FFB6FB4C1A}"/>
              </a:ext>
            </a:extLst>
          </p:cNvPr>
          <p:cNvSpPr/>
          <p:nvPr/>
        </p:nvSpPr>
        <p:spPr>
          <a:xfrm>
            <a:off x="1262558" y="1781926"/>
            <a:ext cx="3396355" cy="23504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35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A067923-BF8F-FCF2-B171-A0888864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배열이란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57A5345-1B51-4A93-A0B2-29B20CF01D6C}"/>
              </a:ext>
            </a:extLst>
          </p:cNvPr>
          <p:cNvSpPr/>
          <p:nvPr/>
        </p:nvSpPr>
        <p:spPr>
          <a:xfrm>
            <a:off x="1294954" y="2624376"/>
            <a:ext cx="1586942" cy="10387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noAutofit/>
          </a:bodyPr>
          <a:lstStyle/>
          <a:p>
            <a:r>
              <a:rPr lang="fr-FR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int score_1 = 80;</a:t>
            </a:r>
          </a:p>
          <a:p>
            <a:r>
              <a:rPr lang="fr-FR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int score_2 = 74;</a:t>
            </a:r>
          </a:p>
          <a:p>
            <a:r>
              <a:rPr lang="fr-FR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int score_3 = 81;</a:t>
            </a:r>
          </a:p>
          <a:p>
            <a:r>
              <a:rPr lang="fr-FR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int score_4 = 90;</a:t>
            </a:r>
          </a:p>
          <a:p>
            <a:r>
              <a:rPr lang="fr-FR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int score_5 = 34;</a:t>
            </a:r>
            <a:endParaRPr lang="ko-KR" alt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FDBB974-80B3-4C6F-A31E-6250F84E0B48}"/>
              </a:ext>
            </a:extLst>
          </p:cNvPr>
          <p:cNvGrpSpPr/>
          <p:nvPr/>
        </p:nvGrpSpPr>
        <p:grpSpPr>
          <a:xfrm>
            <a:off x="3776976" y="2624376"/>
            <a:ext cx="810000" cy="1304577"/>
            <a:chOff x="3292502" y="3914454"/>
            <a:chExt cx="2238959" cy="1739436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71B01916-33AB-4086-914D-7FA6D2C72005}"/>
                </a:ext>
              </a:extLst>
            </p:cNvPr>
            <p:cNvSpPr/>
            <p:nvPr/>
          </p:nvSpPr>
          <p:spPr>
            <a:xfrm>
              <a:off x="3292506" y="3914454"/>
              <a:ext cx="2238955" cy="348502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dirty="0">
                  <a:solidFill>
                    <a:schemeClr val="tx1"/>
                  </a:solidFill>
                </a:rPr>
                <a:t>80</a:t>
              </a:r>
              <a:endParaRPr lang="ko-KR" alt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491B445-68E6-4470-8207-4030C5686846}"/>
                </a:ext>
              </a:extLst>
            </p:cNvPr>
            <p:cNvSpPr/>
            <p:nvPr/>
          </p:nvSpPr>
          <p:spPr>
            <a:xfrm>
              <a:off x="3292505" y="4262956"/>
              <a:ext cx="2238955" cy="348502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dirty="0">
                  <a:solidFill>
                    <a:schemeClr val="tx1"/>
                  </a:solidFill>
                </a:rPr>
                <a:t>74</a:t>
              </a:r>
              <a:endParaRPr lang="ko-KR" alt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A036D4D-F9DA-453D-8F01-1DFB60850C40}"/>
                </a:ext>
              </a:extLst>
            </p:cNvPr>
            <p:cNvSpPr/>
            <p:nvPr/>
          </p:nvSpPr>
          <p:spPr>
            <a:xfrm>
              <a:off x="3292504" y="4611457"/>
              <a:ext cx="2238955" cy="348502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dirty="0">
                  <a:solidFill>
                    <a:schemeClr val="tx1"/>
                  </a:solidFill>
                </a:rPr>
                <a:t>81</a:t>
              </a:r>
              <a:endParaRPr lang="ko-KR" alt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04D8578-E17F-40EC-B8EF-4F932F0CBF3E}"/>
                </a:ext>
              </a:extLst>
            </p:cNvPr>
            <p:cNvSpPr/>
            <p:nvPr/>
          </p:nvSpPr>
          <p:spPr>
            <a:xfrm>
              <a:off x="3292503" y="4956887"/>
              <a:ext cx="2238955" cy="348502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dirty="0">
                  <a:solidFill>
                    <a:schemeClr val="tx1"/>
                  </a:solidFill>
                </a:rPr>
                <a:t>94</a:t>
              </a:r>
              <a:endParaRPr lang="ko-KR" alt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BAFA78C-BA79-4073-AF3B-5BB2A64A5C0C}"/>
                </a:ext>
              </a:extLst>
            </p:cNvPr>
            <p:cNvSpPr/>
            <p:nvPr/>
          </p:nvSpPr>
          <p:spPr>
            <a:xfrm>
              <a:off x="3292502" y="5305388"/>
              <a:ext cx="2238955" cy="348502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dirty="0">
                  <a:solidFill>
                    <a:schemeClr val="tx1"/>
                  </a:solidFill>
                </a:rPr>
                <a:t>34</a:t>
              </a:r>
              <a:endParaRPr lang="ko-KR" altLang="en-US" sz="1350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02AA4FB-02E3-4F87-A92F-3880251A8186}"/>
              </a:ext>
            </a:extLst>
          </p:cNvPr>
          <p:cNvSpPr/>
          <p:nvPr/>
        </p:nvSpPr>
        <p:spPr>
          <a:xfrm>
            <a:off x="2750760" y="2624376"/>
            <a:ext cx="1026213" cy="261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solidFill>
                  <a:schemeClr val="tx1"/>
                </a:solidFill>
              </a:rPr>
              <a:t>score_1</a:t>
            </a:r>
            <a:endParaRPr lang="ko-KR" altLang="en-US" sz="135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F45BCF1-D16A-45EA-856F-E15125168620}"/>
              </a:ext>
            </a:extLst>
          </p:cNvPr>
          <p:cNvSpPr/>
          <p:nvPr/>
        </p:nvSpPr>
        <p:spPr>
          <a:xfrm>
            <a:off x="2750759" y="2885752"/>
            <a:ext cx="1026213" cy="261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solidFill>
                  <a:schemeClr val="tx1"/>
                </a:solidFill>
              </a:rPr>
              <a:t>score_2</a:t>
            </a:r>
            <a:endParaRPr lang="ko-KR" altLang="en-US" sz="135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66B4722-2FB1-4A10-A582-78894AEA5DA2}"/>
              </a:ext>
            </a:extLst>
          </p:cNvPr>
          <p:cNvSpPr/>
          <p:nvPr/>
        </p:nvSpPr>
        <p:spPr>
          <a:xfrm>
            <a:off x="2750759" y="3147128"/>
            <a:ext cx="1026213" cy="261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solidFill>
                  <a:schemeClr val="tx1"/>
                </a:solidFill>
              </a:rPr>
              <a:t>score_3</a:t>
            </a:r>
            <a:endParaRPr lang="ko-KR" altLang="en-US" sz="135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66DCB89-AEA3-4E87-921F-4853616C2700}"/>
              </a:ext>
            </a:extLst>
          </p:cNvPr>
          <p:cNvSpPr/>
          <p:nvPr/>
        </p:nvSpPr>
        <p:spPr>
          <a:xfrm>
            <a:off x="2750758" y="3406201"/>
            <a:ext cx="1026213" cy="261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solidFill>
                  <a:schemeClr val="tx1"/>
                </a:solidFill>
              </a:rPr>
              <a:t>score_4</a:t>
            </a:r>
            <a:endParaRPr lang="ko-KR" altLang="en-US" sz="135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F050CBF-BB1E-4752-8F29-FD25D740C5FA}"/>
              </a:ext>
            </a:extLst>
          </p:cNvPr>
          <p:cNvSpPr/>
          <p:nvPr/>
        </p:nvSpPr>
        <p:spPr>
          <a:xfrm>
            <a:off x="2750757" y="3667576"/>
            <a:ext cx="1026213" cy="261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solidFill>
                  <a:schemeClr val="tx1"/>
                </a:solidFill>
              </a:rPr>
              <a:t>score_5</a:t>
            </a:r>
            <a:endParaRPr lang="ko-KR" altLang="en-US" sz="135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6CB3EBC-8D1D-4CB1-9ED8-9D1E3F359DE2}"/>
              </a:ext>
            </a:extLst>
          </p:cNvPr>
          <p:cNvSpPr/>
          <p:nvPr/>
        </p:nvSpPr>
        <p:spPr>
          <a:xfrm>
            <a:off x="4848546" y="2622751"/>
            <a:ext cx="2228440" cy="10387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noAutofit/>
          </a:bodyPr>
          <a:lstStyle/>
          <a:p>
            <a:r>
              <a:rPr lang="fr-FR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int[] scores = new int[5];</a:t>
            </a:r>
          </a:p>
          <a:p>
            <a:r>
              <a:rPr lang="fr-FR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scores[0] = 80;</a:t>
            </a:r>
          </a:p>
          <a:p>
            <a:r>
              <a:rPr lang="fr-FR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scores[1] = 74;</a:t>
            </a:r>
          </a:p>
          <a:p>
            <a:r>
              <a:rPr lang="fr-FR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scores[2] = 81;</a:t>
            </a:r>
          </a:p>
          <a:p>
            <a:r>
              <a:rPr lang="fr-FR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scores[3] = 90;</a:t>
            </a:r>
          </a:p>
          <a:p>
            <a:r>
              <a:rPr lang="fr-FR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scores[4] = 34;</a:t>
            </a:r>
            <a:endParaRPr lang="ko-KR" alt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4ACA3FD-EE09-4082-89B1-B7463E77E5F9}"/>
              </a:ext>
            </a:extLst>
          </p:cNvPr>
          <p:cNvSpPr/>
          <p:nvPr/>
        </p:nvSpPr>
        <p:spPr>
          <a:xfrm>
            <a:off x="7676618" y="2626415"/>
            <a:ext cx="810000" cy="261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solidFill>
                  <a:schemeClr val="tx1"/>
                </a:solidFill>
              </a:rPr>
              <a:t>80</a:t>
            </a:r>
            <a:endParaRPr lang="ko-KR" altLang="en-US" sz="1350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33CB1C6-4C83-4216-8954-DCC9D3D8D5A0}"/>
              </a:ext>
            </a:extLst>
          </p:cNvPr>
          <p:cNvSpPr/>
          <p:nvPr/>
        </p:nvSpPr>
        <p:spPr>
          <a:xfrm>
            <a:off x="7676618" y="2886706"/>
            <a:ext cx="810000" cy="261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solidFill>
                  <a:schemeClr val="tx1"/>
                </a:solidFill>
              </a:rPr>
              <a:t>74</a:t>
            </a:r>
            <a:endParaRPr lang="ko-KR" altLang="en-US" sz="1350" dirty="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25A10F6-36E3-45BE-8DCC-97D511810AE8}"/>
              </a:ext>
            </a:extLst>
          </p:cNvPr>
          <p:cNvSpPr/>
          <p:nvPr/>
        </p:nvSpPr>
        <p:spPr>
          <a:xfrm>
            <a:off x="7676618" y="3146996"/>
            <a:ext cx="810000" cy="261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solidFill>
                  <a:schemeClr val="tx1"/>
                </a:solidFill>
              </a:rPr>
              <a:t>81</a:t>
            </a:r>
            <a:endParaRPr lang="ko-KR" altLang="en-US" sz="1350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906BAC2-45C6-4BDB-AED1-8C140C1B7D65}"/>
              </a:ext>
            </a:extLst>
          </p:cNvPr>
          <p:cNvSpPr/>
          <p:nvPr/>
        </p:nvSpPr>
        <p:spPr>
          <a:xfrm>
            <a:off x="7676618" y="3407287"/>
            <a:ext cx="810000" cy="261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solidFill>
                  <a:schemeClr val="tx1"/>
                </a:solidFill>
              </a:rPr>
              <a:t>94</a:t>
            </a:r>
            <a:endParaRPr lang="ko-KR" altLang="en-US" sz="1350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9722B7E-3A7B-4E60-B1D1-19F97001A182}"/>
              </a:ext>
            </a:extLst>
          </p:cNvPr>
          <p:cNvSpPr/>
          <p:nvPr/>
        </p:nvSpPr>
        <p:spPr>
          <a:xfrm>
            <a:off x="7676618" y="3667576"/>
            <a:ext cx="810000" cy="261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solidFill>
                  <a:schemeClr val="tx1"/>
                </a:solidFill>
              </a:rPr>
              <a:t>34</a:t>
            </a:r>
            <a:endParaRPr lang="ko-KR" altLang="en-US" sz="1350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D15E4AC-CF37-4A97-9152-4719EDA301CA}"/>
              </a:ext>
            </a:extLst>
          </p:cNvPr>
          <p:cNvSpPr/>
          <p:nvPr/>
        </p:nvSpPr>
        <p:spPr>
          <a:xfrm>
            <a:off x="8402896" y="2619371"/>
            <a:ext cx="540000" cy="261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solidFill>
                  <a:schemeClr val="tx1"/>
                </a:solidFill>
              </a:rPr>
              <a:t>[0]</a:t>
            </a:r>
            <a:endParaRPr lang="ko-KR" altLang="en-US" sz="135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2D97926-21B9-47ED-B28B-79CE555FFE48}"/>
              </a:ext>
            </a:extLst>
          </p:cNvPr>
          <p:cNvSpPr/>
          <p:nvPr/>
        </p:nvSpPr>
        <p:spPr>
          <a:xfrm>
            <a:off x="8402895" y="2880747"/>
            <a:ext cx="540000" cy="261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solidFill>
                  <a:schemeClr val="tx1"/>
                </a:solidFill>
              </a:rPr>
              <a:t>[1]</a:t>
            </a:r>
            <a:endParaRPr lang="ko-KR" altLang="en-US" sz="135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ADF359B-C5F2-40A2-93B7-BF92C075A608}"/>
              </a:ext>
            </a:extLst>
          </p:cNvPr>
          <p:cNvSpPr/>
          <p:nvPr/>
        </p:nvSpPr>
        <p:spPr>
          <a:xfrm>
            <a:off x="8402894" y="3142123"/>
            <a:ext cx="540000" cy="261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solidFill>
                  <a:schemeClr val="tx1"/>
                </a:solidFill>
              </a:rPr>
              <a:t>[2]</a:t>
            </a:r>
            <a:endParaRPr lang="ko-KR" altLang="en-US" sz="135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A9AE16D-EB80-4518-8906-14ED11F77A7E}"/>
              </a:ext>
            </a:extLst>
          </p:cNvPr>
          <p:cNvSpPr/>
          <p:nvPr/>
        </p:nvSpPr>
        <p:spPr>
          <a:xfrm>
            <a:off x="8402894" y="3401195"/>
            <a:ext cx="540000" cy="261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solidFill>
                  <a:schemeClr val="tx1"/>
                </a:solidFill>
              </a:rPr>
              <a:t>[3]</a:t>
            </a:r>
            <a:endParaRPr lang="ko-KR" altLang="en-US" sz="1350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AAFB4F4-48A4-4168-A756-E201DD8863B5}"/>
              </a:ext>
            </a:extLst>
          </p:cNvPr>
          <p:cNvSpPr/>
          <p:nvPr/>
        </p:nvSpPr>
        <p:spPr>
          <a:xfrm>
            <a:off x="8402893" y="3662572"/>
            <a:ext cx="540000" cy="261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solidFill>
                  <a:schemeClr val="tx1"/>
                </a:solidFill>
              </a:rPr>
              <a:t>[4]</a:t>
            </a:r>
            <a:endParaRPr lang="ko-KR" altLang="en-US" sz="1350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3431C29-A4BF-4398-8243-20EC0BC2DD6A}"/>
              </a:ext>
            </a:extLst>
          </p:cNvPr>
          <p:cNvSpPr/>
          <p:nvPr/>
        </p:nvSpPr>
        <p:spPr>
          <a:xfrm>
            <a:off x="6544444" y="2111396"/>
            <a:ext cx="810000" cy="2613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25" dirty="0">
                <a:solidFill>
                  <a:schemeClr val="tx1"/>
                </a:solidFill>
              </a:rPr>
              <a:t>배열 주소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1440866-5DF4-4FA9-9737-88EF2CBD8A9D}"/>
              </a:ext>
            </a:extLst>
          </p:cNvPr>
          <p:cNvSpPr/>
          <p:nvPr/>
        </p:nvSpPr>
        <p:spPr>
          <a:xfrm>
            <a:off x="6544444" y="1847498"/>
            <a:ext cx="810000" cy="26137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5" dirty="0">
                <a:solidFill>
                  <a:schemeClr val="tx1"/>
                </a:solidFill>
              </a:rPr>
              <a:t>…</a:t>
            </a:r>
            <a:endParaRPr lang="ko-KR" altLang="en-US" sz="825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F6C447D-EA31-49C5-92A5-40257E149F47}"/>
              </a:ext>
            </a:extLst>
          </p:cNvPr>
          <p:cNvSpPr/>
          <p:nvPr/>
        </p:nvSpPr>
        <p:spPr>
          <a:xfrm>
            <a:off x="5957447" y="2100098"/>
            <a:ext cx="594000" cy="261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solidFill>
                  <a:schemeClr val="tx1"/>
                </a:solidFill>
              </a:rPr>
              <a:t>scores</a:t>
            </a:r>
            <a:endParaRPr lang="ko-KR" altLang="en-US" sz="1350" dirty="0">
              <a:solidFill>
                <a:schemeClr val="tx1"/>
              </a:solidFill>
            </a:endParaRP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15A64F95-38A3-4801-9F14-E5EFFEE612D2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7354444" y="2140857"/>
            <a:ext cx="322174" cy="101228"/>
          </a:xfrm>
          <a:prstGeom prst="bentConnector3">
            <a:avLst>
              <a:gd name="adj1" fmla="val 50000"/>
            </a:avLst>
          </a:prstGeom>
          <a:ln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6B88A56-548A-4D03-B39C-52EEA45711AD}"/>
              </a:ext>
            </a:extLst>
          </p:cNvPr>
          <p:cNvSpPr txBox="1"/>
          <p:nvPr/>
        </p:nvSpPr>
        <p:spPr>
          <a:xfrm>
            <a:off x="1607870" y="1261838"/>
            <a:ext cx="2086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latin typeface="Lora"/>
                <a:ea typeface="Lora"/>
                <a:cs typeface="Lora"/>
                <a:sym typeface="Lora"/>
              </a:rPr>
              <a:t>개별 변수</a:t>
            </a:r>
            <a:endParaRPr lang="ko-KR" altLang="en-US" sz="2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B60F1C8-4EC8-4C8E-B6CB-A4B0D008FC26}"/>
              </a:ext>
            </a:extLst>
          </p:cNvPr>
          <p:cNvSpPr txBox="1"/>
          <p:nvPr/>
        </p:nvSpPr>
        <p:spPr>
          <a:xfrm>
            <a:off x="6096812" y="1261838"/>
            <a:ext cx="1439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 dirty="0">
                <a:latin typeface="Lora"/>
                <a:sym typeface="Lora"/>
              </a:rPr>
              <a:t>배열</a:t>
            </a:r>
            <a:endParaRPr lang="ko-KR" altLang="en-US" sz="2400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43DFB89-D0DD-4FD0-AB19-8CA9A66E6DE2}"/>
              </a:ext>
            </a:extLst>
          </p:cNvPr>
          <p:cNvSpPr/>
          <p:nvPr/>
        </p:nvSpPr>
        <p:spPr>
          <a:xfrm>
            <a:off x="1294954" y="4377973"/>
            <a:ext cx="3363965" cy="8599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ko-KR" alt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ko-KR" alt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ko-KR" alt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score_1</a:t>
            </a:r>
            <a:r>
              <a:rPr lang="ko-KR" alt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ko-KR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+</a:t>
            </a:r>
            <a:r>
              <a:rPr lang="ko-KR" alt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score_2 </a:t>
            </a:r>
          </a:p>
          <a:p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+ </a:t>
            </a:r>
            <a:r>
              <a:rPr lang="it-IT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score_3</a:t>
            </a:r>
          </a:p>
          <a:p>
            <a:r>
              <a:rPr lang="it-IT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+ score_4</a:t>
            </a:r>
          </a:p>
          <a:p>
            <a:r>
              <a:rPr lang="it-IT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+ score_5;</a:t>
            </a:r>
            <a:endParaRPr lang="ko-KR" alt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0E5C362-CFF3-4D03-8266-825CCBAA4FC5}"/>
              </a:ext>
            </a:extLst>
          </p:cNvPr>
          <p:cNvSpPr/>
          <p:nvPr/>
        </p:nvSpPr>
        <p:spPr>
          <a:xfrm>
            <a:off x="4768102" y="4372524"/>
            <a:ext cx="4075443" cy="8599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r>
              <a:rPr lang="it-IT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int sum = 0;</a:t>
            </a:r>
          </a:p>
          <a:p>
            <a:r>
              <a:rPr lang="it-IT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foreach ( int score in scores )</a:t>
            </a:r>
          </a:p>
          <a:p>
            <a:r>
              <a:rPr lang="it-IT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sum += score;</a:t>
            </a:r>
            <a:endParaRPr lang="ko-KR" alt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882B3F2-4CF0-4C4A-9C24-A0BF7450A192}"/>
              </a:ext>
            </a:extLst>
          </p:cNvPr>
          <p:cNvSpPr/>
          <p:nvPr/>
        </p:nvSpPr>
        <p:spPr>
          <a:xfrm>
            <a:off x="416101" y="1781925"/>
            <a:ext cx="760296" cy="2350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메모리</a:t>
            </a:r>
            <a:endParaRPr lang="en-US" altLang="ko-KR" sz="1200" dirty="0"/>
          </a:p>
          <a:p>
            <a:pPr algn="ctr"/>
            <a:r>
              <a:rPr lang="ko-KR" altLang="en-US" sz="1200" dirty="0"/>
              <a:t>구조</a:t>
            </a:r>
            <a:endParaRPr lang="en-US" altLang="ko-KR" sz="120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A853CD2-5426-41E5-80E0-126C5749C13F}"/>
              </a:ext>
            </a:extLst>
          </p:cNvPr>
          <p:cNvSpPr/>
          <p:nvPr/>
        </p:nvSpPr>
        <p:spPr>
          <a:xfrm>
            <a:off x="421234" y="4372524"/>
            <a:ext cx="760296" cy="865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데이터</a:t>
            </a:r>
            <a:endParaRPr lang="en-US" altLang="ko-KR" sz="1200" dirty="0"/>
          </a:p>
          <a:p>
            <a:pPr algn="ctr"/>
            <a:r>
              <a:rPr lang="ko-KR" altLang="en-US" sz="1200" dirty="0"/>
              <a:t>접근코드</a:t>
            </a:r>
            <a:endParaRPr lang="en-US" altLang="ko-KR" sz="12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AA0B376-B0A9-41F8-92B9-8BB2481255FD}"/>
              </a:ext>
            </a:extLst>
          </p:cNvPr>
          <p:cNvSpPr/>
          <p:nvPr/>
        </p:nvSpPr>
        <p:spPr>
          <a:xfrm>
            <a:off x="7676618" y="2366125"/>
            <a:ext cx="810000" cy="261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25" dirty="0">
                <a:solidFill>
                  <a:schemeClr val="tx1"/>
                </a:solidFill>
              </a:rPr>
              <a:t>배열 크기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FAE423A-8724-4FBA-B5BC-FDC8C5FEDD8F}"/>
              </a:ext>
            </a:extLst>
          </p:cNvPr>
          <p:cNvSpPr/>
          <p:nvPr/>
        </p:nvSpPr>
        <p:spPr>
          <a:xfrm>
            <a:off x="7676618" y="2105834"/>
            <a:ext cx="810000" cy="26137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25" dirty="0">
                <a:solidFill>
                  <a:schemeClr val="tx1"/>
                </a:solidFill>
              </a:rPr>
              <a:t>메소드 테이블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95CCC8-DEEE-482E-9CCA-B8CC72AC3208}"/>
              </a:ext>
            </a:extLst>
          </p:cNvPr>
          <p:cNvSpPr/>
          <p:nvPr/>
        </p:nvSpPr>
        <p:spPr>
          <a:xfrm>
            <a:off x="7677731" y="2618655"/>
            <a:ext cx="810000" cy="1310298"/>
          </a:xfrm>
          <a:prstGeom prst="rect">
            <a:avLst/>
          </a:prstGeom>
          <a:noFill/>
          <a:ln w="28575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AE227A8-7867-463E-8A71-F4800069800D}"/>
              </a:ext>
            </a:extLst>
          </p:cNvPr>
          <p:cNvSpPr/>
          <p:nvPr/>
        </p:nvSpPr>
        <p:spPr>
          <a:xfrm>
            <a:off x="7676618" y="1845544"/>
            <a:ext cx="810000" cy="26137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25" dirty="0">
                <a:solidFill>
                  <a:schemeClr val="tx1"/>
                </a:solidFill>
              </a:rPr>
              <a:t>…</a:t>
            </a:r>
            <a:endParaRPr lang="ko-KR" altLang="en-US" sz="825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458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171F0-4701-1B51-1EDF-AAEA56BC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배열이란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7E1D9-9CCB-B294-62CA-7322A4663284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</a:t>
            </a:r>
            <a:endParaRPr lang="en-US" altLang="ko-KR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07E66B1-E782-474C-5E41-D84D15C643B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198C2BC-59B4-8019-AA2D-95EE925393B5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2C8CBCB-57B5-ECA9-8ECF-59049C77BC37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ArraySample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1A8F305-CB03-4C0F-7461-915754650FF9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00D12EAF-EEAC-DB3D-654A-47F291DB9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24" y="2262115"/>
            <a:ext cx="3525408" cy="230223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685246F-5FDC-4967-F2F2-D95DC42DF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155" y="2163842"/>
            <a:ext cx="3525408" cy="231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884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171F0-4701-1B51-1EDF-AAEA56BC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배열이란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7E1D9-9CCB-B294-62CA-7322A4663284}"/>
              </a:ext>
            </a:extLst>
          </p:cNvPr>
          <p:cNvSpPr txBox="1"/>
          <p:nvPr/>
        </p:nvSpPr>
        <p:spPr>
          <a:xfrm>
            <a:off x="224290" y="1526876"/>
            <a:ext cx="88420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MS Reference Sans Serif" panose="020B0604030504040204" pitchFamily="34" charset="0"/>
              </a:rPr>
              <a:t>NET 8.0 (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장기 지원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)</a:t>
            </a:r>
          </a:p>
          <a:p>
            <a:pPr marL="342900" indent="-342900">
              <a:buFont typeface="MS Reference Sans Serif" panose="020B0604030504040204" pitchFamily="34" charset="0"/>
              <a:buChar char="∧"/>
            </a:pPr>
            <a:r>
              <a:rPr lang="en-US" altLang="ko-KR" sz="2000" b="1" dirty="0">
                <a:latin typeface="MS Reference Sans Serif" panose="020B0604030504040204" pitchFamily="34" charset="0"/>
              </a:rPr>
              <a:t>→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프로젝트가 사용할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.NET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버전을 지정합니다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.</a:t>
            </a:r>
          </a:p>
          <a:p>
            <a:pPr marL="342900" indent="-342900">
              <a:buFont typeface="MS Reference Sans Serif" panose="020B0604030504040204" pitchFamily="34" charset="0"/>
              <a:buChar char="∧"/>
            </a:pPr>
            <a:r>
              <a:rPr lang="en-US" altLang="ko-KR" sz="2000" b="1" dirty="0">
                <a:latin typeface="MS Reference Sans Serif" panose="020B0604030504040204" pitchFamily="34" charset="0"/>
              </a:rPr>
              <a:t>.NET 8.0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은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2023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년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11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월 </a:t>
            </a:r>
            <a:r>
              <a:rPr lang="ko-KR" altLang="en-US" sz="2000" b="1" dirty="0" err="1">
                <a:latin typeface="MS Reference Sans Serif" panose="020B0604030504040204" pitchFamily="34" charset="0"/>
              </a:rPr>
              <a:t>릴리즈된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LTS(Long-Term Support,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장기 지원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)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버전으로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,</a:t>
            </a:r>
          </a:p>
          <a:p>
            <a:pPr marL="342900" indent="-342900">
              <a:buFont typeface="MS Reference Sans Serif" panose="020B0604030504040204" pitchFamily="34" charset="0"/>
              <a:buChar char="∧"/>
            </a:pPr>
            <a:r>
              <a:rPr lang="ko-KR" altLang="en-US" sz="2000" b="1" dirty="0">
                <a:latin typeface="MS Reference Sans Serif" panose="020B0604030504040204" pitchFamily="34" charset="0"/>
              </a:rPr>
              <a:t>최신 성능과 언어 기능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(C# 12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포함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)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을 제공합니다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.</a:t>
            </a:r>
            <a:endParaRPr lang="ko-KR" altLang="en-US" sz="20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07E66B1-E782-474C-5E41-D84D15C643B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198C2BC-59B4-8019-AA2D-95EE925393B5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2C8CBCB-57B5-ECA9-8ECF-59049C77BC37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ArraySample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1A8F305-CB03-4C0F-7461-915754650FF9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37E0767E-B447-006B-FB11-BBF906729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539405"/>
            <a:ext cx="3525408" cy="22920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F307D4E-6B99-692C-6673-65E301AD0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76" y="3497685"/>
            <a:ext cx="3525408" cy="233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16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171F0-4701-1B51-1EDF-AAEA56BC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배열이란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7E1D9-9CCB-B294-62CA-7322A4663284}"/>
              </a:ext>
            </a:extLst>
          </p:cNvPr>
          <p:cNvSpPr txBox="1"/>
          <p:nvPr/>
        </p:nvSpPr>
        <p:spPr>
          <a:xfrm>
            <a:off x="224290" y="1526876"/>
            <a:ext cx="884207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MS Reference Sans Serif" panose="020B0604030504040204" pitchFamily="34" charset="0"/>
              </a:rPr>
              <a:t>최상위 문 사용 안 함</a:t>
            </a:r>
          </a:p>
          <a:p>
            <a:r>
              <a:rPr lang="ko-KR" altLang="en-US" dirty="0">
                <a:latin typeface="MS Reference Sans Serif" panose="020B0604030504040204" pitchFamily="34" charset="0"/>
              </a:rPr>
              <a:t>“최상위 문</a:t>
            </a:r>
            <a:r>
              <a:rPr lang="en-US" altLang="ko-KR" dirty="0">
                <a:latin typeface="MS Reference Sans Serif" panose="020B0604030504040204" pitchFamily="34" charset="0"/>
              </a:rPr>
              <a:t>(top-level statements)”</a:t>
            </a:r>
            <a:r>
              <a:rPr lang="ko-KR" altLang="en-US" dirty="0">
                <a:latin typeface="MS Reference Sans Serif" panose="020B0604030504040204" pitchFamily="34" charset="0"/>
              </a:rPr>
              <a:t>이란 </a:t>
            </a:r>
            <a:r>
              <a:rPr lang="en-US" altLang="ko-KR" dirty="0">
                <a:latin typeface="MS Reference Sans Serif" panose="020B0604030504040204" pitchFamily="34" charset="0"/>
              </a:rPr>
              <a:t>C# 9</a:t>
            </a:r>
            <a:r>
              <a:rPr lang="ko-KR" altLang="en-US" dirty="0">
                <a:latin typeface="MS Reference Sans Serif" panose="020B0604030504040204" pitchFamily="34" charset="0"/>
              </a:rPr>
              <a:t>부터 도입된 기능으로</a:t>
            </a:r>
            <a:r>
              <a:rPr lang="en-US" altLang="ko-KR" dirty="0">
                <a:latin typeface="MS Reference Sans Serif" panose="020B0604030504040204" pitchFamily="34" charset="0"/>
              </a:rPr>
              <a:t>,</a:t>
            </a:r>
            <a:br>
              <a:rPr lang="en-US" altLang="ko-KR" dirty="0">
                <a:latin typeface="MS Reference Sans Serif" panose="020B0604030504040204" pitchFamily="34" charset="0"/>
              </a:rPr>
            </a:br>
            <a:r>
              <a:rPr lang="en-US" altLang="ko-KR" sz="1400" dirty="0">
                <a:latin typeface="MS Reference Sans Serif" panose="020B0604030504040204" pitchFamily="34" charset="0"/>
              </a:rPr>
              <a:t>Main()</a:t>
            </a:r>
            <a:r>
              <a:rPr lang="ko-KR" altLang="en-US" dirty="0">
                <a:latin typeface="MS Reference Sans Serif" panose="020B0604030504040204" pitchFamily="34" charset="0"/>
              </a:rPr>
              <a:t> 메서드 없이 바로 코드를 작성할 수 있게 해주는 문법입니다</a:t>
            </a:r>
            <a:r>
              <a:rPr lang="en-US" altLang="ko-KR" dirty="0">
                <a:latin typeface="MS Reference Sans Serif" panose="020B0604030504040204" pitchFamily="34" charset="0"/>
              </a:rPr>
              <a:t>.</a:t>
            </a:r>
          </a:p>
          <a:p>
            <a:r>
              <a:rPr lang="ko-KR" altLang="en-US" sz="1600" dirty="0">
                <a:latin typeface="MS Reference Sans Serif" panose="020B0604030504040204" pitchFamily="34" charset="0"/>
              </a:rPr>
              <a:t>예를 들어</a:t>
            </a:r>
            <a:r>
              <a:rPr lang="en-US" altLang="ko-KR" sz="1600" dirty="0">
                <a:latin typeface="MS Reference Sans Serif" panose="020B0604030504040204" pitchFamily="34" charset="0"/>
              </a:rPr>
              <a:t>:</a:t>
            </a:r>
          </a:p>
          <a:p>
            <a:r>
              <a:rPr lang="en-US" altLang="ko-KR" sz="1200" dirty="0">
                <a:latin typeface="MS Reference Sans Serif" panose="020B0604030504040204" pitchFamily="34" charset="0"/>
              </a:rPr>
              <a:t>// </a:t>
            </a:r>
            <a:r>
              <a:rPr lang="ko-KR" altLang="en-US" sz="1200" dirty="0">
                <a:latin typeface="MS Reference Sans Serif" panose="020B0604030504040204" pitchFamily="34" charset="0"/>
              </a:rPr>
              <a:t>최상위 문 사용 </a:t>
            </a:r>
            <a:r>
              <a:rPr lang="en-US" altLang="ko-KR" sz="1200" dirty="0">
                <a:latin typeface="MS Reference Sans Serif" panose="020B0604030504040204" pitchFamily="34" charset="0"/>
              </a:rPr>
              <a:t>(</a:t>
            </a:r>
            <a:r>
              <a:rPr lang="ko-KR" altLang="en-US" sz="1200" dirty="0">
                <a:latin typeface="MS Reference Sans Serif" panose="020B0604030504040204" pitchFamily="34" charset="0"/>
              </a:rPr>
              <a:t>체크 안 함</a:t>
            </a:r>
            <a:r>
              <a:rPr lang="en-US" altLang="ko-KR" sz="1200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200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dirty="0">
                <a:latin typeface="MS Reference Sans Serif" panose="020B0604030504040204" pitchFamily="34" charset="0"/>
              </a:rPr>
              <a:t>("Hello, World!");</a:t>
            </a:r>
          </a:p>
          <a:p>
            <a:endParaRPr lang="en-US" altLang="ko-KR" sz="1600" dirty="0">
              <a:latin typeface="MS Reference Sans Serif" panose="020B0604030504040204" pitchFamily="34" charset="0"/>
            </a:endParaRPr>
          </a:p>
          <a:p>
            <a:r>
              <a:rPr lang="ko-KR" altLang="en-US" sz="1600" dirty="0">
                <a:latin typeface="MS Reference Sans Serif" panose="020B0604030504040204" pitchFamily="34" charset="0"/>
              </a:rPr>
              <a:t>하지만 이 옵션에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체크하면</a:t>
            </a:r>
            <a:r>
              <a:rPr lang="en-US" altLang="ko-KR" sz="1600" dirty="0">
                <a:latin typeface="MS Reference Sans Serif" panose="020B0604030504040204" pitchFamily="34" charset="0"/>
              </a:rPr>
              <a:t>, </a:t>
            </a:r>
            <a:r>
              <a:rPr lang="ko-KR" altLang="en-US" sz="1600" dirty="0">
                <a:latin typeface="MS Reference Sans Serif" panose="020B0604030504040204" pitchFamily="34" charset="0"/>
              </a:rPr>
              <a:t>기존 방식처럼 명시적으로 </a:t>
            </a:r>
            <a:r>
              <a:rPr lang="en-US" altLang="ko-KR" sz="1600" dirty="0">
                <a:latin typeface="MS Reference Sans Serif" panose="020B0604030504040204" pitchFamily="34" charset="0"/>
              </a:rPr>
              <a:t>Main </a:t>
            </a:r>
            <a:r>
              <a:rPr lang="ko-KR" altLang="en-US" sz="1600" dirty="0">
                <a:latin typeface="MS Reference Sans Serif" panose="020B0604030504040204" pitchFamily="34" charset="0"/>
              </a:rPr>
              <a:t>메서드를 사용해야 합니다</a:t>
            </a:r>
            <a:r>
              <a:rPr lang="en-US" altLang="ko-KR" sz="1600" dirty="0">
                <a:latin typeface="MS Reference Sans Serif" panose="020B0604030504040204" pitchFamily="34" charset="0"/>
              </a:rPr>
              <a:t>:</a:t>
            </a:r>
          </a:p>
          <a:p>
            <a:r>
              <a:rPr lang="en-US" altLang="ko-KR" sz="1200" dirty="0">
                <a:latin typeface="MS Reference Sans Serif" panose="020B0604030504040204" pitchFamily="34" charset="0"/>
              </a:rPr>
              <a:t>// </a:t>
            </a:r>
            <a:r>
              <a:rPr lang="ko-KR" altLang="en-US" sz="1200" dirty="0">
                <a:latin typeface="MS Reference Sans Serif" panose="020B0604030504040204" pitchFamily="34" charset="0"/>
              </a:rPr>
              <a:t>최상위 문 사용 안 함 </a:t>
            </a:r>
            <a:r>
              <a:rPr lang="en-US" altLang="ko-KR" sz="1200" dirty="0">
                <a:latin typeface="MS Reference Sans Serif" panose="020B0604030504040204" pitchFamily="34" charset="0"/>
              </a:rPr>
              <a:t>(</a:t>
            </a:r>
            <a:r>
              <a:rPr lang="ko-KR" altLang="en-US" sz="1200" dirty="0">
                <a:latin typeface="MS Reference Sans Serif" panose="020B0604030504040204" pitchFamily="34" charset="0"/>
              </a:rPr>
              <a:t>체크함</a:t>
            </a:r>
            <a:r>
              <a:rPr lang="en-US" altLang="ko-KR" sz="1200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200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1200" dirty="0">
              <a:latin typeface="MS Reference Sans Serif" panose="020B0604030504040204" pitchFamily="34" charset="0"/>
            </a:endParaRPr>
          </a:p>
          <a:p>
            <a:r>
              <a:rPr lang="en-US" altLang="ko-KR" sz="1200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1200" dirty="0" err="1">
                <a:latin typeface="MS Reference Sans Serif" panose="020B0604030504040204" pitchFamily="34" charset="0"/>
              </a:rPr>
              <a:t>MyApp</a:t>
            </a:r>
            <a:endParaRPr lang="en-US" altLang="ko-KR" sz="1200" dirty="0">
              <a:latin typeface="MS Reference Sans Serif" panose="020B0604030504040204" pitchFamily="34" charset="0"/>
            </a:endParaRPr>
          </a:p>
          <a:p>
            <a:r>
              <a:rPr lang="en-US" altLang="ko-KR" sz="1200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200" dirty="0">
                <a:latin typeface="MS Reference Sans Serif" panose="020B0604030504040204" pitchFamily="34" charset="0"/>
              </a:rPr>
              <a:t>    internal class Program</a:t>
            </a:r>
          </a:p>
          <a:p>
            <a:r>
              <a:rPr lang="en-US" altLang="ko-KR" sz="1200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200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200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200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200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200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dirty="0">
                <a:latin typeface="MS Reference Sans Serif" panose="020B0604030504040204" pitchFamily="34" charset="0"/>
              </a:rPr>
              <a:t>("Hello, World!");</a:t>
            </a:r>
          </a:p>
          <a:p>
            <a:r>
              <a:rPr lang="en-US" altLang="ko-KR" sz="1200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200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200" dirty="0">
                <a:latin typeface="MS Reference Sans Serif" panose="020B0604030504040204" pitchFamily="34" charset="0"/>
              </a:rPr>
              <a:t>}</a:t>
            </a:r>
          </a:p>
          <a:p>
            <a:r>
              <a:rPr lang="ko-KR" altLang="en-US" sz="2000" dirty="0">
                <a:latin typeface="MS Reference Sans Serif" panose="020B0604030504040204" pitchFamily="34" charset="0"/>
              </a:rPr>
              <a:t>✔️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교육용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,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구조적 코드 작성용</a:t>
            </a:r>
            <a:r>
              <a:rPr lang="ko-KR" altLang="en-US" sz="2000" dirty="0">
                <a:latin typeface="MS Reference Sans Serif" panose="020B0604030504040204" pitchFamily="34" charset="0"/>
              </a:rPr>
              <a:t>이라면 “최상위 문 사용 안 </a:t>
            </a:r>
            <a:r>
              <a:rPr lang="ko-KR" altLang="en-US" sz="2000" dirty="0" err="1">
                <a:latin typeface="MS Reference Sans Serif" panose="020B0604030504040204" pitchFamily="34" charset="0"/>
              </a:rPr>
              <a:t>함”을</a:t>
            </a:r>
            <a:r>
              <a:rPr lang="ko-KR" altLang="en-US" sz="2000" dirty="0">
                <a:latin typeface="MS Reference Sans Serif" panose="020B0604030504040204" pitchFamily="34" charset="0"/>
              </a:rPr>
              <a:t>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체크하는 것이 좋습니다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.</a:t>
            </a:r>
            <a:endParaRPr lang="ko-KR" altLang="en-US" sz="2000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07E66B1-E782-474C-5E41-D84D15C643B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198C2BC-59B4-8019-AA2D-95EE925393B5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2C8CBCB-57B5-ECA9-8ECF-59049C77BC37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ArraySample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1A8F305-CB03-4C0F-7461-915754650FF9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4883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171F0-4701-1B51-1EDF-AAEA56BC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배열이란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7E1D9-9CCB-B294-62CA-7322A4663284}"/>
              </a:ext>
            </a:extLst>
          </p:cNvPr>
          <p:cNvSpPr txBox="1"/>
          <p:nvPr/>
        </p:nvSpPr>
        <p:spPr>
          <a:xfrm>
            <a:off x="224290" y="1526876"/>
            <a:ext cx="884207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MS Reference Sans Serif" panose="020B0604030504040204" pitchFamily="34" charset="0"/>
              </a:rPr>
              <a:t>native AOT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게시 사용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(N)</a:t>
            </a:r>
          </a:p>
          <a:p>
            <a:r>
              <a:rPr lang="en-US" altLang="ko-KR" sz="2000" b="1" dirty="0">
                <a:latin typeface="MS Reference Sans Serif" panose="020B0604030504040204" pitchFamily="34" charset="0"/>
              </a:rPr>
              <a:t>AOT(Ahead-of-Time)</a:t>
            </a:r>
            <a:r>
              <a:rPr lang="ko-KR" altLang="en-US" sz="2000" dirty="0">
                <a:latin typeface="MS Reference Sans Serif" panose="020B0604030504040204" pitchFamily="34" charset="0"/>
              </a:rPr>
              <a:t> 컴파일을 사용하여 </a:t>
            </a:r>
            <a:r>
              <a:rPr lang="en-US" altLang="ko-KR" sz="2000" dirty="0">
                <a:latin typeface="MS Reference Sans Serif" panose="020B0604030504040204" pitchFamily="34" charset="0"/>
              </a:rPr>
              <a:t>.NET </a:t>
            </a:r>
            <a:r>
              <a:rPr lang="ko-KR" altLang="en-US" sz="2000" dirty="0">
                <a:latin typeface="MS Reference Sans Serif" panose="020B0604030504040204" pitchFamily="34" charset="0"/>
              </a:rPr>
              <a:t>런타임 없이도 실행 가능한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독립 실행형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(native) EXE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파일</a:t>
            </a:r>
            <a:r>
              <a:rPr lang="ko-KR" altLang="en-US" sz="2000" dirty="0">
                <a:latin typeface="MS Reference Sans Serif" panose="020B0604030504040204" pitchFamily="34" charset="0"/>
              </a:rPr>
              <a:t>로 컴파일합니다</a:t>
            </a:r>
            <a:r>
              <a:rPr lang="en-US" altLang="ko-KR" sz="2000" dirty="0">
                <a:latin typeface="MS Reference Sans Serif" panose="020B0604030504040204" pitchFamily="34" charset="0"/>
              </a:rPr>
              <a:t>.</a:t>
            </a:r>
          </a:p>
          <a:p>
            <a:r>
              <a:rPr lang="ko-KR" altLang="en-US" sz="2000" dirty="0">
                <a:latin typeface="MS Reference Sans Serif" panose="020B0604030504040204" pitchFamily="34" charset="0"/>
              </a:rPr>
              <a:t>성능은 빠르지만</a:t>
            </a:r>
            <a:r>
              <a:rPr lang="en-US" altLang="ko-KR" sz="2000" dirty="0">
                <a:latin typeface="MS Reference Sans Serif" panose="020B0604030504040204" pitchFamily="34" charset="0"/>
              </a:rPr>
              <a:t>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>
                <a:latin typeface="MS Reference Sans Serif" panose="020B0604030504040204" pitchFamily="34" charset="0"/>
              </a:rPr>
              <a:t>빌드 시간이 길어지고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>
                <a:latin typeface="MS Reference Sans Serif" panose="020B0604030504040204" pitchFamily="34" charset="0"/>
              </a:rPr>
              <a:t>파일 크기가 커질 수 있으며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>
                <a:latin typeface="MS Reference Sans Serif" panose="020B0604030504040204" pitchFamily="34" charset="0"/>
              </a:rPr>
              <a:t>일부 동적 기능</a:t>
            </a:r>
            <a:r>
              <a:rPr lang="en-US" altLang="ko-KR" dirty="0">
                <a:latin typeface="MS Reference Sans Serif" panose="020B0604030504040204" pitchFamily="34" charset="0"/>
              </a:rPr>
              <a:t>(reflection </a:t>
            </a:r>
            <a:r>
              <a:rPr lang="ko-KR" altLang="en-US" dirty="0">
                <a:latin typeface="MS Reference Sans Serif" panose="020B0604030504040204" pitchFamily="34" charset="0"/>
              </a:rPr>
              <a:t>등</a:t>
            </a:r>
            <a:r>
              <a:rPr lang="en-US" altLang="ko-KR" dirty="0">
                <a:latin typeface="MS Reference Sans Serif" panose="020B0604030504040204" pitchFamily="34" charset="0"/>
              </a:rPr>
              <a:t>)</a:t>
            </a:r>
            <a:r>
              <a:rPr lang="ko-KR" altLang="en-US" dirty="0">
                <a:latin typeface="MS Reference Sans Serif" panose="020B0604030504040204" pitchFamily="34" charset="0"/>
              </a:rPr>
              <a:t>이 제한됩니다</a:t>
            </a:r>
            <a:r>
              <a:rPr lang="en-US" altLang="ko-KR" sz="2000" dirty="0">
                <a:latin typeface="MS Reference Sans Serif" panose="020B0604030504040204" pitchFamily="34" charset="0"/>
              </a:rPr>
              <a:t>.</a:t>
            </a:r>
          </a:p>
          <a:p>
            <a:r>
              <a:rPr lang="ko-KR" altLang="en-US" sz="2000" dirty="0">
                <a:latin typeface="MS Reference Sans Serif" panose="020B0604030504040204" pitchFamily="34" charset="0"/>
              </a:rPr>
              <a:t>일반적인 콘솔 앱 개발 초기에는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체크하지 않아도 됩니다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.</a:t>
            </a:r>
            <a:endParaRPr lang="ko-KR" altLang="en-US" sz="2000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07E66B1-E782-474C-5E41-D84D15C643B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198C2BC-59B4-8019-AA2D-95EE925393B5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2C8CBCB-57B5-ECA9-8ECF-59049C77BC37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ArraySample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1A8F305-CB03-4C0F-7461-915754650FF9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0779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171F0-4701-1B51-1EDF-AAEA56BC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배열이란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7E1D9-9CCB-B294-62CA-7322A4663284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b="1" dirty="0">
                <a:latin typeface="MS Reference Sans Serif" panose="020B0604030504040204" pitchFamily="34" charset="0"/>
              </a:rPr>
              <a:t>전역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using /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빌드 설정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07E66B1-E782-474C-5E41-D84D15C643B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198C2BC-59B4-8019-AA2D-95EE925393B5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2C8CBCB-57B5-ECA9-8ECF-59049C77BC37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ArraySample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1A8F305-CB03-4C0F-7461-915754650FF9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FADDA4A-9F0A-7D06-4125-6C9500854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7" y="2307907"/>
            <a:ext cx="8312727" cy="365645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2D131D1-06AF-3503-CC15-EE0307F42328}"/>
              </a:ext>
            </a:extLst>
          </p:cNvPr>
          <p:cNvSpPr/>
          <p:nvPr/>
        </p:nvSpPr>
        <p:spPr>
          <a:xfrm>
            <a:off x="7290816" y="5522976"/>
            <a:ext cx="1437547" cy="6217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9BFA07-A1EE-A0C2-14AD-5BA9C8E981E2}"/>
              </a:ext>
            </a:extLst>
          </p:cNvPr>
          <p:cNvSpPr/>
          <p:nvPr/>
        </p:nvSpPr>
        <p:spPr>
          <a:xfrm>
            <a:off x="1560576" y="3006086"/>
            <a:ext cx="2645664" cy="5905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223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171F0-4701-1B51-1EDF-AAEA56BC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배열이란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7E1D9-9CCB-B294-62CA-7322A4663284}"/>
              </a:ext>
            </a:extLst>
          </p:cNvPr>
          <p:cNvSpPr txBox="1"/>
          <p:nvPr/>
        </p:nvSpPr>
        <p:spPr>
          <a:xfrm>
            <a:off x="224290" y="1526876"/>
            <a:ext cx="8842076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MS Reference Sans Serif" panose="020B0604030504040204" pitchFamily="34" charset="0"/>
              </a:rPr>
              <a:t>“솔루션 탐색기” → 프로젝트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(</a:t>
            </a:r>
            <a:r>
              <a:rPr lang="en-US" altLang="ko-KR" sz="2000" b="1" dirty="0" err="1">
                <a:latin typeface="MS Reference Sans Serif" panose="020B0604030504040204" pitchFamily="34" charset="0"/>
              </a:rPr>
              <a:t>ArraySample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) →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마우스 오른쪽 클릭 → “속성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(R)”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선택</a:t>
            </a:r>
            <a:r>
              <a:rPr lang="ko-KR" altLang="en-US" sz="2000" dirty="0">
                <a:latin typeface="MS Reference Sans Serif" panose="020B0604030504040204" pitchFamily="34" charset="0"/>
              </a:rPr>
              <a:t> </a:t>
            </a:r>
            <a:endParaRPr lang="en-US" altLang="ko-KR" sz="2000" dirty="0">
              <a:latin typeface="MS Reference Sans Serif" panose="020B0604030504040204" pitchFamily="34" charset="0"/>
            </a:endParaRPr>
          </a:p>
          <a:p>
            <a:pPr marL="342900" indent="-342900">
              <a:buFont typeface="MS Reference Sans Serif" panose="020B0604030504040204" pitchFamily="34" charset="0"/>
              <a:buChar char="∧"/>
            </a:pPr>
            <a:r>
              <a:rPr lang="ko-KR" altLang="en-US" b="1" dirty="0">
                <a:latin typeface="MS Reference Sans Serif" panose="020B0604030504040204" pitchFamily="34" charset="0"/>
              </a:rPr>
              <a:t>전역 </a:t>
            </a:r>
            <a:r>
              <a:rPr lang="en-US" altLang="ko-KR" b="1" dirty="0">
                <a:latin typeface="MS Reference Sans Serif" panose="020B0604030504040204" pitchFamily="34" charset="0"/>
              </a:rPr>
              <a:t>using (Global Using)</a:t>
            </a:r>
          </a:p>
          <a:p>
            <a:pPr marL="342900" indent="-342900">
              <a:buFont typeface="MS Reference Sans Serif" panose="020B0604030504040204" pitchFamily="34" charset="0"/>
              <a:buChar char="∧"/>
            </a:pPr>
            <a:r>
              <a:rPr lang="en-US" altLang="ko-KR" dirty="0">
                <a:latin typeface="MS Reference Sans Serif" panose="020B0604030504040204" pitchFamily="34" charset="0"/>
              </a:rPr>
              <a:t>C# 10</a:t>
            </a:r>
            <a:r>
              <a:rPr lang="ko-KR" altLang="en-US" dirty="0">
                <a:latin typeface="MS Reference Sans Serif" panose="020B0604030504040204" pitchFamily="34" charset="0"/>
              </a:rPr>
              <a:t>부터 도입된 기능입니다</a:t>
            </a:r>
            <a:r>
              <a:rPr lang="en-US" altLang="ko-KR" dirty="0">
                <a:latin typeface="MS Reference Sans Serif" panose="020B0604030504040204" pitchFamily="34" charset="0"/>
              </a:rPr>
              <a:t>.</a:t>
            </a:r>
            <a:br>
              <a:rPr lang="en-US" altLang="ko-KR" dirty="0">
                <a:latin typeface="MS Reference Sans Serif" panose="020B0604030504040204" pitchFamily="34" charset="0"/>
              </a:rPr>
            </a:br>
            <a:r>
              <a:rPr lang="ko-KR" altLang="en-US" dirty="0">
                <a:latin typeface="MS Reference Sans Serif" panose="020B0604030504040204" pitchFamily="34" charset="0"/>
              </a:rPr>
              <a:t>매 파일마다 </a:t>
            </a:r>
            <a:r>
              <a:rPr lang="en-US" altLang="ko-KR" sz="1400" dirty="0">
                <a:latin typeface="MS Reference Sans Serif" panose="020B0604030504040204" pitchFamily="34" charset="0"/>
              </a:rPr>
              <a:t>using System;</a:t>
            </a:r>
            <a:r>
              <a:rPr lang="en-US" altLang="ko-KR" dirty="0">
                <a:latin typeface="MS Reference Sans Serif" panose="020B0604030504040204" pitchFamily="34" charset="0"/>
              </a:rPr>
              <a:t>, </a:t>
            </a:r>
            <a:r>
              <a:rPr lang="en-US" altLang="ko-KR" sz="1400" dirty="0">
                <a:latin typeface="MS Reference Sans Serif" panose="020B0604030504040204" pitchFamily="34" charset="0"/>
              </a:rPr>
              <a:t>using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System.Collections.Generic</a:t>
            </a:r>
            <a:r>
              <a:rPr lang="en-US" altLang="ko-KR" sz="1400" dirty="0">
                <a:latin typeface="MS Reference Sans Serif" panose="020B0604030504040204" pitchFamily="34" charset="0"/>
              </a:rPr>
              <a:t>;</a:t>
            </a:r>
            <a:r>
              <a:rPr lang="ko-KR" altLang="en-US" dirty="0">
                <a:latin typeface="MS Reference Sans Serif" panose="020B0604030504040204" pitchFamily="34" charset="0"/>
              </a:rPr>
              <a:t> 등을 반복해서 쓰지 않기 위해</a:t>
            </a:r>
            <a:br>
              <a:rPr lang="ko-KR" altLang="en-US" dirty="0">
                <a:latin typeface="MS Reference Sans Serif" panose="020B0604030504040204" pitchFamily="34" charset="0"/>
              </a:rPr>
            </a:br>
            <a:r>
              <a:rPr lang="ko-KR" altLang="en-US" b="1" dirty="0">
                <a:latin typeface="MS Reference Sans Serif" panose="020B0604030504040204" pitchFamily="34" charset="0"/>
              </a:rPr>
              <a:t>프로젝트 전역에서 자동으로 공통 </a:t>
            </a:r>
            <a:r>
              <a:rPr lang="en-US" altLang="ko-KR" b="1" dirty="0">
                <a:latin typeface="MS Reference Sans Serif" panose="020B0604030504040204" pitchFamily="34" charset="0"/>
              </a:rPr>
              <a:t>using</a:t>
            </a:r>
            <a:r>
              <a:rPr lang="ko-KR" altLang="en-US" b="1" dirty="0">
                <a:latin typeface="MS Reference Sans Serif" panose="020B0604030504040204" pitchFamily="34" charset="0"/>
              </a:rPr>
              <a:t>을 적용</a:t>
            </a:r>
            <a:r>
              <a:rPr lang="ko-KR" altLang="en-US" dirty="0">
                <a:latin typeface="MS Reference Sans Serif" panose="020B0604030504040204" pitchFamily="34" charset="0"/>
              </a:rPr>
              <a:t>할 수 있습니다</a:t>
            </a:r>
            <a:r>
              <a:rPr lang="en-US" altLang="ko-KR" dirty="0">
                <a:latin typeface="MS Reference Sans Serif" panose="020B0604030504040204" pitchFamily="34" charset="0"/>
              </a:rPr>
              <a:t>.</a:t>
            </a:r>
          </a:p>
          <a:p>
            <a:pPr marL="342900" indent="-342900">
              <a:buFont typeface="MS Reference Sans Serif" panose="020B0604030504040204" pitchFamily="34" charset="0"/>
              <a:buChar char="∧"/>
            </a:pPr>
            <a:r>
              <a:rPr lang="ko-KR" altLang="en-US" b="1" dirty="0">
                <a:latin typeface="MS Reference Sans Serif" panose="020B0604030504040204" pitchFamily="34" charset="0"/>
              </a:rPr>
              <a:t>“암시적 전체 사용”</a:t>
            </a:r>
            <a:br>
              <a:rPr lang="ko-KR" altLang="en-US" dirty="0">
                <a:latin typeface="MS Reference Sans Serif" panose="020B0604030504040204" pitchFamily="34" charset="0"/>
              </a:rPr>
            </a:br>
            <a:r>
              <a:rPr lang="ko-KR" altLang="en-US" dirty="0">
                <a:latin typeface="MS Reference Sans Serif" panose="020B0604030504040204" pitchFamily="34" charset="0"/>
              </a:rPr>
              <a:t>→ 체크하면 </a:t>
            </a:r>
            <a:r>
              <a:rPr lang="en-US" altLang="ko-KR" dirty="0">
                <a:latin typeface="MS Reference Sans Serif" panose="020B0604030504040204" pitchFamily="34" charset="0"/>
              </a:rPr>
              <a:t>.NET SDK</a:t>
            </a:r>
            <a:r>
              <a:rPr lang="ko-KR" altLang="en-US" dirty="0">
                <a:latin typeface="MS Reference Sans Serif" panose="020B0604030504040204" pitchFamily="34" charset="0"/>
              </a:rPr>
              <a:t>가 제공하는 </a:t>
            </a:r>
            <a:r>
              <a:rPr lang="ko-KR" altLang="en-US" b="1" dirty="0">
                <a:latin typeface="MS Reference Sans Serif" panose="020B0604030504040204" pitchFamily="34" charset="0"/>
              </a:rPr>
              <a:t>기본 </a:t>
            </a:r>
            <a:r>
              <a:rPr lang="en-US" altLang="ko-KR" b="1" dirty="0">
                <a:latin typeface="MS Reference Sans Serif" panose="020B0604030504040204" pitchFamily="34" charset="0"/>
              </a:rPr>
              <a:t>using </a:t>
            </a:r>
            <a:r>
              <a:rPr lang="ko-KR" altLang="en-US" b="1" dirty="0">
                <a:latin typeface="MS Reference Sans Serif" panose="020B0604030504040204" pitchFamily="34" charset="0"/>
              </a:rPr>
              <a:t>문을 자동으로 추가</a:t>
            </a:r>
            <a:r>
              <a:rPr lang="ko-KR" altLang="en-US" dirty="0">
                <a:latin typeface="MS Reference Sans Serif" panose="020B0604030504040204" pitchFamily="34" charset="0"/>
              </a:rPr>
              <a:t>합니다</a:t>
            </a:r>
            <a:r>
              <a:rPr lang="en-US" altLang="ko-KR" dirty="0">
                <a:latin typeface="MS Reference Sans Serif" panose="020B0604030504040204" pitchFamily="34" charset="0"/>
              </a:rPr>
              <a:t>.</a:t>
            </a:r>
            <a:br>
              <a:rPr lang="en-US" altLang="ko-KR" dirty="0">
                <a:latin typeface="MS Reference Sans Serif" panose="020B0604030504040204" pitchFamily="34" charset="0"/>
              </a:rPr>
            </a:br>
            <a:r>
              <a:rPr lang="ko-KR" altLang="en-US" sz="2000" dirty="0">
                <a:latin typeface="MS Reference Sans Serif" panose="020B0604030504040204" pitchFamily="34" charset="0"/>
              </a:rPr>
              <a:t>예</a:t>
            </a:r>
            <a:r>
              <a:rPr lang="en-US" altLang="ko-KR" sz="2000" dirty="0">
                <a:latin typeface="MS Reference Sans Serif" panose="020B0604030504040204" pitchFamily="34" charset="0"/>
              </a:rPr>
              <a:t>:</a:t>
            </a:r>
          </a:p>
          <a:p>
            <a:r>
              <a:rPr lang="en-US" altLang="ko-KR" sz="1400" dirty="0">
                <a:latin typeface="MS Reference Sans Serif" panose="020B0604030504040204" pitchFamily="34" charset="0"/>
              </a:rPr>
              <a:t>using System;</a:t>
            </a:r>
          </a:p>
          <a:p>
            <a:r>
              <a:rPr lang="en-US" altLang="ko-KR" sz="1400" dirty="0">
                <a:latin typeface="MS Reference Sans Serif" panose="020B0604030504040204" pitchFamily="34" charset="0"/>
              </a:rPr>
              <a:t>using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System.Collections.Generic</a:t>
            </a:r>
            <a:r>
              <a:rPr lang="en-US" altLang="ko-KR" sz="1400" dirty="0">
                <a:latin typeface="MS Reference Sans Serif" panose="020B0604030504040204" pitchFamily="34" charset="0"/>
              </a:rPr>
              <a:t>;</a:t>
            </a:r>
          </a:p>
          <a:p>
            <a:r>
              <a:rPr lang="en-US" altLang="ko-KR" sz="1400" dirty="0">
                <a:latin typeface="MS Reference Sans Serif" panose="020B0604030504040204" pitchFamily="34" charset="0"/>
              </a:rPr>
              <a:t>using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System.Linq</a:t>
            </a:r>
            <a:r>
              <a:rPr lang="en-US" altLang="ko-KR" sz="1400" dirty="0">
                <a:latin typeface="MS Reference Sans Serif" panose="020B0604030504040204" pitchFamily="34" charset="0"/>
              </a:rPr>
              <a:t>;</a:t>
            </a:r>
          </a:p>
          <a:p>
            <a:r>
              <a:rPr lang="en-US" altLang="ko-KR" sz="1400" dirty="0">
                <a:latin typeface="MS Reference Sans Serif" panose="020B0604030504040204" pitchFamily="34" charset="0"/>
              </a:rPr>
              <a:t>using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System.Threading.Tasks</a:t>
            </a:r>
            <a:r>
              <a:rPr lang="en-US" altLang="ko-KR" sz="1400" dirty="0">
                <a:latin typeface="MS Reference Sans Serif" panose="020B0604030504040204" pitchFamily="34" charset="0"/>
              </a:rPr>
              <a:t>;</a:t>
            </a:r>
          </a:p>
          <a:p>
            <a:r>
              <a:rPr lang="ko-KR" altLang="en-US" sz="2000" dirty="0">
                <a:latin typeface="MS Reference Sans Serif" panose="020B0604030504040204" pitchFamily="34" charset="0"/>
              </a:rPr>
              <a:t>이런 문들이 자동으로 포함되어 별도 선언이 필요 없습니다</a:t>
            </a:r>
            <a:r>
              <a:rPr lang="en-US" altLang="ko-KR" sz="2000" dirty="0">
                <a:latin typeface="MS Reference Sans Serif" panose="020B060403050404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MS Reference Sans Serif" panose="020B0604030504040204" pitchFamily="34" charset="0"/>
              </a:rPr>
              <a:t>권장 설정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:</a:t>
            </a:r>
            <a:r>
              <a:rPr lang="ko-KR" altLang="en-US" sz="2000" dirty="0">
                <a:latin typeface="MS Reference Sans Serif" panose="020B0604030504040204" pitchFamily="34" charset="0"/>
              </a:rPr>
              <a:t> 켜두는 것이 편리합니다 </a:t>
            </a:r>
            <a:r>
              <a:rPr lang="en-US" altLang="ko-KR" sz="2000" dirty="0">
                <a:latin typeface="MS Reference Sans Serif" panose="020B0604030504040204" pitchFamily="34" charset="0"/>
              </a:rPr>
              <a:t>(</a:t>
            </a:r>
            <a:r>
              <a:rPr lang="ko-KR" altLang="en-US" sz="2000" dirty="0">
                <a:latin typeface="MS Reference Sans Serif" panose="020B0604030504040204" pitchFamily="34" charset="0"/>
              </a:rPr>
              <a:t>기본값은 </a:t>
            </a:r>
            <a:r>
              <a:rPr lang="ko-KR" altLang="en-US" sz="2000" dirty="0" err="1">
                <a:latin typeface="MS Reference Sans Serif" panose="020B0604030504040204" pitchFamily="34" charset="0"/>
              </a:rPr>
              <a:t>켜짐</a:t>
            </a:r>
            <a:r>
              <a:rPr lang="en-US" altLang="ko-KR" sz="2000" dirty="0">
                <a:latin typeface="MS Reference Sans Serif" panose="020B0604030504040204" pitchFamily="34" charset="0"/>
              </a:rPr>
              <a:t>).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MS Reference Sans Serif" panose="020B0604030504040204" pitchFamily="34" charset="0"/>
              </a:rPr>
              <a:t>교육용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,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구조적 코드 작성용</a:t>
            </a:r>
            <a:r>
              <a:rPr lang="ko-KR" altLang="en-US" sz="2000" dirty="0">
                <a:latin typeface="MS Reference Sans Serif" panose="020B0604030504040204" pitchFamily="34" charset="0"/>
              </a:rPr>
              <a:t>이라면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“암시적 전체 사용” </a:t>
            </a:r>
            <a:r>
              <a:rPr lang="ko-KR" altLang="en-US" sz="2000" dirty="0">
                <a:latin typeface="MS Reference Sans Serif" panose="020B0604030504040204" pitchFamily="34" charset="0"/>
              </a:rPr>
              <a:t>을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체크하지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않는 것이 좋습니다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.</a:t>
            </a:r>
            <a:endParaRPr lang="ko-KR" altLang="en-US" sz="20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07E66B1-E782-474C-5E41-D84D15C643B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198C2BC-59B4-8019-AA2D-95EE925393B5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2C8CBCB-57B5-ECA9-8ECF-59049C77BC37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ArraySample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1A8F305-CB03-4C0F-7461-915754650FF9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2713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171F0-4701-1B51-1EDF-AAEA56BC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배열이란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7E1D9-9CCB-B294-62CA-7322A4663284}"/>
              </a:ext>
            </a:extLst>
          </p:cNvPr>
          <p:cNvSpPr txBox="1"/>
          <p:nvPr/>
        </p:nvSpPr>
        <p:spPr>
          <a:xfrm>
            <a:off x="224290" y="1526876"/>
            <a:ext cx="8842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b="1" dirty="0" err="1"/>
              <a:t>Program.cs</a:t>
            </a:r>
            <a:r>
              <a:rPr lang="ko-KR" altLang="en-US" sz="2400" b="1" dirty="0"/>
              <a:t>를 </a:t>
            </a:r>
            <a:r>
              <a:rPr lang="en-US" altLang="ko-KR" sz="2400" b="1" dirty="0" err="1"/>
              <a:t>MainApp.cs</a:t>
            </a:r>
            <a:r>
              <a:rPr lang="ko-KR" altLang="en-US" sz="2400" b="1" dirty="0"/>
              <a:t>로 이름을 변경합니다</a:t>
            </a:r>
            <a:r>
              <a:rPr lang="en-US" altLang="ko-KR" sz="2400" b="1" dirty="0"/>
              <a:t>.</a:t>
            </a:r>
            <a:endParaRPr lang="en-US" altLang="ko-KR" sz="24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ko-KR" altLang="en-US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07E66B1-E782-474C-5E41-D84D15C643B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198C2BC-59B4-8019-AA2D-95EE925393B5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2C8CBCB-57B5-ECA9-8ECF-59049C77BC37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ArraySample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1A8F305-CB03-4C0F-7461-915754650FF9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B7D30644-AB30-A7B0-32EA-F90A9FA90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7" y="2448763"/>
            <a:ext cx="8312727" cy="196047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655614B-C8C8-94FF-D348-5173285C0416}"/>
              </a:ext>
            </a:extLst>
          </p:cNvPr>
          <p:cNvSpPr/>
          <p:nvPr/>
        </p:nvSpPr>
        <p:spPr>
          <a:xfrm>
            <a:off x="7205472" y="3145536"/>
            <a:ext cx="1267968" cy="609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251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171F0-4701-1B51-1EDF-AAEA56BC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배열이란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7E1D9-9CCB-B294-62CA-7322A4663284}"/>
              </a:ext>
            </a:extLst>
          </p:cNvPr>
          <p:cNvSpPr txBox="1"/>
          <p:nvPr/>
        </p:nvSpPr>
        <p:spPr>
          <a:xfrm>
            <a:off x="224290" y="1526876"/>
            <a:ext cx="884207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ArraySample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int[] scores = new int[5];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scores[0] = 80;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scores[1] = 74;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scores[2] = 81;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scores[3] = 90;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scores[4] = 34;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foreach (int score in scores)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(score);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int sum = 0;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foreach (int score in scores)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sum += score;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int average = sum /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scores.Length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($"Average Score : {average}");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07E66B1-E782-474C-5E41-D84D15C643B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198C2BC-59B4-8019-AA2D-95EE925393B5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2C8CBCB-57B5-ECA9-8ECF-59049C77BC37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ArraySample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1A8F305-CB03-4C0F-7461-915754650FF9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7523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171F0-4701-1B51-1EDF-AAEA56BC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배열이란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7E1D9-9CCB-B294-62CA-7322A4663284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b="1" dirty="0">
                <a:latin typeface="MS Reference Sans Serif" panose="020B0604030504040204" pitchFamily="34" charset="0"/>
              </a:rPr>
              <a:t>솔루션 탐색기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&gt;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파일 탐색기에서 폴더 열기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07E66B1-E782-474C-5E41-D84D15C643B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198C2BC-59B4-8019-AA2D-95EE925393B5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2C8CBCB-57B5-ECA9-8ECF-59049C77BC37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ArraySample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1A8F305-CB03-4C0F-7461-915754650FF9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ED7A9683-2B58-A7B9-C3BC-D7371CEB5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7" y="2357873"/>
            <a:ext cx="8312727" cy="36194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222CFB1-A488-A284-FC40-9D0F20B93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65" y="4317554"/>
            <a:ext cx="6620799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565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171F0-4701-1B51-1EDF-AAEA56BC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배열이란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7E1D9-9CCB-B294-62CA-7322A4663284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400" b="1" dirty="0">
                <a:latin typeface="MS Reference Sans Serif" panose="020B0604030504040204" pitchFamily="34" charset="0"/>
              </a:rPr>
              <a:t>C:\DEV\10\ArraySample\bin\Debug\net8.0</a:t>
            </a:r>
            <a:endParaRPr lang="ko-KR" altLang="en-US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07E66B1-E782-474C-5E41-D84D15C643B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198C2BC-59B4-8019-AA2D-95EE925393B5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2C8CBCB-57B5-ECA9-8ECF-59049C77BC37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ArraySample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1A8F305-CB03-4C0F-7461-915754650FF9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3E2E7CE1-0503-27C4-BEA2-1632A19CA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26" y="2344745"/>
            <a:ext cx="5772956" cy="170521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AC7B39C-92D3-2003-6552-33B08F34C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14" y="4168912"/>
            <a:ext cx="6230219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03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171F0-4701-1B51-1EDF-AAEA56BC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배열이란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7E1D9-9CCB-B294-62CA-7322A4663284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>
                <a:latin typeface="MS Reference Sans Serif" panose="020B0604030504040204" pitchFamily="34" charset="0"/>
              </a:rPr>
              <a:t>새 프로젝트 구성</a:t>
            </a:r>
            <a:endParaRPr lang="ko-KR" altLang="en-US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07E66B1-E782-474C-5E41-D84D15C643B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198C2BC-59B4-8019-AA2D-95EE925393B5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2C8CBCB-57B5-ECA9-8ECF-59049C77BC37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ArraySample2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1A8F305-CB03-4C0F-7461-915754650FF9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8843EAC9-02F2-4F7D-283E-264A8ABF1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2" y="2219885"/>
            <a:ext cx="5677705" cy="371058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29F1395-7EC1-1C76-D46C-93481A48F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729" y="2815956"/>
            <a:ext cx="4205637" cy="157341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C358026-ED69-8976-7583-2503C95138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7501" y="4608890"/>
            <a:ext cx="4788865" cy="144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200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171F0-4701-1B51-1EDF-AAEA56BC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배열이란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7E1D9-9CCB-B294-62CA-7322A4663284}"/>
              </a:ext>
            </a:extLst>
          </p:cNvPr>
          <p:cNvSpPr txBox="1"/>
          <p:nvPr/>
        </p:nvSpPr>
        <p:spPr>
          <a:xfrm>
            <a:off x="258792" y="1549765"/>
            <a:ext cx="884207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namespace ArraySample2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int[] scores = new int[5];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scores[0] = 80;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scores[1] = 74;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scores[2] = 81;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scores[^2] = 90;  // 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배열의 마지막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-1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scores[^1] = 34;  // 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배열의 마지막</a:t>
            </a:r>
          </a:p>
          <a:p>
            <a:endParaRPr lang="ko-KR" altLang="en-US" sz="1200" b="1" dirty="0">
              <a:latin typeface="MS Reference Sans Serif" panose="020B0604030504040204" pitchFamily="34" charset="0"/>
            </a:endParaRPr>
          </a:p>
          <a:p>
            <a:r>
              <a:rPr lang="ko-KR" altLang="en-US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foreach (int score in scores)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(score);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int sum = 0;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foreach (int score in scores)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sum += score;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int average = sum /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scores.Length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($"Average Score : {average}");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07E66B1-E782-474C-5E41-D84D15C643B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198C2BC-59B4-8019-AA2D-95EE925393B5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2C8CBCB-57B5-ECA9-8ECF-59049C77BC37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ArraySample2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1A8F305-CB03-4C0F-7461-915754650FF9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47BDAC8F-8201-C866-6899-07C86DC75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756" y="3324518"/>
            <a:ext cx="4058216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365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01AEF1E-9280-8F2C-F883-8E9E82FA7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3" y="85727"/>
            <a:ext cx="8110551" cy="638174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배열을 초기화하는 세 가지 방법</a:t>
            </a:r>
          </a:p>
        </p:txBody>
      </p:sp>
      <p:sp>
        <p:nvSpPr>
          <p:cNvPr id="6" name="Google Shape;100;p14">
            <a:extLst>
              <a:ext uri="{FF2B5EF4-FFF2-40B4-BE49-F238E27FC236}">
                <a16:creationId xmlns:a16="http://schemas.microsoft.com/office/drawing/2014/main" id="{4D78B6F0-7D80-4D66-A24E-64B032C561B3}"/>
              </a:ext>
            </a:extLst>
          </p:cNvPr>
          <p:cNvSpPr txBox="1">
            <a:spLocks/>
          </p:cNvSpPr>
          <p:nvPr/>
        </p:nvSpPr>
        <p:spPr>
          <a:xfrm>
            <a:off x="885826" y="1684631"/>
            <a:ext cx="7190555" cy="2104414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50"/>
              </a:spcBef>
              <a:buNone/>
            </a:pPr>
            <a:r>
              <a:rPr lang="ko-KR" altLang="en-US" sz="2700" b="1" dirty="0">
                <a:latin typeface="MS Reference Sans Serif" panose="020B0604030504040204" pitchFamily="34" charset="0"/>
                <a:cs typeface="Lora"/>
                <a:sym typeface="Lora"/>
              </a:rPr>
              <a:t>배열의 초기화 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8CF947-20B4-47A8-BC51-85938348D5E2}"/>
              </a:ext>
            </a:extLst>
          </p:cNvPr>
          <p:cNvSpPr/>
          <p:nvPr/>
        </p:nvSpPr>
        <p:spPr>
          <a:xfrm>
            <a:off x="1479155" y="2525323"/>
            <a:ext cx="3429002" cy="7155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57175" indent="-257175" algn="just">
              <a:buFont typeface="+mj-lt"/>
              <a:buAutoNum type="arabicPeriod"/>
            </a:pPr>
            <a:r>
              <a:rPr lang="ko-KR" altLang="en-US" sz="1350" dirty="0">
                <a:latin typeface="MS Reference Sans Serif" panose="020B0604030504040204" pitchFamily="34" charset="0"/>
              </a:rPr>
              <a:t>배열의 </a:t>
            </a:r>
            <a:r>
              <a:rPr lang="ko-KR" altLang="en-US" sz="1350" dirty="0">
                <a:highlight>
                  <a:srgbClr val="FFCD00"/>
                </a:highlight>
                <a:latin typeface="MS Reference Sans Serif" panose="020B0604030504040204" pitchFamily="34" charset="0"/>
              </a:rPr>
              <a:t>원소 개수를 명시</a:t>
            </a:r>
            <a:endParaRPr lang="en-US" altLang="ko-KR" sz="1350" dirty="0">
              <a:highlight>
                <a:srgbClr val="FFCD00"/>
              </a:highlight>
              <a:latin typeface="MS Reference Sans Serif" panose="020B0604030504040204" pitchFamily="34" charset="0"/>
            </a:endParaRPr>
          </a:p>
          <a:p>
            <a:pPr marL="257175" indent="-257175" algn="just">
              <a:buFont typeface="+mj-lt"/>
              <a:buAutoNum type="arabicPeriod"/>
            </a:pPr>
            <a:r>
              <a:rPr lang="ko-KR" altLang="en-US" sz="1350" dirty="0">
                <a:latin typeface="MS Reference Sans Serif" panose="020B0604030504040204" pitchFamily="34" charset="0"/>
              </a:rPr>
              <a:t>배열의 각 원소에 입력될 데이터를 입력 </a:t>
            </a:r>
            <a:r>
              <a:rPr lang="en-US" altLang="ko-KR" sz="1350" dirty="0">
                <a:latin typeface="MS Reference Sans Serif" panose="020B0604030504040204" pitchFamily="34" charset="0"/>
              </a:rPr>
              <a:t>{</a:t>
            </a:r>
            <a:r>
              <a:rPr lang="ko-KR" altLang="en-US" sz="1350" dirty="0">
                <a:latin typeface="MS Reference Sans Serif" panose="020B0604030504040204" pitchFamily="34" charset="0"/>
              </a:rPr>
              <a:t>와 </a:t>
            </a:r>
            <a:r>
              <a:rPr lang="en-US" altLang="ko-KR" sz="1350" dirty="0">
                <a:latin typeface="MS Reference Sans Serif" panose="020B0604030504040204" pitchFamily="34" charset="0"/>
              </a:rPr>
              <a:t>}</a:t>
            </a:r>
            <a:r>
              <a:rPr lang="ko-KR" altLang="en-US" sz="1350" dirty="0">
                <a:latin typeface="MS Reference Sans Serif" panose="020B0604030504040204" pitchFamily="34" charset="0"/>
              </a:rPr>
              <a:t>로 감싼 블록을 붙임</a:t>
            </a:r>
            <a:endParaRPr lang="ko-KR" altLang="en-US" sz="13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39E288-6987-4ED5-BA8C-B6A5ADD7954F}"/>
              </a:ext>
            </a:extLst>
          </p:cNvPr>
          <p:cNvSpPr/>
          <p:nvPr/>
        </p:nvSpPr>
        <p:spPr>
          <a:xfrm>
            <a:off x="4977829" y="2525323"/>
            <a:ext cx="3935936" cy="6924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2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string[] array1 = </a:t>
            </a:r>
          </a:p>
          <a:p>
            <a:r>
              <a:rPr lang="en-US" altLang="ko-KR" sz="12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new string</a:t>
            </a:r>
            <a:r>
              <a:rPr lang="en-US" altLang="ko-KR" sz="120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[3</a:t>
            </a:r>
            <a:r>
              <a:rPr lang="en-US" altLang="ko-KR" sz="12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]</a:t>
            </a:r>
            <a:r>
              <a:rPr lang="en-US" altLang="ko-KR" sz="120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{ "</a:t>
            </a:r>
            <a:r>
              <a:rPr lang="ko-KR" altLang="en-US" sz="120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안녕</a:t>
            </a:r>
            <a:r>
              <a:rPr lang="en-US" altLang="ko-KR" sz="120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", "Hello", "Halo" }</a:t>
            </a:r>
            <a:r>
              <a:rPr lang="en-US" altLang="ko-KR" sz="12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;</a:t>
            </a:r>
            <a:endParaRPr lang="ko-KR" altLang="en-US" sz="120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51C182-79DB-42FD-B3E1-EE7272282171}"/>
              </a:ext>
            </a:extLst>
          </p:cNvPr>
          <p:cNvSpPr/>
          <p:nvPr/>
        </p:nvSpPr>
        <p:spPr>
          <a:xfrm>
            <a:off x="1479155" y="3326707"/>
            <a:ext cx="3429002" cy="6924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257175" indent="-257175" algn="just">
              <a:buFont typeface="+mj-lt"/>
              <a:buAutoNum type="arabicPeriod"/>
            </a:pPr>
            <a:r>
              <a:rPr lang="ko-KR" altLang="en-US" sz="1350" dirty="0">
                <a:latin typeface="MS Reference Sans Serif" panose="020B0604030504040204" pitchFamily="34" charset="0"/>
              </a:rPr>
              <a:t>배열의 </a:t>
            </a:r>
            <a:r>
              <a:rPr lang="ko-KR" altLang="en-US" sz="1350" dirty="0">
                <a:highlight>
                  <a:srgbClr val="FFCD00"/>
                </a:highlight>
                <a:latin typeface="MS Reference Sans Serif" panose="020B0604030504040204" pitchFamily="34" charset="0"/>
              </a:rPr>
              <a:t>요소 개수 생략</a:t>
            </a:r>
            <a:endParaRPr lang="en-US" altLang="ko-KR" sz="1350" dirty="0">
              <a:highlight>
                <a:srgbClr val="FFCD00"/>
              </a:highlight>
              <a:latin typeface="MS Reference Sans Serif" panose="020B0604030504040204" pitchFamily="34" charset="0"/>
            </a:endParaRPr>
          </a:p>
          <a:p>
            <a:pPr marL="257175" indent="-257175" algn="just">
              <a:buFont typeface="+mj-lt"/>
              <a:buAutoNum type="arabicPeriod"/>
            </a:pPr>
            <a:r>
              <a:rPr lang="ko-KR" altLang="en-US" sz="1350" dirty="0">
                <a:latin typeface="MS Reference Sans Serif" panose="020B0604030504040204" pitchFamily="34" charset="0"/>
              </a:rPr>
              <a:t>배열의 각 원소에 입력될 데이터를 입력 </a:t>
            </a:r>
            <a:r>
              <a:rPr lang="en-US" altLang="ko-KR" sz="1350" dirty="0">
                <a:latin typeface="MS Reference Sans Serif" panose="020B0604030504040204" pitchFamily="34" charset="0"/>
              </a:rPr>
              <a:t>{</a:t>
            </a:r>
            <a:r>
              <a:rPr lang="ko-KR" altLang="en-US" sz="1350" dirty="0">
                <a:latin typeface="MS Reference Sans Serif" panose="020B0604030504040204" pitchFamily="34" charset="0"/>
              </a:rPr>
              <a:t>와 </a:t>
            </a:r>
            <a:r>
              <a:rPr lang="en-US" altLang="ko-KR" sz="1350" dirty="0">
                <a:latin typeface="MS Reference Sans Serif" panose="020B0604030504040204" pitchFamily="34" charset="0"/>
              </a:rPr>
              <a:t>}</a:t>
            </a:r>
            <a:r>
              <a:rPr lang="ko-KR" altLang="en-US" sz="1350" dirty="0">
                <a:latin typeface="MS Reference Sans Serif" panose="020B0604030504040204" pitchFamily="34" charset="0"/>
              </a:rPr>
              <a:t>로 감싼 블록을 붙임</a:t>
            </a:r>
            <a:endParaRPr lang="ko-KR" altLang="en-US" sz="13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8857AC-82CA-49B8-A277-9619F4687687}"/>
              </a:ext>
            </a:extLst>
          </p:cNvPr>
          <p:cNvSpPr/>
          <p:nvPr/>
        </p:nvSpPr>
        <p:spPr>
          <a:xfrm>
            <a:off x="4977829" y="3326707"/>
            <a:ext cx="3935936" cy="6924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2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string[] array2 = </a:t>
            </a:r>
          </a:p>
          <a:p>
            <a:r>
              <a:rPr lang="en-US" altLang="ko-KR" sz="12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new string</a:t>
            </a:r>
            <a:r>
              <a:rPr lang="en-US" altLang="ko-KR" sz="120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[]</a:t>
            </a:r>
            <a:r>
              <a:rPr lang="en-US" altLang="ko-KR" sz="12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ko-KR" sz="120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{ "</a:t>
            </a:r>
            <a:r>
              <a:rPr lang="ko-KR" altLang="en-US" sz="120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안녕</a:t>
            </a:r>
            <a:r>
              <a:rPr lang="en-US" altLang="ko-KR" sz="120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", "Hello", "Halo" }</a:t>
            </a:r>
            <a:r>
              <a:rPr lang="en-US" altLang="ko-KR" sz="12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;</a:t>
            </a:r>
            <a:endParaRPr lang="ko-KR" altLang="en-US" sz="1200" dirty="0">
              <a:highlight>
                <a:srgbClr val="FFCD00"/>
              </a:highlight>
              <a:latin typeface="MS Reference Sans Serif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F39B5D0-341B-4861-8F26-29444FC72AD9}"/>
              </a:ext>
            </a:extLst>
          </p:cNvPr>
          <p:cNvSpPr/>
          <p:nvPr/>
        </p:nvSpPr>
        <p:spPr>
          <a:xfrm>
            <a:off x="1479155" y="4123429"/>
            <a:ext cx="3429002" cy="8717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257175" indent="-257175" algn="just">
              <a:buFont typeface="+mj-lt"/>
              <a:buAutoNum type="arabicPeriod"/>
            </a:pPr>
            <a:r>
              <a:rPr lang="en-US" altLang="ko-KR" sz="1350" dirty="0">
                <a:highlight>
                  <a:srgbClr val="FFCD00"/>
                </a:highlight>
                <a:latin typeface="MS Reference Sans Serif" panose="020B0604030504040204" pitchFamily="34" charset="0"/>
              </a:rPr>
              <a:t>new </a:t>
            </a:r>
            <a:r>
              <a:rPr lang="ko-KR" altLang="en-US" sz="1350" dirty="0">
                <a:highlight>
                  <a:srgbClr val="FFCD00"/>
                </a:highlight>
                <a:latin typeface="MS Reference Sans Serif" panose="020B0604030504040204" pitchFamily="34" charset="0"/>
              </a:rPr>
              <a:t>연산자</a:t>
            </a:r>
            <a:r>
              <a:rPr lang="en-US" altLang="ko-KR" sz="1350" dirty="0">
                <a:highlight>
                  <a:srgbClr val="FFCD00"/>
                </a:highlight>
                <a:latin typeface="MS Reference Sans Serif" panose="020B0604030504040204" pitchFamily="34" charset="0"/>
              </a:rPr>
              <a:t>, </a:t>
            </a:r>
            <a:r>
              <a:rPr lang="ko-KR" altLang="en-US" sz="1350" dirty="0">
                <a:highlight>
                  <a:srgbClr val="FFCD00"/>
                </a:highlight>
                <a:latin typeface="MS Reference Sans Serif" panose="020B0604030504040204" pitchFamily="34" charset="0"/>
              </a:rPr>
              <a:t>형식과 괄호 </a:t>
            </a:r>
            <a:r>
              <a:rPr lang="en-US" altLang="ko-KR" sz="1350" dirty="0">
                <a:highlight>
                  <a:srgbClr val="FFCD00"/>
                </a:highlight>
                <a:latin typeface="MS Reference Sans Serif" panose="020B0604030504040204" pitchFamily="34" charset="0"/>
              </a:rPr>
              <a:t>[</a:t>
            </a:r>
            <a:r>
              <a:rPr lang="ko-KR" altLang="en-US" sz="1350" dirty="0">
                <a:highlight>
                  <a:srgbClr val="FFCD00"/>
                </a:highlight>
                <a:latin typeface="MS Reference Sans Serif" panose="020B0604030504040204" pitchFamily="34" charset="0"/>
              </a:rPr>
              <a:t>와 </a:t>
            </a:r>
            <a:r>
              <a:rPr lang="en-US" altLang="ko-KR" sz="1350" dirty="0">
                <a:highlight>
                  <a:srgbClr val="FFCD00"/>
                </a:highlight>
                <a:latin typeface="MS Reference Sans Serif" panose="020B0604030504040204" pitchFamily="34" charset="0"/>
              </a:rPr>
              <a:t>], </a:t>
            </a:r>
            <a:r>
              <a:rPr lang="ko-KR" altLang="en-US" sz="1350" dirty="0">
                <a:highlight>
                  <a:srgbClr val="FFCD00"/>
                </a:highlight>
                <a:latin typeface="MS Reference Sans Serif" panose="020B0604030504040204" pitchFamily="34" charset="0"/>
              </a:rPr>
              <a:t>배열의 용량을 모두 생략</a:t>
            </a:r>
            <a:endParaRPr lang="en-US" altLang="ko-KR" sz="1350" dirty="0">
              <a:highlight>
                <a:srgbClr val="FFCD00"/>
              </a:highlight>
              <a:latin typeface="MS Reference Sans Serif" panose="020B0604030504040204" pitchFamily="34" charset="0"/>
            </a:endParaRPr>
          </a:p>
          <a:p>
            <a:pPr marL="257175" indent="-257175" algn="just">
              <a:buFont typeface="+mj-lt"/>
              <a:buAutoNum type="arabicPeriod"/>
            </a:pPr>
            <a:r>
              <a:rPr lang="ko-KR" altLang="en-US" sz="1350" dirty="0">
                <a:latin typeface="MS Reference Sans Serif" panose="020B0604030504040204" pitchFamily="34" charset="0"/>
              </a:rPr>
              <a:t>배열의 각 원소에 입력될 데이터를 입력 </a:t>
            </a:r>
            <a:r>
              <a:rPr lang="en-US" altLang="ko-KR" sz="1350" dirty="0">
                <a:latin typeface="MS Reference Sans Serif" panose="020B0604030504040204" pitchFamily="34" charset="0"/>
              </a:rPr>
              <a:t>{</a:t>
            </a:r>
            <a:r>
              <a:rPr lang="ko-KR" altLang="en-US" sz="1350" dirty="0">
                <a:latin typeface="MS Reference Sans Serif" panose="020B0604030504040204" pitchFamily="34" charset="0"/>
              </a:rPr>
              <a:t>와 </a:t>
            </a:r>
            <a:r>
              <a:rPr lang="en-US" altLang="ko-KR" sz="1350" dirty="0">
                <a:latin typeface="MS Reference Sans Serif" panose="020B0604030504040204" pitchFamily="34" charset="0"/>
              </a:rPr>
              <a:t>}</a:t>
            </a:r>
            <a:r>
              <a:rPr lang="ko-KR" altLang="en-US" sz="1350" dirty="0">
                <a:latin typeface="MS Reference Sans Serif" panose="020B0604030504040204" pitchFamily="34" charset="0"/>
              </a:rPr>
              <a:t>로 감싼 블록을 붙임</a:t>
            </a:r>
            <a:endParaRPr lang="ko-KR" altLang="en-US" sz="13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122DC8-2C6C-4BEA-B3D6-B72C3513B04A}"/>
              </a:ext>
            </a:extLst>
          </p:cNvPr>
          <p:cNvSpPr/>
          <p:nvPr/>
        </p:nvSpPr>
        <p:spPr>
          <a:xfrm>
            <a:off x="4977829" y="4123429"/>
            <a:ext cx="3935936" cy="871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endParaRPr lang="ko-KR" altLang="en-US" sz="120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2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string[] array3 = </a:t>
            </a:r>
          </a:p>
          <a:p>
            <a:r>
              <a:rPr lang="en-US" altLang="ko-KR" sz="12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       </a:t>
            </a:r>
            <a:r>
              <a:rPr lang="en-US" altLang="ko-KR" sz="120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{ "</a:t>
            </a:r>
            <a:r>
              <a:rPr lang="ko-KR" altLang="en-US" sz="120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안녕</a:t>
            </a:r>
            <a:r>
              <a:rPr lang="en-US" altLang="ko-KR" sz="120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", "Hello", "Halo" }</a:t>
            </a:r>
            <a:r>
              <a:rPr lang="en-US" altLang="ko-KR" sz="12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;</a:t>
            </a:r>
            <a:endParaRPr lang="ko-KR" altLang="en-US" sz="120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8762458-ECCF-4BE5-A548-FB4B76FEC6CE}"/>
              </a:ext>
            </a:extLst>
          </p:cNvPr>
          <p:cNvSpPr/>
          <p:nvPr/>
        </p:nvSpPr>
        <p:spPr>
          <a:xfrm>
            <a:off x="382703" y="2525323"/>
            <a:ext cx="1026780" cy="692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latin typeface="MS Reference Sans Serif" panose="020B0604030504040204" pitchFamily="34" charset="0"/>
              </a:rPr>
              <a:t>기본</a:t>
            </a:r>
            <a:endParaRPr lang="en-US" altLang="ko-KR" sz="1200" dirty="0">
              <a:latin typeface="MS Reference Sans Serif" panose="020B060403050404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8CF85F9-B3D9-4820-8B30-0F1D6A837D58}"/>
              </a:ext>
            </a:extLst>
          </p:cNvPr>
          <p:cNvSpPr/>
          <p:nvPr/>
        </p:nvSpPr>
        <p:spPr>
          <a:xfrm>
            <a:off x="382703" y="3337064"/>
            <a:ext cx="1026780" cy="692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 err="1">
                <a:latin typeface="MS Reference Sans Serif" panose="020B0604030504040204" pitchFamily="34" charset="0"/>
              </a:rPr>
              <a:t>요소개수생략</a:t>
            </a:r>
            <a:endParaRPr lang="en-US" altLang="ko-KR" sz="1200" dirty="0">
              <a:latin typeface="MS Reference Sans Serif" panose="020B060403050404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5E8422C-3FCB-4EDA-A5BE-BAD36971538A}"/>
              </a:ext>
            </a:extLst>
          </p:cNvPr>
          <p:cNvSpPr/>
          <p:nvPr/>
        </p:nvSpPr>
        <p:spPr>
          <a:xfrm>
            <a:off x="382703" y="4123429"/>
            <a:ext cx="1026780" cy="8717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latin typeface="MS Reference Sans Serif" panose="020B0604030504040204" pitchFamily="34" charset="0"/>
              </a:rPr>
              <a:t>new </a:t>
            </a:r>
            <a:r>
              <a:rPr lang="ko-KR" altLang="en-US" sz="1200" dirty="0">
                <a:latin typeface="MS Reference Sans Serif" panose="020B0604030504040204" pitchFamily="34" charset="0"/>
              </a:rPr>
              <a:t>연산자</a:t>
            </a:r>
            <a:r>
              <a:rPr lang="en-US" altLang="ko-KR" sz="1200" dirty="0">
                <a:latin typeface="MS Reference Sans Serif" panose="020B0604030504040204" pitchFamily="34" charset="0"/>
              </a:rPr>
              <a:t>,</a:t>
            </a:r>
          </a:p>
          <a:p>
            <a:pPr algn="ctr"/>
            <a:r>
              <a:rPr lang="en-US" altLang="ko-KR" sz="1200" dirty="0">
                <a:latin typeface="MS Reference Sans Serif" panose="020B0604030504040204" pitchFamily="34" charset="0"/>
              </a:rPr>
              <a:t> </a:t>
            </a:r>
            <a:r>
              <a:rPr lang="ko-KR" altLang="en-US" sz="1200" dirty="0">
                <a:latin typeface="MS Reference Sans Serif" panose="020B0604030504040204" pitchFamily="34" charset="0"/>
              </a:rPr>
              <a:t>형식 </a:t>
            </a:r>
            <a:r>
              <a:rPr lang="en-US" altLang="ko-KR" sz="1200" dirty="0">
                <a:latin typeface="MS Reference Sans Serif" panose="020B0604030504040204" pitchFamily="34" charset="0"/>
              </a:rPr>
              <a:t>,</a:t>
            </a:r>
          </a:p>
          <a:p>
            <a:pPr algn="ctr"/>
            <a:r>
              <a:rPr lang="ko-KR" altLang="en-US" sz="1200" dirty="0">
                <a:latin typeface="MS Reference Sans Serif" panose="020B0604030504040204" pitchFamily="34" charset="0"/>
              </a:rPr>
              <a:t>요소개수</a:t>
            </a:r>
            <a:endParaRPr lang="en-US" altLang="ko-KR" sz="1200" dirty="0">
              <a:latin typeface="MS Reference Sans Serif" panose="020B0604030504040204" pitchFamily="34" charset="0"/>
            </a:endParaRPr>
          </a:p>
          <a:p>
            <a:pPr algn="ctr"/>
            <a:r>
              <a:rPr lang="ko-KR" altLang="en-US" sz="1200" dirty="0">
                <a:latin typeface="MS Reference Sans Serif" panose="020B0604030504040204" pitchFamily="34" charset="0"/>
              </a:rPr>
              <a:t>생략</a:t>
            </a:r>
            <a:endParaRPr lang="en-US" altLang="ko-KR" sz="1200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573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01AEF1E-9280-8F2C-F883-8E9E82FA7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3" y="85727"/>
            <a:ext cx="8110551" cy="638174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배열을 초기화하는 세 가지 방법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10A56-024C-6BFB-5B20-25407F556C4D}"/>
              </a:ext>
            </a:extLst>
          </p:cNvPr>
          <p:cNvSpPr txBox="1"/>
          <p:nvPr/>
        </p:nvSpPr>
        <p:spPr>
          <a:xfrm>
            <a:off x="224290" y="1526876"/>
            <a:ext cx="8842076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MS Reference Sans Serif" panose="020B0604030504040204" pitchFamily="34" charset="0"/>
              </a:rPr>
              <a:t>int[] numbers = new int[5];      // { 0, 0, 0, 0, 0 }</a:t>
            </a:r>
          </a:p>
          <a:p>
            <a:r>
              <a:rPr lang="en-US" altLang="ko-KR" b="1" dirty="0">
                <a:latin typeface="MS Reference Sans Serif" panose="020B0604030504040204" pitchFamily="34" charset="0"/>
              </a:rPr>
              <a:t>string[] names = new string[3];  // { null, null, null }</a:t>
            </a:r>
          </a:p>
          <a:p>
            <a:r>
              <a:rPr lang="en-US" altLang="ko-KR" b="1" dirty="0">
                <a:latin typeface="MS Reference Sans Serif" panose="020B0604030504040204" pitchFamily="34" charset="0"/>
              </a:rPr>
              <a:t>bool[] flags = new bool[4];      // { false, false, false, false }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ko-KR" altLang="en-US" sz="2400" b="1" dirty="0">
                <a:latin typeface="MS Reference Sans Serif" panose="020B0604030504040204" pitchFamily="34" charset="0"/>
              </a:rPr>
              <a:t>타입별 기본값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6674FD-7AD0-A3E7-E66E-5DBB26F0050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9627154-94E4-8184-1712-84F800B04CA5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C575BA1-293D-5D5F-D1A2-CEDB6BE48C00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기본값 초기화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5DB6F59-59B1-31F9-EC38-92D808C845F3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334F1A2-8459-DEA7-FED4-3F63DA424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04806"/>
              </p:ext>
            </p:extLst>
          </p:nvPr>
        </p:nvGraphicFramePr>
        <p:xfrm>
          <a:off x="376892" y="3842798"/>
          <a:ext cx="8536872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88127">
                  <a:extLst>
                    <a:ext uri="{9D8B030D-6E8A-4147-A177-3AD203B41FA5}">
                      <a16:colId xmlns:a16="http://schemas.microsoft.com/office/drawing/2014/main" val="2207729301"/>
                    </a:ext>
                  </a:extLst>
                </a:gridCol>
                <a:gridCol w="5548745">
                  <a:extLst>
                    <a:ext uri="{9D8B030D-6E8A-4147-A177-3AD203B41FA5}">
                      <a16:colId xmlns:a16="http://schemas.microsoft.com/office/drawing/2014/main" val="22128335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타입</a:t>
                      </a:r>
                      <a:endParaRPr lang="ko-KR" alt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기본값</a:t>
                      </a:r>
                      <a:endParaRPr lang="ko-KR" alt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231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int, long, short</a:t>
                      </a:r>
                      <a:endParaRPr lang="en-US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</a:t>
                      </a:r>
                      <a:endParaRPr lang="en-US" altLang="ko-KR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7778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float, double, decimal</a:t>
                      </a:r>
                      <a:endParaRPr lang="en-US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0.0</a:t>
                      </a:r>
                      <a:endParaRPr lang="en-US" altLang="ko-KR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8047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bool</a:t>
                      </a:r>
                      <a:endParaRPr lang="en-US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false</a:t>
                      </a:r>
                      <a:endParaRPr 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308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char</a:t>
                      </a:r>
                      <a:endParaRPr lang="en-US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'\0’ &gt; C#</a:t>
                      </a:r>
                      <a:r>
                        <a:rPr lang="ko-KR" altLang="en-US" dirty="0"/>
                        <a:t>에서 </a:t>
                      </a:r>
                      <a:r>
                        <a:rPr lang="en-US" altLang="ko-KR" dirty="0"/>
                        <a:t>char '\0'</a:t>
                      </a:r>
                      <a:r>
                        <a:rPr lang="ko-KR" altLang="en-US" dirty="0"/>
                        <a:t>은 널 문자</a:t>
                      </a:r>
                      <a:r>
                        <a:rPr lang="en-US" altLang="ko-KR" dirty="0"/>
                        <a:t>(null character) </a:t>
                      </a:r>
                      <a:r>
                        <a:rPr lang="ko-KR" altLang="en-US" dirty="0"/>
                        <a:t>를 의미</a:t>
                      </a:r>
                      <a:endParaRPr lang="en-US" altLang="ko-KR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1162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string, </a:t>
                      </a:r>
                      <a:r>
                        <a:rPr lang="ko-KR" altLang="en-US" dirty="0"/>
                        <a:t>배열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클래스</a:t>
                      </a:r>
                      <a:endParaRPr lang="ko-KR" alt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null</a:t>
                      </a:r>
                      <a:endParaRPr 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294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108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01AEF1E-9280-8F2C-F883-8E9E82FA7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3" y="85727"/>
            <a:ext cx="8110551" cy="638174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배열을 초기화하는 세 가지 방법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10A56-024C-6BFB-5B20-25407F556C4D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6674FD-7AD0-A3E7-E66E-5DBB26F0050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9627154-94E4-8184-1712-84F800B04CA5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C575BA1-293D-5D5F-D1A2-CEDB6BE48C00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InitializingArray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5DB6F59-59B1-31F9-EC38-92D808C845F3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1D7D5F55-4CBF-43BA-96FC-021B8CFAD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2" y="2149687"/>
            <a:ext cx="5677705" cy="368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0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01AEF1E-9280-8F2C-F883-8E9E82FA7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3" y="85727"/>
            <a:ext cx="8110551" cy="638174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배열을 초기화하는 세 가지 방법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10A56-024C-6BFB-5B20-25407F556C4D}"/>
              </a:ext>
            </a:extLst>
          </p:cNvPr>
          <p:cNvSpPr txBox="1"/>
          <p:nvPr/>
        </p:nvSpPr>
        <p:spPr>
          <a:xfrm>
            <a:off x="224290" y="1526876"/>
            <a:ext cx="884207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InitializingArray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u="sng" dirty="0">
                <a:latin typeface="MS Reference Sans Serif" panose="020B0604030504040204" pitchFamily="34" charset="0"/>
              </a:rPr>
              <a:t>string[] array1 = new string[3] { "</a:t>
            </a:r>
            <a:r>
              <a:rPr lang="ko-KR" altLang="en-US" sz="1200" b="1" u="sng" dirty="0">
                <a:latin typeface="MS Reference Sans Serif" panose="020B0604030504040204" pitchFamily="34" charset="0"/>
              </a:rPr>
              <a:t>안녕</a:t>
            </a:r>
            <a:r>
              <a:rPr lang="en-US" altLang="ko-KR" sz="1200" b="1" u="sng" dirty="0">
                <a:latin typeface="MS Reference Sans Serif" panose="020B0604030504040204" pitchFamily="34" charset="0"/>
              </a:rPr>
              <a:t>", "Hello", "Halo" };</a:t>
            </a:r>
          </a:p>
          <a:p>
            <a:endParaRPr lang="en-US" altLang="ko-KR" sz="1200" b="1" u="sng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("array1...");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foreach (string greeting in array1)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($" {greeting}");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u="sng" dirty="0">
                <a:latin typeface="MS Reference Sans Serif" panose="020B0604030504040204" pitchFamily="34" charset="0"/>
              </a:rPr>
              <a:t>string[] array2 = new string[] { "</a:t>
            </a:r>
            <a:r>
              <a:rPr lang="ko-KR" altLang="en-US" sz="1200" b="1" u="sng" dirty="0">
                <a:latin typeface="MS Reference Sans Serif" panose="020B0604030504040204" pitchFamily="34" charset="0"/>
              </a:rPr>
              <a:t>안녕</a:t>
            </a:r>
            <a:r>
              <a:rPr lang="en-US" altLang="ko-KR" sz="1200" b="1" u="sng" dirty="0">
                <a:latin typeface="MS Reference Sans Serif" panose="020B0604030504040204" pitchFamily="34" charset="0"/>
              </a:rPr>
              <a:t>", "Hello", "Halo" };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("\narray2...");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foreach (string greeting in array2)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($" {greeting}");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u="sng" dirty="0">
                <a:latin typeface="MS Reference Sans Serif" panose="020B0604030504040204" pitchFamily="34" charset="0"/>
              </a:rPr>
              <a:t>string[] array3 = { "</a:t>
            </a:r>
            <a:r>
              <a:rPr lang="ko-KR" altLang="en-US" sz="1200" b="1" u="sng" dirty="0">
                <a:latin typeface="MS Reference Sans Serif" panose="020B0604030504040204" pitchFamily="34" charset="0"/>
              </a:rPr>
              <a:t>안녕</a:t>
            </a:r>
            <a:r>
              <a:rPr lang="en-US" altLang="ko-KR" sz="1200" b="1" u="sng" dirty="0">
                <a:latin typeface="MS Reference Sans Serif" panose="020B0604030504040204" pitchFamily="34" charset="0"/>
              </a:rPr>
              <a:t>", "Hello", "Halo" };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("\narray3...");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foreach (string greeting in array3)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($" {greeting}");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6674FD-7AD0-A3E7-E66E-5DBB26F0050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9627154-94E4-8184-1712-84F800B04CA5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C575BA1-293D-5D5F-D1A2-CEDB6BE48C00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InitializingArray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5DB6F59-59B1-31F9-EC38-92D808C845F3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C32C69DC-C9E8-B6E9-D421-FD0A8D0FA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383" y="3867742"/>
            <a:ext cx="2534004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007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5F3A91A-8B78-2D59-B112-2230FD5D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" name="Google Shape;100;p14">
            <a:extLst>
              <a:ext uri="{FF2B5EF4-FFF2-40B4-BE49-F238E27FC236}">
                <a16:creationId xmlns:a16="http://schemas.microsoft.com/office/drawing/2014/main" id="{4D78B6F0-7D80-4D66-A24E-64B032C561B3}"/>
              </a:ext>
            </a:extLst>
          </p:cNvPr>
          <p:cNvSpPr txBox="1">
            <a:spLocks/>
          </p:cNvSpPr>
          <p:nvPr/>
        </p:nvSpPr>
        <p:spPr>
          <a:xfrm>
            <a:off x="189261" y="976733"/>
            <a:ext cx="7190555" cy="2104414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50"/>
              </a:spcBef>
              <a:buNone/>
            </a:pPr>
            <a:r>
              <a:rPr lang="en-US" altLang="ko-KR" b="1" dirty="0" err="1">
                <a:latin typeface="MS Reference Sans Serif" panose="020B0604030504040204" pitchFamily="34" charset="0"/>
                <a:ea typeface="+mj-ea"/>
                <a:cs typeface="Lora"/>
                <a:sym typeface="Lora"/>
              </a:rPr>
              <a:t>System.Array</a:t>
            </a:r>
            <a:r>
              <a:rPr lang="en-US" altLang="ko-KR" b="1" dirty="0">
                <a:latin typeface="MS Reference Sans Serif" panose="020B0604030504040204" pitchFamily="34" charset="0"/>
                <a:ea typeface="+mj-ea"/>
                <a:cs typeface="Lora"/>
                <a:sym typeface="Lora"/>
              </a:rPr>
              <a:t> </a:t>
            </a:r>
            <a:r>
              <a:rPr lang="ko-KR" altLang="en-US" b="1" dirty="0">
                <a:latin typeface="MS Reference Sans Serif" panose="020B0604030504040204" pitchFamily="34" charset="0"/>
                <a:ea typeface="+mj-ea"/>
                <a:cs typeface="Lora"/>
                <a:sym typeface="Lora"/>
              </a:rPr>
              <a:t>클래스</a:t>
            </a:r>
          </a:p>
          <a:p>
            <a:pPr marL="0" indent="0">
              <a:buNone/>
            </a:pPr>
            <a:endParaRPr lang="en-US" altLang="ko-KR" sz="2000" dirty="0">
              <a:solidFill>
                <a:schemeClr val="dk1"/>
              </a:solidFill>
              <a:latin typeface="MS Reference Sans Serif" panose="020B0604030504040204" pitchFamily="34" charset="0"/>
              <a:ea typeface="+mj-ea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MS Reference Sans Serif" panose="020B0604030504040204" pitchFamily="34" charset="0"/>
                <a:ea typeface="+mj-ea"/>
              </a:rPr>
              <a:t>모든 배열의 기반 클래스이며 </a:t>
            </a:r>
            <a:br>
              <a:rPr lang="en-US" altLang="ko-KR" sz="1400" dirty="0">
                <a:solidFill>
                  <a:srgbClr val="000000"/>
                </a:solidFill>
                <a:latin typeface="MS Reference Sans Serif" panose="020B0604030504040204" pitchFamily="34" charset="0"/>
                <a:ea typeface="+mj-ea"/>
              </a:rPr>
            </a:br>
            <a:r>
              <a:rPr lang="ko-KR" altLang="en-US" sz="140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  <a:ea typeface="+mj-ea"/>
              </a:rPr>
              <a:t>배열 그 자체</a:t>
            </a:r>
            <a:r>
              <a:rPr lang="ko-KR" altLang="en-US" sz="1400" dirty="0">
                <a:solidFill>
                  <a:srgbClr val="000000"/>
                </a:solidFill>
                <a:latin typeface="MS Reference Sans Serif" panose="020B0604030504040204" pitchFamily="34" charset="0"/>
                <a:ea typeface="+mj-ea"/>
              </a:rPr>
              <a:t>를 나타냄</a:t>
            </a:r>
            <a:r>
              <a:rPr lang="en-US" altLang="ko-KR" sz="1400" dirty="0">
                <a:solidFill>
                  <a:srgbClr val="000000"/>
                </a:solidFill>
                <a:latin typeface="MS Reference Sans Serif" panose="020B0604030504040204" pitchFamily="34" charset="0"/>
                <a:ea typeface="+mj-ea"/>
              </a:rPr>
              <a:t>.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MS Reference Sans Serif" panose="020B0604030504040204" pitchFamily="34" charset="0"/>
                <a:ea typeface="+mj-ea"/>
              </a:rPr>
              <a:t>배열을 보다 편리하게 다룰 수 있게</a:t>
            </a:r>
            <a:br>
              <a:rPr lang="en-US" altLang="ko-KR" sz="1400" dirty="0">
                <a:solidFill>
                  <a:srgbClr val="000000"/>
                </a:solidFill>
                <a:latin typeface="MS Reference Sans Serif" panose="020B0604030504040204" pitchFamily="34" charset="0"/>
                <a:ea typeface="+mj-ea"/>
              </a:rPr>
            </a:br>
            <a:r>
              <a:rPr lang="ko-KR" altLang="en-US" sz="1400" dirty="0">
                <a:solidFill>
                  <a:srgbClr val="000000"/>
                </a:solidFill>
                <a:latin typeface="MS Reference Sans Serif" panose="020B0604030504040204" pitchFamily="34" charset="0"/>
                <a:ea typeface="+mj-ea"/>
              </a:rPr>
              <a:t>도와주는 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  <a:ea typeface="+mj-ea"/>
              </a:rPr>
              <a:t>유틸리티 메소드 제공</a:t>
            </a:r>
            <a:endParaRPr lang="en-US" altLang="ko-KR" sz="1400" dirty="0">
              <a:solidFill>
                <a:srgbClr val="000000"/>
              </a:solidFill>
              <a:highlight>
                <a:srgbClr val="FFCD00"/>
              </a:highlight>
              <a:latin typeface="MS Reference Sans Serif" panose="020B0604030504040204" pitchFamily="34" charset="0"/>
              <a:ea typeface="+mj-ea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MS Reference Sans Serif" panose="020B0604030504040204" pitchFamily="34" charset="0"/>
                <a:ea typeface="+mj-ea"/>
              </a:rPr>
              <a:t>정렬</a:t>
            </a:r>
            <a:r>
              <a:rPr lang="en-US" altLang="ko-KR" sz="1400" dirty="0">
                <a:solidFill>
                  <a:srgbClr val="000000"/>
                </a:solidFill>
                <a:latin typeface="MS Reference Sans Serif" panose="020B0604030504040204" pitchFamily="34" charset="0"/>
                <a:ea typeface="+mj-ea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MS Reference Sans Serif" panose="020B0604030504040204" pitchFamily="34" charset="0"/>
                <a:ea typeface="+mj-ea"/>
              </a:rPr>
              <a:t>탐색</a:t>
            </a:r>
            <a:r>
              <a:rPr lang="en-US" altLang="ko-KR" sz="1400" dirty="0">
                <a:solidFill>
                  <a:srgbClr val="000000"/>
                </a:solidFill>
                <a:latin typeface="MS Reference Sans Serif" panose="020B0604030504040204" pitchFamily="34" charset="0"/>
                <a:ea typeface="+mj-ea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MS Reference Sans Serif" panose="020B0604030504040204" pitchFamily="34" charset="0"/>
                <a:ea typeface="+mj-ea"/>
              </a:rPr>
              <a:t>크기 조정</a:t>
            </a:r>
            <a:r>
              <a:rPr lang="en-US" altLang="ko-KR" sz="1400" dirty="0">
                <a:solidFill>
                  <a:srgbClr val="000000"/>
                </a:solidFill>
                <a:latin typeface="MS Reference Sans Serif" panose="020B0604030504040204" pitchFamily="34" charset="0"/>
                <a:ea typeface="+mj-ea"/>
              </a:rPr>
              <a:t> </a:t>
            </a:r>
            <a:r>
              <a:rPr lang="ko-KR" altLang="en-US" sz="1400" dirty="0">
                <a:solidFill>
                  <a:srgbClr val="000000"/>
                </a:solidFill>
                <a:latin typeface="MS Reference Sans Serif" panose="020B0604030504040204" pitchFamily="34" charset="0"/>
                <a:ea typeface="+mj-ea"/>
              </a:rPr>
              <a:t>등의 기능 제공</a:t>
            </a:r>
            <a:endParaRPr lang="en-US" altLang="ko-KR" sz="1400" dirty="0">
              <a:solidFill>
                <a:srgbClr val="000000"/>
              </a:solidFill>
              <a:latin typeface="MS Reference Sans Serif" panose="020B0604030504040204" pitchFamily="34" charset="0"/>
              <a:ea typeface="+mj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E70BD8F-D3F7-40A8-9C58-3C14343FD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719462"/>
              </p:ext>
            </p:extLst>
          </p:nvPr>
        </p:nvGraphicFramePr>
        <p:xfrm>
          <a:off x="163698" y="3585820"/>
          <a:ext cx="8699885" cy="301752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788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2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8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271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600" b="1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600" b="1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이름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600" b="1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660">
                <a:tc rowSpan="8"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600" b="1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정적</a:t>
                      </a: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600" b="1" i="0" u="none" strike="noStrike" kern="1200" baseline="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메소드</a:t>
                      </a:r>
                      <a:endParaRPr lang="ko-KR" altLang="en-US" sz="1600" b="1" i="0" u="none" strike="noStrike" kern="1200" baseline="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Sort</a:t>
                      </a:r>
                      <a:endParaRPr lang="ko-KR" altLang="en-US" sz="1400" b="0" i="0" u="none" strike="noStrike" kern="1200" baseline="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정렬</a:t>
                      </a: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6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400" b="0" i="0" u="none" strike="noStrike" kern="1200" baseline="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BinarySearch</a:t>
                      </a:r>
                      <a:endParaRPr lang="ko-KR" altLang="en-US" sz="1400" b="0" i="0" u="none" strike="noStrike" kern="1200" baseline="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이진 탐색</a:t>
                      </a: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6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400" b="0" i="0" u="none" strike="noStrike" kern="1200" baseline="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IndexOf</a:t>
                      </a:r>
                      <a:endParaRPr lang="ko-KR" altLang="en-US" sz="1400" b="0" i="0" u="none" strike="noStrike" kern="1200" baseline="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특정 데이터의 인덱스 반환</a:t>
                      </a: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6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400" b="0" i="0" u="none" strike="noStrike" kern="1200" baseline="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TrueForAll</a:t>
                      </a:r>
                      <a:endParaRPr lang="ko-KR" altLang="en-US" sz="1400" b="0" i="0" u="none" strike="noStrike" kern="1200" baseline="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모든 요소가 조건에 부합하는지 평가</a:t>
                      </a: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400" b="0" i="0" u="none" strike="noStrike" kern="1200" baseline="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FindIndex</a:t>
                      </a:r>
                      <a:endParaRPr lang="ko-KR" altLang="en-US" sz="1400" b="0" i="0" u="none" strike="noStrike" kern="1200" baseline="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조건에 부합하는 </a:t>
                      </a:r>
                      <a:endParaRPr lang="en-US" altLang="ko-KR" sz="1400" b="0" i="0" u="none" strike="noStrike" kern="1200" baseline="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첫 번째 요소의 인덱스 반환</a:t>
                      </a: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6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Resize</a:t>
                      </a:r>
                      <a:endParaRPr lang="ko-KR" altLang="en-US" sz="1400" b="0" i="0" u="none" strike="noStrike" kern="1200" baseline="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배열 크기 재조정</a:t>
                      </a: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0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Clear</a:t>
                      </a:r>
                      <a:endParaRPr lang="ko-KR" altLang="en-US" sz="1400" b="0" i="0" u="none" strike="noStrike" kern="1200" baseline="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모든 요소 초기화</a:t>
                      </a: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6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400" b="0" i="0" u="none" strike="noStrike" kern="1200" baseline="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ForEach</a:t>
                      </a:r>
                      <a:endParaRPr lang="ko-KR" altLang="en-US" sz="1400" b="0" i="0" u="none" strike="noStrike" kern="1200" baseline="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모든 요소에 대해 동일 작업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수행</a:t>
                      </a: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439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600" b="1" i="0" u="none" strike="noStrike" kern="1200" baseline="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인스턴스</a:t>
                      </a:r>
                      <a:r>
                        <a:rPr lang="ko-KR" altLang="en-US" sz="1600" b="1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b="1" i="0" u="none" strike="noStrike" kern="1200" baseline="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메소드</a:t>
                      </a:r>
                      <a:endParaRPr lang="ko-KR" altLang="en-US" sz="1600" b="1" i="0" u="none" strike="noStrike" kern="1200" baseline="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400" b="0" i="0" u="none" strike="noStrike" kern="1200" baseline="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GetLength</a:t>
                      </a:r>
                      <a:endParaRPr lang="ko-KR" altLang="en-US" sz="1400" b="0" i="0" u="none" strike="noStrike" kern="1200" baseline="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지정한 차원의 길이 반환</a:t>
                      </a:r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다차원 배열에서 유용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b="0" i="0" u="none" strike="noStrike" kern="1200" baseline="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6660">
                <a:tc rowSpan="2"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600" b="1" i="0" u="none" strike="noStrike" kern="1200" baseline="0" dirty="0" err="1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프로퍼티</a:t>
                      </a:r>
                      <a:endParaRPr lang="ko-KR" altLang="en-US" sz="1600" b="1" i="0" u="none" strike="noStrike" kern="1200" baseline="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400" b="1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Length</a:t>
                      </a:r>
                      <a:endParaRPr lang="ko-KR" altLang="en-US" sz="1400" b="1" i="0" u="none" strike="noStrike" kern="1200" baseline="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400" b="1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배열 길이</a:t>
                      </a:r>
                      <a:r>
                        <a:rPr lang="en-US" altLang="ko-KR" sz="1400" b="1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반환</a:t>
                      </a: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66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400" b="1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Rank</a:t>
                      </a:r>
                      <a:endParaRPr lang="ko-KR" altLang="en-US" sz="1400" b="1" i="0" u="none" strike="noStrike" kern="1200" baseline="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altLang="en-US" sz="1400" b="1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배열</a:t>
                      </a:r>
                      <a:r>
                        <a:rPr lang="en-US" altLang="ko-KR" sz="1400" b="1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i="0" u="none" strike="noStrike" kern="1200" baseline="0" dirty="0">
                          <a:solidFill>
                            <a:schemeClr val="tx1"/>
                          </a:solidFill>
                          <a:latin typeface="MS Reference Sans Serif" panose="020B0604030504040204" pitchFamily="34" charset="0"/>
                          <a:ea typeface="+mn-ea"/>
                          <a:cs typeface="+mn-cs"/>
                        </a:rPr>
                        <a:t>차원 반환</a:t>
                      </a:r>
                    </a:p>
                  </a:txBody>
                  <a:tcPr marL="51435" marR="51435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18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5F3A91A-8B78-2D59-B112-2230FD5D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4EE16-CEE3-085F-F461-CE9A71E692D0}"/>
              </a:ext>
            </a:extLst>
          </p:cNvPr>
          <p:cNvSpPr txBox="1"/>
          <p:nvPr/>
        </p:nvSpPr>
        <p:spPr>
          <a:xfrm>
            <a:off x="224290" y="1526876"/>
            <a:ext cx="88420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MS Reference Sans Serif" panose="020B0604030504040204" pitchFamily="34" charset="0"/>
              </a:rPr>
              <a:t>int[] numbers = { 10, 20, 30, 40, 50 };</a:t>
            </a:r>
          </a:p>
          <a:p>
            <a:endParaRPr lang="en-US" altLang="ko-KR" b="1" dirty="0">
              <a:latin typeface="MS Reference Sans Serif" panose="020B0604030504040204" pitchFamily="34" charset="0"/>
            </a:endParaRPr>
          </a:p>
          <a:p>
            <a:r>
              <a:rPr lang="en-US" altLang="ko-KR" b="1" dirty="0">
                <a:latin typeface="MS Reference Sans Serif" panose="020B0604030504040204" pitchFamily="34" charset="0"/>
              </a:rPr>
              <a:t>// Length: </a:t>
            </a:r>
            <a:r>
              <a:rPr lang="ko-KR" altLang="en-US" b="1" dirty="0">
                <a:latin typeface="MS Reference Sans Serif" panose="020B0604030504040204" pitchFamily="34" charset="0"/>
              </a:rPr>
              <a:t>총 요소 개수</a:t>
            </a:r>
          </a:p>
          <a:p>
            <a:r>
              <a:rPr lang="en-US" altLang="ko-KR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b="1" dirty="0">
                <a:latin typeface="MS Reference Sans Serif" panose="020B0604030504040204" pitchFamily="34" charset="0"/>
              </a:rPr>
              <a:t>(</a:t>
            </a:r>
            <a:r>
              <a:rPr lang="en-US" altLang="ko-KR" b="1" dirty="0" err="1">
                <a:latin typeface="MS Reference Sans Serif" panose="020B0604030504040204" pitchFamily="34" charset="0"/>
              </a:rPr>
              <a:t>numbers.Length</a:t>
            </a:r>
            <a:r>
              <a:rPr lang="en-US" altLang="ko-KR" b="1" dirty="0">
                <a:latin typeface="MS Reference Sans Serif" panose="020B0604030504040204" pitchFamily="34" charset="0"/>
              </a:rPr>
              <a:t>);  // 5</a:t>
            </a:r>
          </a:p>
          <a:p>
            <a:endParaRPr lang="en-US" altLang="ko-KR" b="1" dirty="0">
              <a:latin typeface="MS Reference Sans Serif" panose="020B0604030504040204" pitchFamily="34" charset="0"/>
            </a:endParaRPr>
          </a:p>
          <a:p>
            <a:r>
              <a:rPr lang="en-US" altLang="ko-KR" b="1" dirty="0">
                <a:latin typeface="MS Reference Sans Serif" panose="020B0604030504040204" pitchFamily="34" charset="0"/>
              </a:rPr>
              <a:t>// Rank: </a:t>
            </a:r>
            <a:r>
              <a:rPr lang="ko-KR" altLang="en-US" b="1" dirty="0">
                <a:latin typeface="MS Reference Sans Serif" panose="020B0604030504040204" pitchFamily="34" charset="0"/>
              </a:rPr>
              <a:t>차원 수 </a:t>
            </a:r>
            <a:r>
              <a:rPr lang="en-US" altLang="ko-KR" b="1" dirty="0">
                <a:latin typeface="MS Reference Sans Serif" panose="020B0604030504040204" pitchFamily="34" charset="0"/>
              </a:rPr>
              <a:t>(1</a:t>
            </a:r>
            <a:r>
              <a:rPr lang="ko-KR" altLang="en-US" b="1" dirty="0">
                <a:latin typeface="MS Reference Sans Serif" panose="020B0604030504040204" pitchFamily="34" charset="0"/>
              </a:rPr>
              <a:t>차원 배열은 </a:t>
            </a:r>
            <a:r>
              <a:rPr lang="en-US" altLang="ko-KR" b="1" dirty="0">
                <a:latin typeface="MS Reference Sans Serif" panose="020B0604030504040204" pitchFamily="34" charset="0"/>
              </a:rPr>
              <a:t>1)</a:t>
            </a:r>
          </a:p>
          <a:p>
            <a:r>
              <a:rPr lang="en-US" altLang="ko-KR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b="1" dirty="0">
                <a:latin typeface="MS Reference Sans Serif" panose="020B0604030504040204" pitchFamily="34" charset="0"/>
              </a:rPr>
              <a:t>(</a:t>
            </a:r>
            <a:r>
              <a:rPr lang="en-US" altLang="ko-KR" b="1" dirty="0" err="1">
                <a:latin typeface="MS Reference Sans Serif" panose="020B0604030504040204" pitchFamily="34" charset="0"/>
              </a:rPr>
              <a:t>numbers.Rank</a:t>
            </a:r>
            <a:r>
              <a:rPr lang="en-US" altLang="ko-KR" b="1" dirty="0">
                <a:latin typeface="MS Reference Sans Serif" panose="020B0604030504040204" pitchFamily="34" charset="0"/>
              </a:rPr>
              <a:t>);    // 1</a:t>
            </a:r>
            <a:endParaRPr lang="ko-KR" altLang="en-US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3E3C0C6-113D-A4FF-7C8A-250D3D191AC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73551E8-ED3D-3EB0-1298-02CEA2D5043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0B9A835-7320-700F-0881-CFBB1EF2DA3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주요 속성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3998628-7144-4E68-9A40-F0FE8047207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6988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5F3A91A-8B78-2D59-B112-2230FD5D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4EE16-CEE3-085F-F461-CE9A71E692D0}"/>
              </a:ext>
            </a:extLst>
          </p:cNvPr>
          <p:cNvSpPr txBox="1"/>
          <p:nvPr/>
        </p:nvSpPr>
        <p:spPr>
          <a:xfrm>
            <a:off x="224290" y="1526876"/>
            <a:ext cx="884207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MS Reference Sans Serif" panose="020B0604030504040204" pitchFamily="34" charset="0"/>
              </a:rPr>
              <a:t>Array.Sort</a:t>
            </a:r>
            <a:r>
              <a:rPr lang="en-US" altLang="ko-KR" b="1" dirty="0">
                <a:latin typeface="MS Reference Sans Serif" panose="020B0604030504040204" pitchFamily="34" charset="0"/>
              </a:rPr>
              <a:t>() : </a:t>
            </a:r>
            <a:r>
              <a:rPr lang="ko-KR" altLang="en-US" b="1" dirty="0">
                <a:latin typeface="MS Reference Sans Serif" panose="020B0604030504040204" pitchFamily="34" charset="0"/>
              </a:rPr>
              <a:t>오름차순 정렬</a:t>
            </a:r>
            <a:endParaRPr lang="en-US" altLang="ko-KR" b="1" dirty="0">
              <a:latin typeface="MS Reference Sans Serif" panose="020B0604030504040204" pitchFamily="34" charset="0"/>
            </a:endParaRPr>
          </a:p>
          <a:p>
            <a:endParaRPr lang="en-US" altLang="ko-KR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int[] numbers = { 50, 10, 40, 20, 30 };</a:t>
            </a:r>
          </a:p>
          <a:p>
            <a:r>
              <a:rPr lang="en-US" altLang="ko-KR" sz="1200" b="1" dirty="0" err="1">
                <a:latin typeface="MS Reference Sans Serif" panose="020B0604030504040204" pitchFamily="34" charset="0"/>
              </a:rPr>
              <a:t>Array.Sort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(numbers);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// numbers = { 10, 20, 30, 40, 50 }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문자열 정렬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string[] names = { "Charlie", "Alice", "Bob" };</a:t>
            </a:r>
          </a:p>
          <a:p>
            <a:r>
              <a:rPr lang="en-US" altLang="ko-KR" sz="1200" b="1" dirty="0" err="1">
                <a:latin typeface="MS Reference Sans Serif" panose="020B0604030504040204" pitchFamily="34" charset="0"/>
              </a:rPr>
              <a:t>Array.Sort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(names);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// names = { "Alice", "Bob", "Charlie" }</a:t>
            </a:r>
          </a:p>
          <a:p>
            <a:endParaRPr lang="en-US" altLang="ko-KR" b="1" dirty="0">
              <a:latin typeface="MS Reference Sans Serif" panose="020B0604030504040204" pitchFamily="34" charset="0"/>
            </a:endParaRPr>
          </a:p>
          <a:p>
            <a:r>
              <a:rPr lang="en-US" altLang="ko-KR" b="1" dirty="0" err="1">
                <a:latin typeface="MS Reference Sans Serif" panose="020B0604030504040204" pitchFamily="34" charset="0"/>
              </a:rPr>
              <a:t>Array.Reverse</a:t>
            </a:r>
            <a:r>
              <a:rPr lang="en-US" altLang="ko-KR" b="1" dirty="0">
                <a:latin typeface="MS Reference Sans Serif" panose="020B0604030504040204" pitchFamily="34" charset="0"/>
              </a:rPr>
              <a:t>() : </a:t>
            </a:r>
            <a:r>
              <a:rPr lang="ko-KR" altLang="en-US" b="1" dirty="0">
                <a:latin typeface="MS Reference Sans Serif" panose="020B0604030504040204" pitchFamily="34" charset="0"/>
              </a:rPr>
              <a:t>내림차순 정렬</a:t>
            </a:r>
            <a:endParaRPr lang="en-US" altLang="ko-KR" b="1" dirty="0">
              <a:latin typeface="MS Reference Sans Serif" panose="020B0604030504040204" pitchFamily="34" charset="0"/>
            </a:endParaRPr>
          </a:p>
          <a:p>
            <a:endParaRPr lang="en-US" altLang="ko-KR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int[] numbers = { 10, 20, 30, 40, 50 };</a:t>
            </a:r>
          </a:p>
          <a:p>
            <a:r>
              <a:rPr lang="en-US" altLang="ko-KR" sz="1200" b="1" dirty="0" err="1">
                <a:latin typeface="MS Reference Sans Serif" panose="020B0604030504040204" pitchFamily="34" charset="0"/>
              </a:rPr>
              <a:t>Array.Reverse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(numbers);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// numbers = { 50, 40, 30, 20, 10 }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b="1" dirty="0">
                <a:latin typeface="MS Reference Sans Serif" panose="020B0604030504040204" pitchFamily="34" charset="0"/>
              </a:rPr>
              <a:t>C#</a:t>
            </a:r>
            <a:r>
              <a:rPr lang="ko-KR" altLang="en-US" b="1" dirty="0">
                <a:latin typeface="MS Reference Sans Serif" panose="020B0604030504040204" pitchFamily="34" charset="0"/>
              </a:rPr>
              <a:t>에서는 </a:t>
            </a:r>
            <a:r>
              <a:rPr lang="en-US" altLang="ko-KR" b="1" dirty="0" err="1">
                <a:latin typeface="MS Reference Sans Serif" panose="020B0604030504040204" pitchFamily="34" charset="0"/>
              </a:rPr>
              <a:t>Array.Sort</a:t>
            </a:r>
            <a:r>
              <a:rPr lang="en-US" altLang="ko-KR" b="1" dirty="0">
                <a:latin typeface="MS Reference Sans Serif" panose="020B0604030504040204" pitchFamily="34" charset="0"/>
              </a:rPr>
              <a:t>()</a:t>
            </a:r>
            <a:r>
              <a:rPr lang="ko-KR" altLang="en-US" b="1" dirty="0">
                <a:latin typeface="MS Reference Sans Serif" panose="020B0604030504040204" pitchFamily="34" charset="0"/>
              </a:rPr>
              <a:t>로 먼저 오름차순 정렬한 다음</a:t>
            </a:r>
            <a:r>
              <a:rPr lang="en-US" altLang="ko-KR" b="1" dirty="0">
                <a:latin typeface="MS Reference Sans Serif" panose="020B0604030504040204" pitchFamily="34" charset="0"/>
              </a:rPr>
              <a:t>, </a:t>
            </a:r>
            <a:r>
              <a:rPr lang="en-US" altLang="ko-KR" b="1" dirty="0" err="1">
                <a:latin typeface="MS Reference Sans Serif" panose="020B0604030504040204" pitchFamily="34" charset="0"/>
              </a:rPr>
              <a:t>Array.Reverse</a:t>
            </a:r>
            <a:r>
              <a:rPr lang="en-US" altLang="ko-KR" b="1" dirty="0">
                <a:latin typeface="MS Reference Sans Serif" panose="020B0604030504040204" pitchFamily="34" charset="0"/>
              </a:rPr>
              <a:t>()</a:t>
            </a:r>
            <a:r>
              <a:rPr lang="ko-KR" altLang="en-US" b="1" dirty="0">
                <a:latin typeface="MS Reference Sans Serif" panose="020B0604030504040204" pitchFamily="34" charset="0"/>
              </a:rPr>
              <a:t>를 한 번 더 적용하면 내림차순 정렬이 됩니다</a:t>
            </a:r>
          </a:p>
          <a:p>
            <a:endParaRPr lang="ko-KR" altLang="en-US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int[] numbers = { 50, 10, 40, 20, 30 };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 err="1">
                <a:latin typeface="MS Reference Sans Serif" panose="020B0604030504040204" pitchFamily="34" charset="0"/>
              </a:rPr>
              <a:t>Array.Sort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(numbers);     // 10, 20, 30, 40, 50</a:t>
            </a:r>
          </a:p>
          <a:p>
            <a:r>
              <a:rPr lang="en-US" altLang="ko-KR" sz="1200" b="1" dirty="0" err="1">
                <a:latin typeface="MS Reference Sans Serif" panose="020B0604030504040204" pitchFamily="34" charset="0"/>
              </a:rPr>
              <a:t>Array.Reverse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(numbers);  // 50, 40, 30, 20, 10</a:t>
            </a:r>
            <a:endParaRPr lang="ko-KR" altLang="en-US" sz="12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3E3C0C6-113D-A4FF-7C8A-250D3D191AC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73551E8-ED3D-3EB0-1298-02CEA2D5043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0B9A835-7320-700F-0881-CFBB1EF2DA3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정렬 메서드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3998628-7144-4E68-9A40-F0FE8047207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456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5F3A91A-8B78-2D59-B112-2230FD5D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4EE16-CEE3-085F-F461-CE9A71E692D0}"/>
              </a:ext>
            </a:extLst>
          </p:cNvPr>
          <p:cNvSpPr txBox="1"/>
          <p:nvPr/>
        </p:nvSpPr>
        <p:spPr>
          <a:xfrm>
            <a:off x="224290" y="1526876"/>
            <a:ext cx="884207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MS Reference Sans Serif" panose="020B0604030504040204" pitchFamily="34" charset="0"/>
              </a:rPr>
              <a:t>Array.IndexOf</a:t>
            </a:r>
            <a:r>
              <a:rPr lang="en-US" altLang="ko-KR" b="1" dirty="0">
                <a:latin typeface="MS Reference Sans Serif" panose="020B0604030504040204" pitchFamily="34" charset="0"/>
              </a:rPr>
              <a:t>()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int[] numbers = { 10, 20, 30, 40, 50 };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int index =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Array.IndexOf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(numbers, 30);</a:t>
            </a:r>
          </a:p>
          <a:p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(index);  // 2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index =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Array.IndexOf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(numbers, 100);</a:t>
            </a:r>
          </a:p>
          <a:p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(index);  // -1 (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찾지 못함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)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b="1" dirty="0" err="1">
                <a:latin typeface="MS Reference Sans Serif" panose="020B0604030504040204" pitchFamily="34" charset="0"/>
              </a:rPr>
              <a:t>Array.Find</a:t>
            </a:r>
            <a:r>
              <a:rPr lang="en-US" altLang="ko-KR" b="1" dirty="0">
                <a:latin typeface="MS Reference Sans Serif" panose="020B0604030504040204" pitchFamily="34" charset="0"/>
              </a:rPr>
              <a:t>()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int[] numbers = { 10, 25, 30, 45, 50 };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// 30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보다 큰 첫 번째 값 찾기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int result =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Array.Find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(numbers, x =&gt; x &gt; 30);</a:t>
            </a:r>
          </a:p>
          <a:p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(result);  // 45</a:t>
            </a:r>
          </a:p>
          <a:p>
            <a:endParaRPr lang="en-US" altLang="ko-KR" b="1" dirty="0">
              <a:latin typeface="MS Reference Sans Serif" panose="020B0604030504040204" pitchFamily="34" charset="0"/>
            </a:endParaRPr>
          </a:p>
          <a:p>
            <a:r>
              <a:rPr lang="en-US" altLang="ko-KR" b="1" dirty="0" err="1">
                <a:latin typeface="MS Reference Sans Serif" panose="020B0604030504040204" pitchFamily="34" charset="0"/>
              </a:rPr>
              <a:t>Array.FindAll</a:t>
            </a:r>
            <a:r>
              <a:rPr lang="en-US" altLang="ko-KR" b="1" dirty="0">
                <a:latin typeface="MS Reference Sans Serif" panose="020B0604030504040204" pitchFamily="34" charset="0"/>
              </a:rPr>
              <a:t>()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int[] numbers = { 10, 25, 30, 45, 50 };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// 30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보다 큰 모든 값 찾기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int[] results =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Array.FindAll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(numbers, x =&gt; x &gt; 30);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// results = { 45, 50 }</a:t>
            </a:r>
            <a:endParaRPr lang="ko-KR" altLang="en-US" sz="12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3E3C0C6-113D-A4FF-7C8A-250D3D191AC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73551E8-ED3D-3EB0-1298-02CEA2D5043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0B9A835-7320-700F-0881-CFBB1EF2DA3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검색 메서드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3998628-7144-4E68-9A40-F0FE8047207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36112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5F3A91A-8B78-2D59-B112-2230FD5D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4EE16-CEE3-085F-F461-CE9A71E692D0}"/>
              </a:ext>
            </a:extLst>
          </p:cNvPr>
          <p:cNvSpPr txBox="1"/>
          <p:nvPr/>
        </p:nvSpPr>
        <p:spPr>
          <a:xfrm>
            <a:off x="224290" y="1526876"/>
            <a:ext cx="884207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MS Reference Sans Serif" panose="020B0604030504040204" pitchFamily="34" charset="0"/>
              </a:rPr>
              <a:t>Array.ConvertAll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()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int[] numbers = { 1, 2, 3, 4, 5 };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정수를 문자열로 변환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string[] strings =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Array.ConvertAll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(numbers, x =&gt;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x.ToString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());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strings = { "1", "2", "3", "4", "5" }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모든 요소를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2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배로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int[] doubled =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Array.ConvertAll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(numbers, x =&gt; x * 2);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doubled = { 2, 4, 6, 8, 10 }</a:t>
            </a:r>
            <a:endParaRPr lang="ko-KR" altLang="en-US" sz="105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3E3C0C6-113D-A4FF-7C8A-250D3D191AC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73551E8-ED3D-3EB0-1298-02CEA2D5043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0B9A835-7320-700F-0881-CFBB1EF2DA3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변환 메서드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3998628-7144-4E68-9A40-F0FE8047207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662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5F3A91A-8B78-2D59-B112-2230FD5D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4EE16-CEE3-085F-F461-CE9A71E692D0}"/>
              </a:ext>
            </a:extLst>
          </p:cNvPr>
          <p:cNvSpPr txBox="1"/>
          <p:nvPr/>
        </p:nvSpPr>
        <p:spPr>
          <a:xfrm>
            <a:off x="224290" y="1526876"/>
            <a:ext cx="884207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MS Reference Sans Serif" panose="020B0604030504040204" pitchFamily="34" charset="0"/>
              </a:rPr>
              <a:t>Array.Exists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() -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배열 안에 “조건을 만족하는 </a:t>
            </a:r>
            <a:r>
              <a:rPr lang="ko-KR" altLang="en-US" sz="2000" b="1" dirty="0" err="1">
                <a:latin typeface="MS Reference Sans Serif" panose="020B0604030504040204" pitchFamily="34" charset="0"/>
              </a:rPr>
              <a:t>요소”가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 하나라도 있는지 검사</a:t>
            </a:r>
            <a:endParaRPr lang="en-US" altLang="ko-KR" sz="20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int[] numbers = { 10, 20, 30, 40, 50 };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bool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hasNegative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=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Array.Exists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(numbers, x =&gt; x &lt; 0);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hasNegative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);  // false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bool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hasLarge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=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Array.Exists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(numbers, x =&gt; x &gt; 40);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hasLarge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);     // true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2000" b="1" dirty="0" err="1">
                <a:latin typeface="MS Reference Sans Serif" panose="020B0604030504040204" pitchFamily="34" charset="0"/>
              </a:rPr>
              <a:t>Array.TrueForAll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()-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배열의 모든 요소가 조건을 만족하는지 검사</a:t>
            </a:r>
            <a:endParaRPr lang="en-US" altLang="ko-KR" sz="20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int[] numbers = { 10, 20, 30, 40, 50 };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bool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allPositive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=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Array.TrueForAll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(numbers, x =&gt; x &gt; 0);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allPositive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);  // true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bool allOver20 =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Array.TrueForAll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(numbers, x =&gt; x &gt; 20);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(allOver20);    // false</a:t>
            </a:r>
            <a:endParaRPr lang="ko-KR" altLang="en-US" sz="1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3E3C0C6-113D-A4FF-7C8A-250D3D191AC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73551E8-ED3D-3EB0-1298-02CEA2D5043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0B9A835-7320-700F-0881-CFBB1EF2DA3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기타 유용한 메서드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3998628-7144-4E68-9A40-F0FE8047207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5425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5F3A91A-8B78-2D59-B112-2230FD5D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4EE16-CEE3-085F-F461-CE9A71E692D0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</a:t>
            </a:r>
            <a:endParaRPr lang="ko-KR" altLang="en-US" sz="16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3E3C0C6-113D-A4FF-7C8A-250D3D191AC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73551E8-ED3D-3EB0-1298-02CEA2D5043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0B9A835-7320-700F-0881-CFBB1EF2DA3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DerivedFromArray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3998628-7144-4E68-9A40-F0FE8047207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82D05911-5CB1-93D9-B899-F373965B6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92" y="2073136"/>
            <a:ext cx="5677705" cy="375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8598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5F3A91A-8B78-2D59-B112-2230FD5D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4EE16-CEE3-085F-F461-CE9A71E692D0}"/>
              </a:ext>
            </a:extLst>
          </p:cNvPr>
          <p:cNvSpPr txBox="1"/>
          <p:nvPr/>
        </p:nvSpPr>
        <p:spPr>
          <a:xfrm>
            <a:off x="224290" y="1526876"/>
            <a:ext cx="88420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DerivedFromArray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int[] array = new int[] { 10, 30, 20, 7, 1 };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($"Type Of array : {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array.GetType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()}");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($"Base type Of array : {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array.GetType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().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BaseType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}");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3E3C0C6-113D-A4FF-7C8A-250D3D191AC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73551E8-ED3D-3EB0-1298-02CEA2D5043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0B9A835-7320-700F-0881-CFBB1EF2DA3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DerivedFromArray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3998628-7144-4E68-9A40-F0FE8047207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218417EA-0ADA-FE29-F19F-AF22AAEE9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028" y="1852409"/>
            <a:ext cx="4105848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313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854-9680-6656-C955-86F865EE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D0B6311-3B70-D7D9-2B0D-79EB71FA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61D4C-6914-8404-C93F-FA54B636BAFA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</a:t>
            </a:r>
            <a:endParaRPr lang="ko-KR" altLang="en-US" sz="16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F6819F-BA50-A3D1-8604-A295E878F7C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ECCC1F-67D8-A1A5-DECE-4CD99A6D32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412AAB3-1A9D-9233-B48F-297569C2D26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MoreOnArray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8BA166-0D60-902B-1DC7-829EF6887DE7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0393862A-6FA5-B432-76A7-F25B74FAC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09" y="2196271"/>
            <a:ext cx="5677705" cy="380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38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854-9680-6656-C955-86F865EE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D0B6311-3B70-D7D9-2B0D-79EB71FA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61D4C-6914-8404-C93F-FA54B636BAFA}"/>
              </a:ext>
            </a:extLst>
          </p:cNvPr>
          <p:cNvSpPr txBox="1"/>
          <p:nvPr/>
        </p:nvSpPr>
        <p:spPr>
          <a:xfrm>
            <a:off x="224290" y="1526876"/>
            <a:ext cx="884207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MoreOnArray</a:t>
            </a:r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private static bool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CheckPassed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(int score)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return score &gt;= 60;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private static void Print(int value)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($"{value} 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int[] scores = new int[] { 80, 74, 81, 90, 34 };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foreach (int score in scores)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($"{score} 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Array.Sort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(scores);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Array.ForEach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&lt;int&gt;(scores, new Action&lt;int&gt;(Print));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($"Number of dimensions : 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scores.Rank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}");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($"Binary Search : 81 is at " +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$"{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Array.BinarySearch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&lt;int&gt;(scores, 81)}");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F6819F-BA50-A3D1-8604-A295E878F7C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ECCC1F-67D8-A1A5-DECE-4CD99A6D32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412AAB3-1A9D-9233-B48F-297569C2D26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MoreOnArray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8BA166-0D60-902B-1DC7-829EF6887DE7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2" name="말풍선: 사각형 1">
            <a:extLst>
              <a:ext uri="{FF2B5EF4-FFF2-40B4-BE49-F238E27FC236}">
                <a16:creationId xmlns:a16="http://schemas.microsoft.com/office/drawing/2014/main" id="{81B65ACC-D2EC-3B80-76EA-2500E6855DEF}"/>
              </a:ext>
            </a:extLst>
          </p:cNvPr>
          <p:cNvSpPr/>
          <p:nvPr/>
        </p:nvSpPr>
        <p:spPr>
          <a:xfrm>
            <a:off x="4572000" y="4027157"/>
            <a:ext cx="4347710" cy="1449591"/>
          </a:xfrm>
          <a:prstGeom prst="wedgeRectCallout">
            <a:avLst>
              <a:gd name="adj1" fmla="val -53549"/>
              <a:gd name="adj2" fmla="val 209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 err="1">
                <a:solidFill>
                  <a:schemeClr val="tx1"/>
                </a:solidFill>
                <a:latin typeface="MS Reference Sans Serif" panose="020B0604030504040204" pitchFamily="34" charset="0"/>
              </a:rPr>
              <a:t>Array.Sort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(scores);</a:t>
            </a:r>
          </a:p>
          <a:p>
            <a:r>
              <a:rPr lang="en-US" altLang="ko-KR" sz="1000" dirty="0" err="1">
                <a:solidFill>
                  <a:schemeClr val="tx1"/>
                </a:solidFill>
                <a:latin typeface="MS Reference Sans Serif" panose="020B0604030504040204" pitchFamily="34" charset="0"/>
              </a:rPr>
              <a:t>Array.ForEach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&lt;int&gt;(scores, new Action&lt;int&gt;(Print));</a:t>
            </a:r>
          </a:p>
          <a:p>
            <a:r>
              <a:rPr lang="en-US" altLang="ko-KR" sz="1000" dirty="0" err="1">
                <a:solidFill>
                  <a:schemeClr val="tx1"/>
                </a:solidFill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1000" dirty="0">
              <a:solidFill>
                <a:schemeClr val="tx1"/>
              </a:solidFill>
              <a:latin typeface="MS Reference Sans Serif" panose="020B0604030504040204" pitchFamily="34" charset="0"/>
            </a:endParaRPr>
          </a:p>
          <a:p>
            <a:r>
              <a:rPr lang="en-US" altLang="ko-KR" sz="1000" dirty="0" err="1">
                <a:solidFill>
                  <a:schemeClr val="tx1"/>
                </a:solidFill>
                <a:latin typeface="MS Reference Sans Serif" panose="020B0604030504040204" pitchFamily="34" charset="0"/>
              </a:rPr>
              <a:t>Array.Sort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() :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오름차순으로 정렬합니다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.</a:t>
            </a:r>
          </a:p>
          <a:p>
            <a:r>
              <a:rPr lang="en-US" altLang="ko-KR" sz="1000" dirty="0" err="1">
                <a:solidFill>
                  <a:schemeClr val="tx1"/>
                </a:solidFill>
                <a:latin typeface="MS Reference Sans Serif" panose="020B0604030504040204" pitchFamily="34" charset="0"/>
              </a:rPr>
              <a:t>Array.ForEach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() :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각 원소마다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Print()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메서드를 실행합니다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.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결과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:</a:t>
            </a:r>
          </a:p>
          <a:p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34 74 80 81 90</a:t>
            </a:r>
          </a:p>
          <a:p>
            <a:endParaRPr lang="en-US" altLang="ko-KR" sz="1000" dirty="0">
              <a:solidFill>
                <a:schemeClr val="tx1"/>
              </a:solidFill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0574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854-9680-6656-C955-86F865EE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D0B6311-3B70-D7D9-2B0D-79EB71FA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61D4C-6914-8404-C93F-FA54B636BAFA}"/>
              </a:ext>
            </a:extLst>
          </p:cNvPr>
          <p:cNvSpPr txBox="1"/>
          <p:nvPr/>
        </p:nvSpPr>
        <p:spPr>
          <a:xfrm>
            <a:off x="224290" y="1526876"/>
            <a:ext cx="884207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($"Linear Search : 90 is at " +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$"{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Array.IndexOf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(scores, 90)}");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($"Everyone passed ? : " +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$"{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Array.TrueForAll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&lt;int&gt;(scores,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CheckPassed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)}");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int index =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Array.FindIndex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&lt;int&gt;(scores, (score) =&gt; score &lt; 60);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scores[index] = 61;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($"Everyone passed ? : " +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$"{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Array.TrueForAll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&lt;int&gt;(scores,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CheckPassed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)}");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("Old length of scores : " +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$"{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scores.GetLength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(0)}");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Array.Resize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&lt;int&gt;(ref scores, 10);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($"New length of scores : 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scores.Length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}");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Array.ForEach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&lt;int&gt;(scores, new Action&lt;int&gt;(Print));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Array.Clear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(scores, 3, 7);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Array.ForEach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&lt;int&gt;(scores, new Action&lt;int&gt;(Print));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int[] sliced = new int[3];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Array.Copy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(scores, 0, sliced, 0, 3);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Array.ForEach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&lt;int&gt;(sliced, new Action&lt;int&gt;(Print));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F6819F-BA50-A3D1-8604-A295E878F7C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ECCC1F-67D8-A1A5-DECE-4CD99A6D32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412AAB3-1A9D-9233-B48F-297569C2D26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MoreOnArray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8BA166-0D60-902B-1DC7-829EF6887DE7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5B4D0F25-4EE3-FF58-8494-59B0B2D87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36" y="4112199"/>
            <a:ext cx="3753374" cy="2257740"/>
          </a:xfrm>
          <a:prstGeom prst="rect">
            <a:avLst/>
          </a:prstGeom>
        </p:spPr>
      </p:pic>
      <p:sp>
        <p:nvSpPr>
          <p:cNvPr id="2" name="말풍선: 사각형 1">
            <a:extLst>
              <a:ext uri="{FF2B5EF4-FFF2-40B4-BE49-F238E27FC236}">
                <a16:creationId xmlns:a16="http://schemas.microsoft.com/office/drawing/2014/main" id="{5744F323-5407-0684-F144-8FA23B2E6F73}"/>
              </a:ext>
            </a:extLst>
          </p:cNvPr>
          <p:cNvSpPr/>
          <p:nvPr/>
        </p:nvSpPr>
        <p:spPr>
          <a:xfrm>
            <a:off x="4572000" y="1854364"/>
            <a:ext cx="4347710" cy="545562"/>
          </a:xfrm>
          <a:prstGeom prst="wedgeRectCallout">
            <a:avLst>
              <a:gd name="adj1" fmla="val -53549"/>
              <a:gd name="adj2" fmla="val 209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 err="1">
                <a:solidFill>
                  <a:schemeClr val="tx1"/>
                </a:solidFill>
                <a:latin typeface="MS Reference Sans Serif" panose="020B0604030504040204" pitchFamily="34" charset="0"/>
              </a:rPr>
              <a:t>CheckPassed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()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는 점수가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60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점 이상일 때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true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를 반환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현재 배열에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34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가 있으므로 출력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: Everyone passed ? : False</a:t>
            </a:r>
          </a:p>
        </p:txBody>
      </p:sp>
      <p:sp>
        <p:nvSpPr>
          <p:cNvPr id="10" name="말풍선: 사각형 9">
            <a:extLst>
              <a:ext uri="{FF2B5EF4-FFF2-40B4-BE49-F238E27FC236}">
                <a16:creationId xmlns:a16="http://schemas.microsoft.com/office/drawing/2014/main" id="{63F1CDA2-0E0A-BD1D-DDE4-F2E2100C2ED3}"/>
              </a:ext>
            </a:extLst>
          </p:cNvPr>
          <p:cNvSpPr/>
          <p:nvPr/>
        </p:nvSpPr>
        <p:spPr>
          <a:xfrm>
            <a:off x="4572000" y="2880220"/>
            <a:ext cx="4347710" cy="904396"/>
          </a:xfrm>
          <a:prstGeom prst="wedgeRectCallout">
            <a:avLst>
              <a:gd name="adj1" fmla="val -53549"/>
              <a:gd name="adj2" fmla="val 209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 err="1">
                <a:solidFill>
                  <a:schemeClr val="tx1"/>
                </a:solidFill>
                <a:latin typeface="MS Reference Sans Serif" panose="020B0604030504040204" pitchFamily="34" charset="0"/>
              </a:rPr>
              <a:t>Array.FindIndex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() :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조건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(score &lt; 60)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에 맞는 첫 번째 원소의 인덱스 찾기 →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0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번째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해당 원소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(34)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를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61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로 수정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이제 모두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60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점 이상이므로 출력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: Everyone passed ? : True</a:t>
            </a:r>
          </a:p>
        </p:txBody>
      </p:sp>
    </p:spTree>
    <p:extLst>
      <p:ext uri="{BB962C8B-B14F-4D97-AF65-F5344CB8AC3E}">
        <p14:creationId xmlns:p14="http://schemas.microsoft.com/office/powerpoint/2010/main" val="18228056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854-9680-6656-C955-86F865EE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D0B6311-3B70-D7D9-2B0D-79EB71FA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61D4C-6914-8404-C93F-FA54B636BAFA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주요 로직 단계별 설명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F6819F-BA50-A3D1-8604-A295E878F7C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ECCC1F-67D8-A1A5-DECE-4CD99A6D32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412AAB3-1A9D-9233-B48F-297569C2D26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MoreOnArray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8BA166-0D60-902B-1DC7-829EF6887DE7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1C34F2F-4396-7758-54E6-410FE0BD55E9}"/>
              </a:ext>
            </a:extLst>
          </p:cNvPr>
          <p:cNvSpPr txBox="1"/>
          <p:nvPr/>
        </p:nvSpPr>
        <p:spPr>
          <a:xfrm>
            <a:off x="335222" y="2036858"/>
            <a:ext cx="855274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latin typeface="MS Reference Sans Serif" panose="020B0604030504040204" pitchFamily="34" charset="0"/>
              </a:rPr>
              <a:t>(1) </a:t>
            </a:r>
            <a:r>
              <a:rPr lang="ko-KR" altLang="en-US" b="1" dirty="0">
                <a:latin typeface="MS Reference Sans Serif" panose="020B0604030504040204" pitchFamily="34" charset="0"/>
              </a:rPr>
              <a:t>점수 배열 생성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int[] scores = new int[] { 80, 74, 81, 90, 34 };</a:t>
            </a:r>
          </a:p>
          <a:p>
            <a:pPr rtl="0">
              <a:buNone/>
            </a:pPr>
            <a:endParaRPr lang="en-US" altLang="ko-KR" dirty="0">
              <a:latin typeface="MS Reference Sans Serif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MS Reference Sans Serif" panose="020B0604030504040204" pitchFamily="34" charset="0"/>
              </a:rPr>
              <a:t>정수형 배열 </a:t>
            </a:r>
            <a:r>
              <a:rPr lang="en-US" altLang="ko-KR" dirty="0">
                <a:latin typeface="MS Reference Sans Serif" panose="020B0604030504040204" pitchFamily="34" charset="0"/>
              </a:rPr>
              <a:t>scores</a:t>
            </a:r>
            <a:r>
              <a:rPr lang="ko-KR" altLang="en-US" dirty="0">
                <a:latin typeface="MS Reference Sans Serif" panose="020B0604030504040204" pitchFamily="34" charset="0"/>
              </a:rPr>
              <a:t>를 선언하고 </a:t>
            </a:r>
            <a:r>
              <a:rPr lang="en-US" altLang="ko-KR" dirty="0">
                <a:latin typeface="MS Reference Sans Serif" panose="020B0604030504040204" pitchFamily="34" charset="0"/>
              </a:rPr>
              <a:t>5</a:t>
            </a:r>
            <a:r>
              <a:rPr lang="ko-KR" altLang="en-US" dirty="0">
                <a:latin typeface="MS Reference Sans Serif" panose="020B0604030504040204" pitchFamily="34" charset="0"/>
              </a:rPr>
              <a:t>개의 점수를 초기화합니다</a:t>
            </a:r>
            <a:r>
              <a:rPr lang="en-US" altLang="ko-KR" dirty="0">
                <a:latin typeface="MS Reference Sans Serif" panose="020B060403050404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MS Reference Sans Serif" panose="020B0604030504040204" pitchFamily="34" charset="0"/>
              </a:rPr>
              <a:t>배열의 초기 상태는</a:t>
            </a:r>
            <a:r>
              <a:rPr lang="en-US" altLang="ko-KR" dirty="0">
                <a:latin typeface="MS Reference Sans Serif" panose="020B0604030504040204" pitchFamily="34" charset="0"/>
              </a:rPr>
              <a:t>:</a:t>
            </a:r>
            <a:br>
              <a:rPr lang="en-US" altLang="ko-KR" dirty="0">
                <a:latin typeface="MS Reference Sans Serif" panose="020B0604030504040204" pitchFamily="34" charset="0"/>
              </a:rPr>
            </a:br>
            <a:r>
              <a:rPr lang="en-US" altLang="ko-KR" dirty="0">
                <a:latin typeface="MS Reference Sans Serif" panose="020B0604030504040204" pitchFamily="34" charset="0"/>
              </a:rPr>
              <a:t>80, 74, 81, 90, 34</a:t>
            </a:r>
            <a:endParaRPr lang="ko-KR" altLang="en-US" dirty="0">
              <a:latin typeface="MS Reference Sans Serif" panose="020B0604030504040204" pitchFamily="34" charset="0"/>
            </a:endParaRPr>
          </a:p>
          <a:p>
            <a:pPr>
              <a:buNone/>
            </a:pPr>
            <a:br>
              <a:rPr lang="ko-KR" altLang="en-US" dirty="0">
                <a:latin typeface="MS Reference Sans Serif" panose="020B0604030504040204" pitchFamily="34" charset="0"/>
              </a:rPr>
            </a:br>
            <a:endParaRPr lang="ko-KR" altLang="en-US" dirty="0">
              <a:latin typeface="MS Reference Sans Serif" panose="020B0604030504040204" pitchFamily="34" charset="0"/>
            </a:endParaRPr>
          </a:p>
          <a:p>
            <a:pPr>
              <a:buNone/>
            </a:pPr>
            <a:r>
              <a:rPr lang="en-US" altLang="ko-KR" b="1" dirty="0">
                <a:latin typeface="MS Reference Sans Serif" panose="020B0604030504040204" pitchFamily="34" charset="0"/>
              </a:rPr>
              <a:t>(2) </a:t>
            </a:r>
            <a:r>
              <a:rPr lang="ko-KR" altLang="en-US" b="1" dirty="0">
                <a:latin typeface="MS Reference Sans Serif" panose="020B0604030504040204" pitchFamily="34" charset="0"/>
              </a:rPr>
              <a:t>배열 출력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foreach (int score in scores)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    </a:t>
            </a:r>
            <a:r>
              <a:rPr lang="en-US" altLang="ko-KR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dirty="0">
                <a:latin typeface="MS Reference Sans Serif" panose="020B0604030504040204" pitchFamily="34" charset="0"/>
              </a:rPr>
              <a:t>($"{score} ");</a:t>
            </a:r>
          </a:p>
          <a:p>
            <a:pPr rtl="0">
              <a:buNone/>
            </a:pPr>
            <a:r>
              <a:rPr lang="en-US" altLang="ko-KR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dirty="0">
                <a:latin typeface="MS Reference Sans Serif" panose="020B0604030504040204" pitchFamily="34" charset="0"/>
              </a:rPr>
              <a:t>();</a:t>
            </a:r>
          </a:p>
          <a:p>
            <a:pPr rtl="0">
              <a:buNone/>
            </a:pPr>
            <a:endParaRPr lang="en-US" altLang="ko-KR" dirty="0">
              <a:latin typeface="MS Reference Sans Serif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MS Reference Sans Serif" panose="020B0604030504040204" pitchFamily="34" charset="0"/>
              </a:rPr>
              <a:t>배열의 원소를 순서대로 출력합니다</a:t>
            </a:r>
            <a:r>
              <a:rPr lang="en-US" altLang="ko-KR" dirty="0">
                <a:latin typeface="MS Reference Sans Serif" panose="020B0604030504040204" pitchFamily="34" charset="0"/>
              </a:rPr>
              <a:t>.</a:t>
            </a:r>
            <a:br>
              <a:rPr lang="en-US" altLang="ko-KR" dirty="0">
                <a:latin typeface="MS Reference Sans Serif" panose="020B0604030504040204" pitchFamily="34" charset="0"/>
              </a:rPr>
            </a:br>
            <a:r>
              <a:rPr lang="ko-KR" altLang="en-US" dirty="0">
                <a:latin typeface="MS Reference Sans Serif" panose="020B0604030504040204" pitchFamily="34" charset="0"/>
              </a:rPr>
              <a:t>출력 결과</a:t>
            </a:r>
            <a:r>
              <a:rPr lang="en-US" altLang="ko-KR" dirty="0">
                <a:latin typeface="MS Reference Sans Serif" panose="020B0604030504040204" pitchFamily="34" charset="0"/>
              </a:rPr>
              <a:t>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altLang="ko-KR" dirty="0">
                <a:latin typeface="MS Reference Sans Serif" panose="020B0604030504040204" pitchFamily="34" charset="0"/>
              </a:rPr>
              <a:t>80 74 81 90 34</a:t>
            </a:r>
          </a:p>
        </p:txBody>
      </p:sp>
    </p:spTree>
    <p:extLst>
      <p:ext uri="{BB962C8B-B14F-4D97-AF65-F5344CB8AC3E}">
        <p14:creationId xmlns:p14="http://schemas.microsoft.com/office/powerpoint/2010/main" val="12529499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854-9680-6656-C955-86F865EE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D0B6311-3B70-D7D9-2B0D-79EB71FA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61D4C-6914-8404-C93F-FA54B636BAFA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주요 로직 단계별 설명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F6819F-BA50-A3D1-8604-A295E878F7C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ECCC1F-67D8-A1A5-DECE-4CD99A6D32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412AAB3-1A9D-9233-B48F-297569C2D26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MoreOnArray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8BA166-0D60-902B-1DC7-829EF6887DE7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15A810A-0976-9BC3-7075-AABB5AB17C52}"/>
              </a:ext>
            </a:extLst>
          </p:cNvPr>
          <p:cNvSpPr txBox="1"/>
          <p:nvPr/>
        </p:nvSpPr>
        <p:spPr>
          <a:xfrm>
            <a:off x="420624" y="2191803"/>
            <a:ext cx="808939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latin typeface="MS Reference Sans Serif" panose="020B0604030504040204" pitchFamily="34" charset="0"/>
              </a:rPr>
              <a:t>(3) </a:t>
            </a:r>
            <a:r>
              <a:rPr lang="ko-KR" altLang="en-US" b="1" dirty="0">
                <a:latin typeface="MS Reference Sans Serif" panose="020B0604030504040204" pitchFamily="34" charset="0"/>
              </a:rPr>
              <a:t>배열 정렬</a:t>
            </a:r>
          </a:p>
          <a:p>
            <a:pPr rtl="0">
              <a:buNone/>
            </a:pPr>
            <a:r>
              <a:rPr lang="en-US" altLang="ko-KR" dirty="0" err="1">
                <a:latin typeface="MS Reference Sans Serif" panose="020B0604030504040204" pitchFamily="34" charset="0"/>
              </a:rPr>
              <a:t>Array.Sort</a:t>
            </a:r>
            <a:r>
              <a:rPr lang="en-US" altLang="ko-KR" dirty="0">
                <a:latin typeface="MS Reference Sans Serif" panose="020B0604030504040204" pitchFamily="34" charset="0"/>
              </a:rPr>
              <a:t>(scores);</a:t>
            </a:r>
          </a:p>
          <a:p>
            <a:pPr rtl="0">
              <a:buNone/>
            </a:pPr>
            <a:r>
              <a:rPr lang="en-US" altLang="ko-KR" dirty="0" err="1">
                <a:latin typeface="MS Reference Sans Serif" panose="020B0604030504040204" pitchFamily="34" charset="0"/>
              </a:rPr>
              <a:t>Array.ForEach</a:t>
            </a:r>
            <a:r>
              <a:rPr lang="en-US" altLang="ko-KR" dirty="0">
                <a:latin typeface="MS Reference Sans Serif" panose="020B0604030504040204" pitchFamily="34" charset="0"/>
              </a:rPr>
              <a:t>&lt;int&gt;(scores, new Action&lt;int&gt;(Print));</a:t>
            </a:r>
          </a:p>
          <a:p>
            <a:pPr rtl="0">
              <a:buNone/>
            </a:pPr>
            <a:r>
              <a:rPr lang="en-US" altLang="ko-KR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dirty="0">
                <a:latin typeface="MS Reference Sans Serif" panose="020B0604030504040204" pitchFamily="34" charset="0"/>
              </a:rPr>
              <a:t>();</a:t>
            </a:r>
          </a:p>
          <a:p>
            <a:pPr rtl="0">
              <a:buNone/>
            </a:pPr>
            <a:endParaRPr lang="en-US" altLang="ko-KR" dirty="0">
              <a:latin typeface="MS Reference Sans Serif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MS Reference Sans Serif" panose="020B0604030504040204" pitchFamily="34" charset="0"/>
              </a:rPr>
              <a:t>Array.Sort</a:t>
            </a:r>
            <a:r>
              <a:rPr lang="en-US" altLang="ko-KR" dirty="0">
                <a:latin typeface="MS Reference Sans Serif" panose="020B0604030504040204" pitchFamily="34" charset="0"/>
              </a:rPr>
              <a:t>() : </a:t>
            </a:r>
            <a:r>
              <a:rPr lang="ko-KR" altLang="en-US" dirty="0">
                <a:latin typeface="MS Reference Sans Serif" panose="020B0604030504040204" pitchFamily="34" charset="0"/>
              </a:rPr>
              <a:t>오름차순으로 정렬합니다</a:t>
            </a:r>
            <a:r>
              <a:rPr lang="en-US" altLang="ko-KR" dirty="0">
                <a:latin typeface="MS Reference Sans Serif" panose="020B060403050404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MS Reference Sans Serif" panose="020B0604030504040204" pitchFamily="34" charset="0"/>
              </a:rPr>
              <a:t>Array.ForEach</a:t>
            </a:r>
            <a:r>
              <a:rPr lang="en-US" altLang="ko-KR" dirty="0">
                <a:latin typeface="MS Reference Sans Serif" panose="020B0604030504040204" pitchFamily="34" charset="0"/>
              </a:rPr>
              <a:t>() : </a:t>
            </a:r>
            <a:r>
              <a:rPr lang="ko-KR" altLang="en-US" dirty="0">
                <a:latin typeface="MS Reference Sans Serif" panose="020B0604030504040204" pitchFamily="34" charset="0"/>
              </a:rPr>
              <a:t>각 원소마다 </a:t>
            </a:r>
            <a:r>
              <a:rPr lang="en-US" altLang="ko-KR" dirty="0">
                <a:latin typeface="MS Reference Sans Serif" panose="020B0604030504040204" pitchFamily="34" charset="0"/>
              </a:rPr>
              <a:t>Print() </a:t>
            </a:r>
            <a:r>
              <a:rPr lang="ko-KR" altLang="en-US" dirty="0">
                <a:latin typeface="MS Reference Sans Serif" panose="020B0604030504040204" pitchFamily="34" charset="0"/>
              </a:rPr>
              <a:t>메서드를 실행합니다</a:t>
            </a:r>
            <a:r>
              <a:rPr lang="en-US" altLang="ko-KR" dirty="0">
                <a:latin typeface="MS Reference Sans Serif" panose="020B0604030504040204" pitchFamily="34" charset="0"/>
              </a:rPr>
              <a:t>.</a:t>
            </a:r>
          </a:p>
          <a:p>
            <a:pPr>
              <a:buNone/>
            </a:pPr>
            <a:r>
              <a:rPr lang="ko-KR" altLang="en-US" dirty="0">
                <a:latin typeface="MS Reference Sans Serif" panose="020B0604030504040204" pitchFamily="34" charset="0"/>
              </a:rPr>
              <a:t>결과</a:t>
            </a:r>
            <a:r>
              <a:rPr lang="en-US" altLang="ko-KR" dirty="0">
                <a:latin typeface="MS Reference Sans Serif" panose="020B0604030504040204" pitchFamily="34" charset="0"/>
              </a:rPr>
              <a:t>: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34 74 80 81 90</a:t>
            </a:r>
          </a:p>
        </p:txBody>
      </p:sp>
    </p:spTree>
    <p:extLst>
      <p:ext uri="{BB962C8B-B14F-4D97-AF65-F5344CB8AC3E}">
        <p14:creationId xmlns:p14="http://schemas.microsoft.com/office/powerpoint/2010/main" val="1902686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854-9680-6656-C955-86F865EE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D0B6311-3B70-D7D9-2B0D-79EB71FA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61D4C-6914-8404-C93F-FA54B636BAFA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주요 로직 단계별 설명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F6819F-BA50-A3D1-8604-A295E878F7C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ECCC1F-67D8-A1A5-DECE-4CD99A6D32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412AAB3-1A9D-9233-B48F-297569C2D26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MoreOnArray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8BA166-0D60-902B-1DC7-829EF6887DE7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217EB65-0B7E-78B5-5634-F09FA2DB2F03}"/>
              </a:ext>
            </a:extLst>
          </p:cNvPr>
          <p:cNvSpPr txBox="1"/>
          <p:nvPr/>
        </p:nvSpPr>
        <p:spPr>
          <a:xfrm>
            <a:off x="258792" y="2146586"/>
            <a:ext cx="836411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(4) 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배열 속성 및 검색</a:t>
            </a:r>
          </a:p>
          <a:p>
            <a:pPr rtl="0">
              <a:buNone/>
            </a:pPr>
            <a:r>
              <a:rPr lang="en-US" altLang="ko-KR" sz="1600" dirty="0" err="1">
                <a:latin typeface="MS Reference Sans Serif" panose="020B0604030504040204" pitchFamily="34" charset="0"/>
                <a:ea typeface="+mj-ea"/>
              </a:rPr>
              <a:t>Console.WriteLine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($"Number of dimensions : {</a:t>
            </a:r>
            <a:r>
              <a:rPr lang="en-US" altLang="ko-KR" sz="1600" dirty="0" err="1">
                <a:latin typeface="MS Reference Sans Serif" panose="020B0604030504040204" pitchFamily="34" charset="0"/>
                <a:ea typeface="+mj-ea"/>
              </a:rPr>
              <a:t>scores.Rank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}");</a:t>
            </a:r>
          </a:p>
          <a:p>
            <a:pPr rtl="0">
              <a:buNone/>
            </a:pPr>
            <a:endParaRPr lang="en-US" altLang="ko-KR" sz="1600" dirty="0">
              <a:latin typeface="MS Reference Sans Serif" panose="020B0604030504040204" pitchFamily="34" charset="0"/>
              <a:ea typeface="+mj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Rank : </a:t>
            </a:r>
            <a:r>
              <a:rPr lang="ko-KR" altLang="en-US" sz="1600" dirty="0">
                <a:latin typeface="MS Reference Sans Serif" panose="020B0604030504040204" pitchFamily="34" charset="0"/>
                <a:ea typeface="+mj-ea"/>
              </a:rPr>
              <a:t>배열의 차원 수 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(1</a:t>
            </a:r>
            <a:r>
              <a:rPr lang="ko-KR" altLang="en-US" sz="1600" dirty="0">
                <a:latin typeface="MS Reference Sans Serif" panose="020B0604030504040204" pitchFamily="34" charset="0"/>
                <a:ea typeface="+mj-ea"/>
              </a:rPr>
              <a:t>차원 배열이므로 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1</a:t>
            </a:r>
            <a:r>
              <a:rPr lang="ko-KR" altLang="en-US" sz="1600" dirty="0">
                <a:latin typeface="MS Reference Sans Serif" panose="020B0604030504040204" pitchFamily="34" charset="0"/>
                <a:ea typeface="+mj-ea"/>
              </a:rPr>
              <a:t> 출력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600" dirty="0">
              <a:latin typeface="MS Reference Sans Serif" panose="020B0604030504040204" pitchFamily="34" charset="0"/>
              <a:ea typeface="+mj-ea"/>
            </a:endParaRPr>
          </a:p>
          <a:p>
            <a:pPr rtl="0">
              <a:buNone/>
            </a:pPr>
            <a:r>
              <a:rPr lang="en-US" altLang="ko-KR" sz="1600" dirty="0" err="1">
                <a:latin typeface="MS Reference Sans Serif" panose="020B0604030504040204" pitchFamily="34" charset="0"/>
                <a:ea typeface="+mj-ea"/>
              </a:rPr>
              <a:t>Console.WriteLine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($"Binary Search : 81 is at " +    $"{</a:t>
            </a:r>
            <a:r>
              <a:rPr lang="en-US" altLang="ko-KR" sz="1600" dirty="0" err="1">
                <a:latin typeface="MS Reference Sans Serif" panose="020B0604030504040204" pitchFamily="34" charset="0"/>
                <a:ea typeface="+mj-ea"/>
              </a:rPr>
              <a:t>Array.BinarySearch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&lt;int&gt;(scores, 81)}");</a:t>
            </a:r>
          </a:p>
          <a:p>
            <a:pPr rtl="0">
              <a:buNone/>
            </a:pPr>
            <a:endParaRPr lang="en-US" altLang="ko-KR" sz="1600" dirty="0">
              <a:latin typeface="MS Reference Sans Serif" panose="020B0604030504040204" pitchFamily="34" charset="0"/>
              <a:ea typeface="+mj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MS Reference Sans Serif" panose="020B0604030504040204" pitchFamily="34" charset="0"/>
                <a:ea typeface="+mj-ea"/>
              </a:rPr>
              <a:t>Array.BinarySearch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() : </a:t>
            </a:r>
            <a:r>
              <a:rPr lang="ko-KR" altLang="en-US" sz="1600" b="1" dirty="0">
                <a:latin typeface="MS Reference Sans Serif" panose="020B0604030504040204" pitchFamily="34" charset="0"/>
                <a:ea typeface="+mj-ea"/>
              </a:rPr>
              <a:t>정렬된 배열</a:t>
            </a:r>
            <a:r>
              <a:rPr lang="ko-KR" altLang="en-US" sz="1600" dirty="0">
                <a:latin typeface="MS Reference Sans Serif" panose="020B0604030504040204" pitchFamily="34" charset="0"/>
                <a:ea typeface="+mj-ea"/>
              </a:rPr>
              <a:t>에서 이진 탐색 수행→ 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81</a:t>
            </a:r>
            <a:r>
              <a:rPr lang="ko-KR" altLang="en-US" sz="1600" dirty="0">
                <a:latin typeface="MS Reference Sans Serif" panose="020B0604030504040204" pitchFamily="34" charset="0"/>
                <a:ea typeface="+mj-ea"/>
              </a:rPr>
              <a:t>의 인덱스는 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3</a:t>
            </a:r>
            <a:r>
              <a:rPr lang="ko-KR" altLang="en-US" sz="1600" dirty="0">
                <a:latin typeface="MS Reference Sans Serif" panose="020B0604030504040204" pitchFamily="34" charset="0"/>
                <a:ea typeface="+mj-ea"/>
              </a:rPr>
              <a:t> 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(0-based index)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600" dirty="0">
              <a:latin typeface="MS Reference Sans Serif" panose="020B0604030504040204" pitchFamily="34" charset="0"/>
              <a:ea typeface="+mj-ea"/>
            </a:endParaRPr>
          </a:p>
          <a:p>
            <a:pPr rtl="0">
              <a:buNone/>
            </a:pPr>
            <a:r>
              <a:rPr lang="en-US" altLang="ko-KR" sz="1600" dirty="0" err="1">
                <a:latin typeface="MS Reference Sans Serif" panose="020B0604030504040204" pitchFamily="34" charset="0"/>
                <a:ea typeface="+mj-ea"/>
              </a:rPr>
              <a:t>Console.WriteLine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($"Linear Search : 90 is at " +    $"{</a:t>
            </a:r>
            <a:r>
              <a:rPr lang="en-US" altLang="ko-KR" sz="1600" dirty="0" err="1">
                <a:latin typeface="MS Reference Sans Serif" panose="020B0604030504040204" pitchFamily="34" charset="0"/>
                <a:ea typeface="+mj-ea"/>
              </a:rPr>
              <a:t>Array.IndexOf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(scores, 90)}");</a:t>
            </a:r>
          </a:p>
          <a:p>
            <a:pPr rtl="0">
              <a:buNone/>
            </a:pPr>
            <a:endParaRPr lang="en-US" altLang="ko-KR" sz="1600" dirty="0">
              <a:latin typeface="MS Reference Sans Serif" panose="020B0604030504040204" pitchFamily="34" charset="0"/>
              <a:ea typeface="+mj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MS Reference Sans Serif" panose="020B0604030504040204" pitchFamily="34" charset="0"/>
                <a:ea typeface="+mj-ea"/>
              </a:rPr>
              <a:t>Array.IndexOf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() : </a:t>
            </a:r>
            <a:r>
              <a:rPr lang="ko-KR" altLang="en-US" sz="1600" dirty="0">
                <a:latin typeface="MS Reference Sans Serif" panose="020B0604030504040204" pitchFamily="34" charset="0"/>
                <a:ea typeface="+mj-ea"/>
              </a:rPr>
              <a:t>순차 탐색으로 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90</a:t>
            </a:r>
            <a:r>
              <a:rPr lang="ko-KR" altLang="en-US" sz="1600" dirty="0">
                <a:latin typeface="MS Reference Sans Serif" panose="020B0604030504040204" pitchFamily="34" charset="0"/>
                <a:ea typeface="+mj-ea"/>
              </a:rPr>
              <a:t>의 인덱스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(4</a:t>
            </a:r>
            <a:r>
              <a:rPr lang="ko-KR" altLang="en-US" sz="1600" dirty="0">
                <a:latin typeface="MS Reference Sans Serif" panose="020B0604030504040204" pitchFamily="34" charset="0"/>
                <a:ea typeface="+mj-ea"/>
              </a:rPr>
              <a:t>번째 → </a:t>
            </a:r>
            <a:r>
              <a:rPr lang="en-US" altLang="ko-KR" sz="1600" dirty="0">
                <a:latin typeface="MS Reference Sans Serif" panose="020B0604030504040204" pitchFamily="34" charset="0"/>
                <a:ea typeface="+mj-ea"/>
              </a:rPr>
              <a:t>4) </a:t>
            </a:r>
            <a:r>
              <a:rPr lang="ko-KR" altLang="en-US" sz="1600" dirty="0">
                <a:latin typeface="MS Reference Sans Serif" panose="020B0604030504040204" pitchFamily="34" charset="0"/>
                <a:ea typeface="+mj-ea"/>
              </a:rPr>
              <a:t>반환</a:t>
            </a:r>
          </a:p>
        </p:txBody>
      </p:sp>
    </p:spTree>
    <p:extLst>
      <p:ext uri="{BB962C8B-B14F-4D97-AF65-F5344CB8AC3E}">
        <p14:creationId xmlns:p14="http://schemas.microsoft.com/office/powerpoint/2010/main" val="3315230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854-9680-6656-C955-86F865EE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D0B6311-3B70-D7D9-2B0D-79EB71FA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61D4C-6914-8404-C93F-FA54B636BAFA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주요 로직 단계별 설명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F6819F-BA50-A3D1-8604-A295E878F7C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ECCC1F-67D8-A1A5-DECE-4CD99A6D32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412AAB3-1A9D-9233-B48F-297569C2D26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MoreOnArray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8BA166-0D60-902B-1DC7-829EF6887DE7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5652A32-1B81-E54F-C020-A94D1B062F3C}"/>
              </a:ext>
            </a:extLst>
          </p:cNvPr>
          <p:cNvSpPr txBox="1"/>
          <p:nvPr/>
        </p:nvSpPr>
        <p:spPr>
          <a:xfrm>
            <a:off x="198408" y="2053304"/>
            <a:ext cx="874718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latin typeface="MS Reference Sans Serif" panose="020B0604030504040204" pitchFamily="34" charset="0"/>
              </a:rPr>
              <a:t>(5)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모든 점수 통과 여부 확인</a:t>
            </a:r>
          </a:p>
          <a:p>
            <a:pPr rtl="0">
              <a:buNone/>
            </a:pPr>
            <a:r>
              <a:rPr lang="en-US" altLang="ko-KR" sz="1400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dirty="0">
                <a:latin typeface="MS Reference Sans Serif" panose="020B0604030504040204" pitchFamily="34" charset="0"/>
              </a:rPr>
              <a:t>($"Everyone passed ? : " +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    $"{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Array.TrueForAll</a:t>
            </a:r>
            <a:r>
              <a:rPr lang="en-US" altLang="ko-KR" sz="1400" dirty="0">
                <a:latin typeface="MS Reference Sans Serif" panose="020B0604030504040204" pitchFamily="34" charset="0"/>
              </a:rPr>
              <a:t>&lt;int&gt;(scores,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CheckPassed</a:t>
            </a:r>
            <a:r>
              <a:rPr lang="en-US" altLang="ko-KR" sz="1400" dirty="0">
                <a:latin typeface="MS Reference Sans Serif" panose="020B0604030504040204" pitchFamily="34" charset="0"/>
              </a:rPr>
              <a:t>)}");</a:t>
            </a:r>
          </a:p>
          <a:p>
            <a:pPr rtl="0">
              <a:buNone/>
            </a:pPr>
            <a:endParaRPr lang="en-US" altLang="ko-KR" sz="1600" dirty="0">
              <a:latin typeface="MS Reference Sans Serif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MS Reference Sans Serif" panose="020B0604030504040204" pitchFamily="34" charset="0"/>
              </a:rPr>
              <a:t>Array.TrueForAll</a:t>
            </a:r>
            <a:r>
              <a:rPr lang="en-US" altLang="ko-KR" sz="1600" dirty="0">
                <a:latin typeface="MS Reference Sans Serif" panose="020B0604030504040204" pitchFamily="34" charset="0"/>
              </a:rPr>
              <a:t>() : </a:t>
            </a:r>
            <a:r>
              <a:rPr lang="ko-KR" altLang="en-US" sz="1600" dirty="0">
                <a:latin typeface="MS Reference Sans Serif" panose="020B0604030504040204" pitchFamily="34" charset="0"/>
              </a:rPr>
              <a:t>배열의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모든 원소가 조건을 만족하는지</a:t>
            </a:r>
            <a:r>
              <a:rPr lang="ko-KR" altLang="en-US" sz="1600" dirty="0">
                <a:latin typeface="MS Reference Sans Serif" panose="020B0604030504040204" pitchFamily="34" charset="0"/>
              </a:rPr>
              <a:t> 검사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MS Reference Sans Serif" panose="020B0604030504040204" pitchFamily="34" charset="0"/>
              </a:rPr>
              <a:t>CheckPassed</a:t>
            </a:r>
            <a:r>
              <a:rPr lang="en-US" altLang="ko-KR" sz="1600" dirty="0">
                <a:latin typeface="MS Reference Sans Serif" panose="020B0604030504040204" pitchFamily="34" charset="0"/>
              </a:rPr>
              <a:t>()</a:t>
            </a:r>
            <a:r>
              <a:rPr lang="ko-KR" altLang="en-US" sz="1600" dirty="0">
                <a:latin typeface="MS Reference Sans Serif" panose="020B0604030504040204" pitchFamily="34" charset="0"/>
              </a:rPr>
              <a:t>는 점수가 </a:t>
            </a:r>
            <a:r>
              <a:rPr lang="en-US" altLang="ko-KR" sz="1600" dirty="0">
                <a:latin typeface="MS Reference Sans Serif" panose="020B0604030504040204" pitchFamily="34" charset="0"/>
              </a:rPr>
              <a:t>60</a:t>
            </a:r>
            <a:r>
              <a:rPr lang="ko-KR" altLang="en-US" sz="1600" dirty="0">
                <a:latin typeface="MS Reference Sans Serif" panose="020B0604030504040204" pitchFamily="34" charset="0"/>
              </a:rPr>
              <a:t>점 이상일 때 </a:t>
            </a:r>
            <a:r>
              <a:rPr lang="en-US" altLang="ko-KR" sz="1600" dirty="0">
                <a:latin typeface="MS Reference Sans Serif" panose="020B0604030504040204" pitchFamily="34" charset="0"/>
              </a:rPr>
              <a:t>true</a:t>
            </a:r>
            <a:r>
              <a:rPr lang="ko-KR" altLang="en-US" sz="1600" dirty="0">
                <a:latin typeface="MS Reference Sans Serif" panose="020B0604030504040204" pitchFamily="34" charset="0"/>
              </a:rPr>
              <a:t>를 반환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MS Reference Sans Serif" panose="020B0604030504040204" pitchFamily="34" charset="0"/>
              </a:rPr>
              <a:t>현재 배열에 </a:t>
            </a:r>
            <a:r>
              <a:rPr lang="en-US" altLang="ko-KR" sz="1600" dirty="0">
                <a:latin typeface="MS Reference Sans Serif" panose="020B0604030504040204" pitchFamily="34" charset="0"/>
              </a:rPr>
              <a:t>34</a:t>
            </a:r>
            <a:r>
              <a:rPr lang="ko-KR" altLang="en-US" sz="1600" dirty="0">
                <a:latin typeface="MS Reference Sans Serif" panose="020B0604030504040204" pitchFamily="34" charset="0"/>
              </a:rPr>
              <a:t>가 있으므로 출력</a:t>
            </a:r>
            <a:r>
              <a:rPr lang="en-US" altLang="ko-KR" sz="1600" dirty="0">
                <a:latin typeface="MS Reference Sans Serif" panose="020B0604030504040204" pitchFamily="34" charset="0"/>
              </a:rPr>
              <a:t>: Everyone passed ? : False</a:t>
            </a:r>
            <a:br>
              <a:rPr lang="en-US" altLang="ko-KR" sz="1600" dirty="0">
                <a:latin typeface="MS Reference Sans Serif" panose="020B0604030504040204" pitchFamily="34" charset="0"/>
              </a:rPr>
            </a:br>
            <a:endParaRPr lang="en-US" altLang="ko-KR" sz="1600" dirty="0">
              <a:latin typeface="MS Reference Sans Serif" panose="020B0604030504040204" pitchFamily="34" charset="0"/>
            </a:endParaRPr>
          </a:p>
          <a:p>
            <a:pPr>
              <a:buNone/>
            </a:pPr>
            <a:r>
              <a:rPr lang="en-US" altLang="ko-KR" sz="1600" b="1" dirty="0">
                <a:latin typeface="MS Reference Sans Serif" panose="020B0604030504040204" pitchFamily="34" charset="0"/>
              </a:rPr>
              <a:t>(6)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첫 불합격자 수정 후 다시 검사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int index =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Array.FindIndex</a:t>
            </a:r>
            <a:r>
              <a:rPr lang="en-US" altLang="ko-KR" sz="1400" dirty="0">
                <a:latin typeface="MS Reference Sans Serif" panose="020B0604030504040204" pitchFamily="34" charset="0"/>
              </a:rPr>
              <a:t>&lt;int&gt;(scores, (score) =&gt; score &lt; 60);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scores[index] = 61;</a:t>
            </a:r>
          </a:p>
          <a:p>
            <a:pPr rtl="0">
              <a:buNone/>
            </a:pPr>
            <a:r>
              <a:rPr lang="en-US" altLang="ko-KR" sz="1400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dirty="0">
                <a:latin typeface="MS Reference Sans Serif" panose="020B0604030504040204" pitchFamily="34" charset="0"/>
              </a:rPr>
              <a:t>($"Everyone passed ? : " +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    $"{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Array.TrueForAll</a:t>
            </a:r>
            <a:r>
              <a:rPr lang="en-US" altLang="ko-KR" sz="1400" dirty="0">
                <a:latin typeface="MS Reference Sans Serif" panose="020B0604030504040204" pitchFamily="34" charset="0"/>
              </a:rPr>
              <a:t>&lt;int&gt;(scores,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CheckPassed</a:t>
            </a:r>
            <a:r>
              <a:rPr lang="en-US" altLang="ko-KR" sz="1400" dirty="0">
                <a:latin typeface="MS Reference Sans Serif" panose="020B0604030504040204" pitchFamily="34" charset="0"/>
              </a:rPr>
              <a:t>)}");</a:t>
            </a:r>
          </a:p>
          <a:p>
            <a:pPr rtl="0">
              <a:buNone/>
            </a:pPr>
            <a:endParaRPr lang="en-US" altLang="ko-KR" sz="1600" dirty="0">
              <a:latin typeface="MS Reference Sans Serif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MS Reference Sans Serif" panose="020B0604030504040204" pitchFamily="34" charset="0"/>
              </a:rPr>
              <a:t>Array.FindIndex</a:t>
            </a:r>
            <a:r>
              <a:rPr lang="en-US" altLang="ko-KR" sz="1600" dirty="0">
                <a:latin typeface="MS Reference Sans Serif" panose="020B0604030504040204" pitchFamily="34" charset="0"/>
              </a:rPr>
              <a:t>() : </a:t>
            </a:r>
            <a:r>
              <a:rPr lang="ko-KR" altLang="en-US" sz="1600" dirty="0">
                <a:latin typeface="MS Reference Sans Serif" panose="020B0604030504040204" pitchFamily="34" charset="0"/>
              </a:rPr>
              <a:t>조건</a:t>
            </a:r>
            <a:r>
              <a:rPr lang="en-US" altLang="ko-KR" sz="1600" dirty="0">
                <a:latin typeface="MS Reference Sans Serif" panose="020B0604030504040204" pitchFamily="34" charset="0"/>
              </a:rPr>
              <a:t>(score &lt; 60)</a:t>
            </a:r>
            <a:r>
              <a:rPr lang="ko-KR" altLang="en-US" sz="1600" dirty="0">
                <a:latin typeface="MS Reference Sans Serif" panose="020B0604030504040204" pitchFamily="34" charset="0"/>
              </a:rPr>
              <a:t>에 맞는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첫 번째 원소의 인덱스</a:t>
            </a:r>
            <a:r>
              <a:rPr lang="ko-KR" altLang="en-US" sz="1600" dirty="0">
                <a:latin typeface="MS Reference Sans Serif" panose="020B0604030504040204" pitchFamily="34" charset="0"/>
              </a:rPr>
              <a:t> 찾기 → </a:t>
            </a:r>
            <a:r>
              <a:rPr lang="en-US" altLang="ko-KR" sz="1600" dirty="0">
                <a:latin typeface="MS Reference Sans Serif" panose="020B0604030504040204" pitchFamily="34" charset="0"/>
              </a:rPr>
              <a:t>0</a:t>
            </a:r>
            <a:r>
              <a:rPr lang="ko-KR" altLang="en-US" sz="1600" dirty="0">
                <a:latin typeface="MS Reference Sans Serif" panose="020B0604030504040204" pitchFamily="34" charset="0"/>
              </a:rPr>
              <a:t>번째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MS Reference Sans Serif" panose="020B0604030504040204" pitchFamily="34" charset="0"/>
              </a:rPr>
              <a:t>해당 원소</a:t>
            </a:r>
            <a:r>
              <a:rPr lang="en-US" altLang="ko-KR" sz="1600" dirty="0">
                <a:latin typeface="MS Reference Sans Serif" panose="020B0604030504040204" pitchFamily="34" charset="0"/>
              </a:rPr>
              <a:t>(34)</a:t>
            </a:r>
            <a:r>
              <a:rPr lang="ko-KR" altLang="en-US" sz="1600" dirty="0">
                <a:latin typeface="MS Reference Sans Serif" panose="020B0604030504040204" pitchFamily="34" charset="0"/>
              </a:rPr>
              <a:t>를 </a:t>
            </a:r>
            <a:r>
              <a:rPr lang="en-US" altLang="ko-KR" sz="1600" dirty="0">
                <a:latin typeface="MS Reference Sans Serif" panose="020B0604030504040204" pitchFamily="34" charset="0"/>
              </a:rPr>
              <a:t>61</a:t>
            </a:r>
            <a:r>
              <a:rPr lang="ko-KR" altLang="en-US" sz="1600" dirty="0">
                <a:latin typeface="MS Reference Sans Serif" panose="020B0604030504040204" pitchFamily="34" charset="0"/>
              </a:rPr>
              <a:t>로 수정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MS Reference Sans Serif" panose="020B0604030504040204" pitchFamily="34" charset="0"/>
              </a:rPr>
              <a:t>이제 모두 </a:t>
            </a:r>
            <a:r>
              <a:rPr lang="en-US" altLang="ko-KR" sz="1600" dirty="0">
                <a:latin typeface="MS Reference Sans Serif" panose="020B0604030504040204" pitchFamily="34" charset="0"/>
              </a:rPr>
              <a:t>60</a:t>
            </a:r>
            <a:r>
              <a:rPr lang="ko-KR" altLang="en-US" sz="1600" dirty="0">
                <a:latin typeface="MS Reference Sans Serif" panose="020B0604030504040204" pitchFamily="34" charset="0"/>
              </a:rPr>
              <a:t>점 이상이므로</a:t>
            </a:r>
            <a:br>
              <a:rPr lang="ko-KR" altLang="en-US" sz="1600" dirty="0">
                <a:latin typeface="MS Reference Sans Serif" panose="020B0604030504040204" pitchFamily="34" charset="0"/>
              </a:rPr>
            </a:br>
            <a:r>
              <a:rPr lang="ko-KR" altLang="en-US" sz="1600" dirty="0">
                <a:latin typeface="MS Reference Sans Serif" panose="020B0604030504040204" pitchFamily="34" charset="0"/>
              </a:rPr>
              <a:t>출력</a:t>
            </a:r>
            <a:r>
              <a:rPr lang="en-US" altLang="ko-KR" sz="1600" dirty="0">
                <a:latin typeface="MS Reference Sans Serif" panose="020B0604030504040204" pitchFamily="34" charset="0"/>
              </a:rPr>
              <a:t>: Everyone passed ? : True</a:t>
            </a:r>
          </a:p>
        </p:txBody>
      </p:sp>
    </p:spTree>
    <p:extLst>
      <p:ext uri="{BB962C8B-B14F-4D97-AF65-F5344CB8AC3E}">
        <p14:creationId xmlns:p14="http://schemas.microsoft.com/office/powerpoint/2010/main" val="15773216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854-9680-6656-C955-86F865EE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D0B6311-3B70-D7D9-2B0D-79EB71FA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61D4C-6914-8404-C93F-FA54B636BAFA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주요 로직 단계별 설명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F6819F-BA50-A3D1-8604-A295E878F7C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ECCC1F-67D8-A1A5-DECE-4CD99A6D32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412AAB3-1A9D-9233-B48F-297569C2D26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MoreOnArray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8BA166-0D60-902B-1DC7-829EF6887DE7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DA03CF5-D896-4C62-2A79-F0052DBE6B7D}"/>
              </a:ext>
            </a:extLst>
          </p:cNvPr>
          <p:cNvSpPr txBox="1"/>
          <p:nvPr/>
        </p:nvSpPr>
        <p:spPr>
          <a:xfrm>
            <a:off x="281801" y="2071141"/>
            <a:ext cx="858039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latin typeface="MS Reference Sans Serif" panose="020B0604030504040204" pitchFamily="34" charset="0"/>
              </a:rPr>
              <a:t>(7) </a:t>
            </a:r>
            <a:r>
              <a:rPr lang="ko-KR" altLang="en-US" b="1" dirty="0">
                <a:latin typeface="MS Reference Sans Serif" panose="020B0604030504040204" pitchFamily="34" charset="0"/>
              </a:rPr>
              <a:t>배열 크기 변경</a:t>
            </a:r>
          </a:p>
          <a:p>
            <a:pPr rtl="0">
              <a:buNone/>
            </a:pPr>
            <a:r>
              <a:rPr lang="en-US" altLang="ko-KR" sz="1400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dirty="0">
                <a:latin typeface="MS Reference Sans Serif" panose="020B0604030504040204" pitchFamily="34" charset="0"/>
              </a:rPr>
              <a:t>("Old length of scores : " + $"{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scores.GetLength</a:t>
            </a:r>
            <a:r>
              <a:rPr lang="en-US" altLang="ko-KR" sz="1400" dirty="0">
                <a:latin typeface="MS Reference Sans Serif" panose="020B0604030504040204" pitchFamily="34" charset="0"/>
              </a:rPr>
              <a:t>(0)}");</a:t>
            </a:r>
          </a:p>
          <a:p>
            <a:pPr rtl="0">
              <a:buNone/>
            </a:pPr>
            <a:r>
              <a:rPr lang="en-US" altLang="ko-KR" sz="1400" dirty="0" err="1">
                <a:latin typeface="MS Reference Sans Serif" panose="020B0604030504040204" pitchFamily="34" charset="0"/>
              </a:rPr>
              <a:t>Array.Resize</a:t>
            </a:r>
            <a:r>
              <a:rPr lang="en-US" altLang="ko-KR" sz="1400" dirty="0">
                <a:latin typeface="MS Reference Sans Serif" panose="020B0604030504040204" pitchFamily="34" charset="0"/>
              </a:rPr>
              <a:t>&lt;int&gt;(ref scores, 10);</a:t>
            </a:r>
          </a:p>
          <a:p>
            <a:pPr rtl="0">
              <a:buNone/>
            </a:pPr>
            <a:r>
              <a:rPr lang="en-US" altLang="ko-KR" sz="1400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dirty="0">
                <a:latin typeface="MS Reference Sans Serif" panose="020B0604030504040204" pitchFamily="34" charset="0"/>
              </a:rPr>
              <a:t>($"New length of scores : {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scores.Length</a:t>
            </a:r>
            <a:r>
              <a:rPr lang="en-US" altLang="ko-KR" sz="1400" dirty="0">
                <a:latin typeface="MS Reference Sans Serif" panose="020B0604030504040204" pitchFamily="34" charset="0"/>
              </a:rPr>
              <a:t>}");</a:t>
            </a:r>
          </a:p>
          <a:p>
            <a:pPr rtl="0">
              <a:buNone/>
            </a:pPr>
            <a:r>
              <a:rPr lang="en-US" altLang="ko-KR" sz="1400" dirty="0" err="1">
                <a:latin typeface="MS Reference Sans Serif" panose="020B0604030504040204" pitchFamily="34" charset="0"/>
              </a:rPr>
              <a:t>Array.ForEach</a:t>
            </a:r>
            <a:r>
              <a:rPr lang="en-US" altLang="ko-KR" sz="1400" dirty="0">
                <a:latin typeface="MS Reference Sans Serif" panose="020B0604030504040204" pitchFamily="34" charset="0"/>
              </a:rPr>
              <a:t>&lt;int&gt;(scores, new Action&lt;int&gt;(Print));</a:t>
            </a:r>
          </a:p>
          <a:p>
            <a:pPr rtl="0">
              <a:buNone/>
            </a:pPr>
            <a:r>
              <a:rPr lang="en-US" altLang="ko-KR" sz="1400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dirty="0">
                <a:latin typeface="MS Reference Sans Serif" panose="020B0604030504040204" pitchFamily="34" charset="0"/>
              </a:rPr>
              <a:t>();</a:t>
            </a:r>
          </a:p>
          <a:p>
            <a:pPr rtl="0">
              <a:buNone/>
            </a:pPr>
            <a:endParaRPr lang="en-US" altLang="ko-KR" dirty="0">
              <a:latin typeface="MS Reference Sans Serif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MS Reference Sans Serif" panose="020B0604030504040204" pitchFamily="34" charset="0"/>
              </a:rPr>
              <a:t>GetLength</a:t>
            </a:r>
            <a:r>
              <a:rPr lang="en-US" altLang="ko-KR" dirty="0">
                <a:latin typeface="MS Reference Sans Serif" panose="020B0604030504040204" pitchFamily="34" charset="0"/>
              </a:rPr>
              <a:t>(0) : </a:t>
            </a:r>
            <a:r>
              <a:rPr lang="ko-KR" altLang="en-US" dirty="0">
                <a:latin typeface="MS Reference Sans Serif" panose="020B0604030504040204" pitchFamily="34" charset="0"/>
              </a:rPr>
              <a:t>배열의 길이 반환 </a:t>
            </a:r>
            <a:r>
              <a:rPr lang="en-US" altLang="ko-KR" dirty="0">
                <a:latin typeface="MS Reference Sans Serif" panose="020B0604030504040204" pitchFamily="34" charset="0"/>
              </a:rPr>
              <a:t>(5)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MS Reference Sans Serif" panose="020B0604030504040204" pitchFamily="34" charset="0"/>
              </a:rPr>
              <a:t>Array.Resize</a:t>
            </a:r>
            <a:r>
              <a:rPr lang="en-US" altLang="ko-KR" dirty="0">
                <a:latin typeface="MS Reference Sans Serif" panose="020B0604030504040204" pitchFamily="34" charset="0"/>
              </a:rPr>
              <a:t>() : </a:t>
            </a:r>
            <a:r>
              <a:rPr lang="ko-KR" altLang="en-US" dirty="0">
                <a:latin typeface="MS Reference Sans Serif" panose="020B0604030504040204" pitchFamily="34" charset="0"/>
              </a:rPr>
              <a:t>배열 크기를 </a:t>
            </a:r>
            <a:r>
              <a:rPr lang="en-US" altLang="ko-KR" dirty="0">
                <a:latin typeface="MS Reference Sans Serif" panose="020B0604030504040204" pitchFamily="34" charset="0"/>
              </a:rPr>
              <a:t>10</a:t>
            </a:r>
            <a:r>
              <a:rPr lang="ko-KR" altLang="en-US" dirty="0">
                <a:latin typeface="MS Reference Sans Serif" panose="020B0604030504040204" pitchFamily="34" charset="0"/>
              </a:rPr>
              <a:t>으로 변경</a:t>
            </a:r>
            <a:br>
              <a:rPr lang="ko-KR" altLang="en-US" dirty="0">
                <a:latin typeface="MS Reference Sans Serif" panose="020B0604030504040204" pitchFamily="34" charset="0"/>
              </a:rPr>
            </a:br>
            <a:r>
              <a:rPr lang="ko-KR" altLang="en-US" dirty="0">
                <a:latin typeface="MS Reference Sans Serif" panose="020B0604030504040204" pitchFamily="34" charset="0"/>
              </a:rPr>
              <a:t>→ 기존 데이터 유지</a:t>
            </a:r>
            <a:r>
              <a:rPr lang="en-US" altLang="ko-KR" dirty="0">
                <a:latin typeface="MS Reference Sans Serif" panose="020B0604030504040204" pitchFamily="34" charset="0"/>
              </a:rPr>
              <a:t>, </a:t>
            </a:r>
            <a:r>
              <a:rPr lang="ko-KR" altLang="en-US" dirty="0">
                <a:latin typeface="MS Reference Sans Serif" panose="020B0604030504040204" pitchFamily="34" charset="0"/>
              </a:rPr>
              <a:t>새 요소</a:t>
            </a:r>
            <a:r>
              <a:rPr lang="en-US" altLang="ko-KR" dirty="0">
                <a:latin typeface="MS Reference Sans Serif" panose="020B0604030504040204" pitchFamily="34" charset="0"/>
              </a:rPr>
              <a:t>(5</a:t>
            </a:r>
            <a:r>
              <a:rPr lang="ko-KR" altLang="en-US" dirty="0">
                <a:latin typeface="MS Reference Sans Serif" panose="020B0604030504040204" pitchFamily="34" charset="0"/>
              </a:rPr>
              <a:t>개</a:t>
            </a:r>
            <a:r>
              <a:rPr lang="en-US" altLang="ko-KR" dirty="0">
                <a:latin typeface="MS Reference Sans Serif" panose="020B0604030504040204" pitchFamily="34" charset="0"/>
              </a:rPr>
              <a:t>)</a:t>
            </a:r>
            <a:r>
              <a:rPr lang="ko-KR" altLang="en-US" dirty="0">
                <a:latin typeface="MS Reference Sans Serif" panose="020B0604030504040204" pitchFamily="34" charset="0"/>
              </a:rPr>
              <a:t>는 기본값 </a:t>
            </a:r>
            <a:r>
              <a:rPr lang="en-US" altLang="ko-KR" dirty="0">
                <a:latin typeface="MS Reference Sans Serif" panose="020B0604030504040204" pitchFamily="34" charset="0"/>
              </a:rPr>
              <a:t>0</a:t>
            </a:r>
            <a:r>
              <a:rPr lang="ko-KR" altLang="en-US" dirty="0">
                <a:latin typeface="MS Reference Sans Serif" panose="020B0604030504040204" pitchFamily="34" charset="0"/>
              </a:rPr>
              <a:t>으로 </a:t>
            </a:r>
            <a:r>
              <a:rPr lang="ko-KR" altLang="en-US" dirty="0" err="1">
                <a:latin typeface="MS Reference Sans Serif" panose="020B0604030504040204" pitchFamily="34" charset="0"/>
              </a:rPr>
              <a:t>채워짐</a:t>
            </a:r>
            <a:endParaRPr lang="en-US" altLang="ko-KR" dirty="0">
              <a:latin typeface="MS Reference Sans Serif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>
              <a:latin typeface="MS Reference Sans Serif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MS Reference Sans Serif" panose="020B0604030504040204" pitchFamily="34" charset="0"/>
              </a:rPr>
              <a:t>길이 </a:t>
            </a:r>
            <a:r>
              <a:rPr lang="en-US" altLang="ko-KR" dirty="0">
                <a:latin typeface="MS Reference Sans Serif" panose="020B0604030504040204" pitchFamily="34" charset="0"/>
              </a:rPr>
              <a:t>10</a:t>
            </a:r>
            <a:r>
              <a:rPr lang="ko-KR" altLang="en-US" dirty="0">
                <a:latin typeface="MS Reference Sans Serif" panose="020B0604030504040204" pitchFamily="34" charset="0"/>
              </a:rPr>
              <a:t>으로 </a:t>
            </a:r>
            <a:r>
              <a:rPr lang="en-US" altLang="ko-KR" dirty="0">
                <a:latin typeface="MS Reference Sans Serif" panose="020B0604030504040204" pitchFamily="34" charset="0"/>
              </a:rPr>
              <a:t>Resize</a:t>
            </a:r>
            <a:r>
              <a:rPr lang="ko-KR" altLang="en-US" dirty="0">
                <a:latin typeface="MS Reference Sans Serif" panose="020B0604030504040204" pitchFamily="34" charset="0"/>
              </a:rPr>
              <a:t> 후</a:t>
            </a:r>
            <a:r>
              <a:rPr lang="en-US" altLang="ko-KR" dirty="0">
                <a:latin typeface="MS Reference Sans Serif" panose="020B0604030504040204" pitchFamily="34" charset="0"/>
              </a:rPr>
              <a:t>: 61 74 80 81 90 0 0 0 </a:t>
            </a:r>
            <a:r>
              <a:rPr lang="en-US" altLang="ko-KR">
                <a:latin typeface="MS Reference Sans Serif" panose="020B0604030504040204" pitchFamily="34" charset="0"/>
              </a:rPr>
              <a:t>0 0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9979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854-9680-6656-C955-86F865EE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D0B6311-3B70-D7D9-2B0D-79EB71FA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System.Array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61D4C-6914-8404-C93F-FA54B636BAFA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주요 로직 단계별 설명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F6819F-BA50-A3D1-8604-A295E878F7C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ECCC1F-67D8-A1A5-DECE-4CD99A6D32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412AAB3-1A9D-9233-B48F-297569C2D26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MoreOnArray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8BA166-0D60-902B-1DC7-829EF6887DE7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CEB5955-9A20-B8F2-D0DE-2924BA7C7D68}"/>
              </a:ext>
            </a:extLst>
          </p:cNvPr>
          <p:cNvSpPr txBox="1"/>
          <p:nvPr/>
        </p:nvSpPr>
        <p:spPr>
          <a:xfrm>
            <a:off x="258792" y="2416386"/>
            <a:ext cx="862641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latin typeface="MS Reference Sans Serif" panose="020B0604030504040204" pitchFamily="34" charset="0"/>
              </a:rPr>
              <a:t>(8) </a:t>
            </a:r>
            <a:r>
              <a:rPr lang="ko-KR" altLang="en-US" b="1" dirty="0">
                <a:latin typeface="MS Reference Sans Serif" panose="020B0604030504040204" pitchFamily="34" charset="0"/>
              </a:rPr>
              <a:t>배열 일부 초기화 </a:t>
            </a:r>
            <a:r>
              <a:rPr lang="en-US" altLang="ko-KR" b="1" dirty="0">
                <a:latin typeface="MS Reference Sans Serif" panose="020B0604030504040204" pitchFamily="34" charset="0"/>
              </a:rPr>
              <a:t>(</a:t>
            </a:r>
            <a:r>
              <a:rPr lang="ko-KR" altLang="en-US" b="1" dirty="0">
                <a:latin typeface="MS Reference Sans Serif" panose="020B0604030504040204" pitchFamily="34" charset="0"/>
              </a:rPr>
              <a:t>지우기</a:t>
            </a:r>
            <a:r>
              <a:rPr lang="en-US" altLang="ko-KR" b="1" dirty="0">
                <a:latin typeface="MS Reference Sans Serif" panose="020B0604030504040204" pitchFamily="34" charset="0"/>
              </a:rPr>
              <a:t>)</a:t>
            </a:r>
          </a:p>
          <a:p>
            <a:pPr rtl="0">
              <a:buNone/>
            </a:pPr>
            <a:r>
              <a:rPr lang="en-US" altLang="ko-KR" sz="1400" dirty="0" err="1">
                <a:latin typeface="MS Reference Sans Serif" panose="020B0604030504040204" pitchFamily="34" charset="0"/>
              </a:rPr>
              <a:t>Array.Clear</a:t>
            </a:r>
            <a:r>
              <a:rPr lang="en-US" altLang="ko-KR" sz="1400" dirty="0">
                <a:latin typeface="MS Reference Sans Serif" panose="020B0604030504040204" pitchFamily="34" charset="0"/>
              </a:rPr>
              <a:t>(scores, 3, 7);</a:t>
            </a:r>
          </a:p>
          <a:p>
            <a:pPr rtl="0">
              <a:buNone/>
            </a:pPr>
            <a:r>
              <a:rPr lang="en-US" altLang="ko-KR" sz="1400" dirty="0" err="1">
                <a:latin typeface="MS Reference Sans Serif" panose="020B0604030504040204" pitchFamily="34" charset="0"/>
              </a:rPr>
              <a:t>Array.ForEach</a:t>
            </a:r>
            <a:r>
              <a:rPr lang="en-US" altLang="ko-KR" sz="1400" dirty="0">
                <a:latin typeface="MS Reference Sans Serif" panose="020B0604030504040204" pitchFamily="34" charset="0"/>
              </a:rPr>
              <a:t>&lt;int&gt;(scores, new Action&lt;int&gt;(Print));</a:t>
            </a:r>
          </a:p>
          <a:p>
            <a:pPr rtl="0">
              <a:buNone/>
            </a:pPr>
            <a:r>
              <a:rPr lang="en-US" altLang="ko-KR" sz="1400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dirty="0">
                <a:latin typeface="MS Reference Sans Serif" panose="020B0604030504040204" pitchFamily="34" charset="0"/>
              </a:rPr>
              <a:t>();</a:t>
            </a:r>
          </a:p>
          <a:p>
            <a:pPr rtl="0">
              <a:buNone/>
            </a:pPr>
            <a:endParaRPr lang="en-US" altLang="ko-KR" dirty="0">
              <a:latin typeface="MS Reference Sans Serif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MS Reference Sans Serif" panose="020B0604030504040204" pitchFamily="34" charset="0"/>
              </a:rPr>
              <a:t>Array.Clear</a:t>
            </a:r>
            <a:r>
              <a:rPr lang="en-US" altLang="ko-KR" dirty="0">
                <a:latin typeface="MS Reference Sans Serif" panose="020B0604030504040204" pitchFamily="34" charset="0"/>
              </a:rPr>
              <a:t>() : </a:t>
            </a:r>
            <a:r>
              <a:rPr lang="ko-KR" altLang="en-US" dirty="0">
                <a:latin typeface="MS Reference Sans Serif" panose="020B0604030504040204" pitchFamily="34" charset="0"/>
              </a:rPr>
              <a:t>인덱스 </a:t>
            </a:r>
            <a:r>
              <a:rPr lang="en-US" altLang="ko-KR" dirty="0">
                <a:latin typeface="MS Reference Sans Serif" panose="020B0604030504040204" pitchFamily="34" charset="0"/>
              </a:rPr>
              <a:t>3</a:t>
            </a:r>
            <a:r>
              <a:rPr lang="ko-KR" altLang="en-US" dirty="0">
                <a:latin typeface="MS Reference Sans Serif" panose="020B0604030504040204" pitchFamily="34" charset="0"/>
              </a:rPr>
              <a:t>부터 </a:t>
            </a:r>
            <a:r>
              <a:rPr lang="en-US" altLang="ko-KR" dirty="0">
                <a:latin typeface="MS Reference Sans Serif" panose="020B0604030504040204" pitchFamily="34" charset="0"/>
              </a:rPr>
              <a:t>7</a:t>
            </a:r>
            <a:r>
              <a:rPr lang="ko-KR" altLang="en-US" dirty="0">
                <a:latin typeface="MS Reference Sans Serif" panose="020B0604030504040204" pitchFamily="34" charset="0"/>
              </a:rPr>
              <a:t>개의 요소를 </a:t>
            </a:r>
            <a:r>
              <a:rPr lang="en-US" altLang="ko-KR" dirty="0">
                <a:latin typeface="MS Reference Sans Serif" panose="020B0604030504040204" pitchFamily="34" charset="0"/>
              </a:rPr>
              <a:t>0</a:t>
            </a:r>
            <a:r>
              <a:rPr lang="ko-KR" altLang="en-US" dirty="0">
                <a:latin typeface="MS Reference Sans Serif" panose="020B0604030504040204" pitchFamily="34" charset="0"/>
              </a:rPr>
              <a:t>으로 초기화</a:t>
            </a:r>
            <a:endParaRPr lang="en-US" altLang="ko-KR" dirty="0">
              <a:latin typeface="MS Reference Sans Serif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MS Reference Sans Serif" panose="020B0604030504040204" pitchFamily="34" charset="0"/>
              </a:rPr>
              <a:t>Array.Clear</a:t>
            </a:r>
            <a:r>
              <a:rPr lang="en-US" altLang="ko-KR" dirty="0">
                <a:latin typeface="MS Reference Sans Serif" panose="020B0604030504040204" pitchFamily="34" charset="0"/>
              </a:rPr>
              <a:t>(scores, 3, 7) </a:t>
            </a:r>
            <a:r>
              <a:rPr lang="ko-KR" altLang="en-US" dirty="0">
                <a:latin typeface="MS Reference Sans Serif" panose="020B0604030504040204" pitchFamily="34" charset="0"/>
              </a:rPr>
              <a:t>후</a:t>
            </a:r>
            <a:r>
              <a:rPr lang="en-US" altLang="ko-KR" dirty="0">
                <a:latin typeface="MS Reference Sans Serif" panose="020B0604030504040204" pitchFamily="34" charset="0"/>
              </a:rPr>
              <a:t>: 61 74 80 0 0 0 0 0 0 0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>
              <a:latin typeface="MS Reference Sans Serif" panose="020B0604030504040204" pitchFamily="34" charset="0"/>
            </a:endParaRPr>
          </a:p>
          <a:p>
            <a:pPr>
              <a:buNone/>
            </a:pPr>
            <a:r>
              <a:rPr lang="en-US" altLang="ko-KR" b="1" dirty="0">
                <a:latin typeface="MS Reference Sans Serif" panose="020B0604030504040204" pitchFamily="34" charset="0"/>
              </a:rPr>
              <a:t>(9) </a:t>
            </a:r>
            <a:r>
              <a:rPr lang="ko-KR" altLang="en-US" b="1" dirty="0">
                <a:latin typeface="MS Reference Sans Serif" panose="020B0604030504040204" pitchFamily="34" charset="0"/>
              </a:rPr>
              <a:t>배열 일부 복사</a:t>
            </a:r>
          </a:p>
          <a:p>
            <a:r>
              <a:rPr lang="en-US" altLang="ko-KR" sz="1400" dirty="0">
                <a:latin typeface="MS Reference Sans Serif" panose="020B0604030504040204" pitchFamily="34" charset="0"/>
              </a:rPr>
              <a:t>int[] sliced = new int[3];</a:t>
            </a:r>
          </a:p>
          <a:p>
            <a:r>
              <a:rPr lang="en-US" altLang="ko-KR" sz="1400" dirty="0" err="1">
                <a:latin typeface="MS Reference Sans Serif" panose="020B0604030504040204" pitchFamily="34" charset="0"/>
              </a:rPr>
              <a:t>Array.Copy</a:t>
            </a:r>
            <a:r>
              <a:rPr lang="en-US" altLang="ko-KR" sz="1400" dirty="0">
                <a:latin typeface="MS Reference Sans Serif" panose="020B0604030504040204" pitchFamily="34" charset="0"/>
              </a:rPr>
              <a:t>(scores, 0, sliced, 0, 3);</a:t>
            </a:r>
          </a:p>
          <a:p>
            <a:r>
              <a:rPr lang="en-US" altLang="ko-KR" sz="1400" dirty="0" err="1">
                <a:latin typeface="MS Reference Sans Serif" panose="020B0604030504040204" pitchFamily="34" charset="0"/>
              </a:rPr>
              <a:t>Array.ForEach</a:t>
            </a:r>
            <a:r>
              <a:rPr lang="en-US" altLang="ko-KR" sz="1400" dirty="0">
                <a:latin typeface="MS Reference Sans Serif" panose="020B0604030504040204" pitchFamily="34" charset="0"/>
              </a:rPr>
              <a:t>&lt;int&gt;(sliced, new Action&lt;int&gt;(Print));</a:t>
            </a:r>
          </a:p>
          <a:p>
            <a:r>
              <a:rPr lang="en-US" altLang="ko-KR" sz="1400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dirty="0">
              <a:latin typeface="MS Reference Sans Serif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MS Reference Sans Serif" panose="020B0604030504040204" pitchFamily="34" charset="0"/>
              </a:rPr>
              <a:t>Array.Copy</a:t>
            </a:r>
            <a:r>
              <a:rPr lang="en-US" altLang="ko-KR" dirty="0">
                <a:latin typeface="MS Reference Sans Serif" panose="020B0604030504040204" pitchFamily="34" charset="0"/>
              </a:rPr>
              <a:t>() : scores</a:t>
            </a:r>
            <a:r>
              <a:rPr lang="ko-KR" altLang="en-US" dirty="0">
                <a:latin typeface="MS Reference Sans Serif" panose="020B0604030504040204" pitchFamily="34" charset="0"/>
              </a:rPr>
              <a:t>의 앞 </a:t>
            </a:r>
            <a:r>
              <a:rPr lang="en-US" altLang="ko-KR" dirty="0">
                <a:latin typeface="MS Reference Sans Serif" panose="020B0604030504040204" pitchFamily="34" charset="0"/>
              </a:rPr>
              <a:t>3</a:t>
            </a:r>
            <a:r>
              <a:rPr lang="ko-KR" altLang="en-US" dirty="0">
                <a:latin typeface="MS Reference Sans Serif" panose="020B0604030504040204" pitchFamily="34" charset="0"/>
              </a:rPr>
              <a:t>개를 </a:t>
            </a:r>
            <a:r>
              <a:rPr lang="en-US" altLang="ko-KR" dirty="0">
                <a:latin typeface="MS Reference Sans Serif" panose="020B0604030504040204" pitchFamily="34" charset="0"/>
              </a:rPr>
              <a:t>sliced</a:t>
            </a:r>
            <a:r>
              <a:rPr lang="ko-KR" altLang="en-US" dirty="0">
                <a:latin typeface="MS Reference Sans Serif" panose="020B0604030504040204" pitchFamily="34" charset="0"/>
              </a:rPr>
              <a:t>로 복사</a:t>
            </a:r>
          </a:p>
          <a:p>
            <a:pPr>
              <a:buFont typeface="Arial" panose="020B0604020202020204" pitchFamily="34" charset="0"/>
              <a:buChar char="•"/>
            </a:pPr>
            <a:endParaRPr lang="ko-KR" altLang="en-US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0550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854-9680-6656-C955-86F865EE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D0B6311-3B70-D7D9-2B0D-79EB71FA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배열 분할하기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61D4C-6914-8404-C93F-FA54B636BAFA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F6819F-BA50-A3D1-8604-A295E878F7C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ECCC1F-67D8-A1A5-DECE-4CD99A6D32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412AAB3-1A9D-9233-B48F-297569C2D26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Slice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8BA166-0D60-902B-1DC7-829EF6887DE7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2640EA6A-DCF3-FE9C-D653-2D2969F0C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01" y="2179402"/>
            <a:ext cx="5677705" cy="37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1012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854-9680-6656-C955-86F865EE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D0B6311-3B70-D7D9-2B0D-79EB71FA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배열 분할하기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61D4C-6914-8404-C93F-FA54B636BAFA}"/>
              </a:ext>
            </a:extLst>
          </p:cNvPr>
          <p:cNvSpPr txBox="1"/>
          <p:nvPr/>
        </p:nvSpPr>
        <p:spPr>
          <a:xfrm>
            <a:off x="224290" y="1526876"/>
            <a:ext cx="884207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namespace Slice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static void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PrintArray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System.Array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array)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foreach (var e in array)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(e);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char[] array = new char['Z' - 'A' + 1];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for (int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&lt;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++)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array[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] = (char)('A' +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PrintArray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(array[..]);    // 0</a:t>
            </a:r>
            <a:r>
              <a:rPr lang="ko-KR" altLang="en-US" sz="1000" b="1" dirty="0" err="1">
                <a:latin typeface="MS Reference Sans Serif" panose="020B0604030504040204" pitchFamily="34" charset="0"/>
              </a:rPr>
              <a:t>번째부터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 마지막까지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PrintArray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(array[5..]);   // 5</a:t>
            </a:r>
            <a:r>
              <a:rPr lang="ko-KR" altLang="en-US" sz="1000" b="1" dirty="0" err="1">
                <a:latin typeface="MS Reference Sans Serif" panose="020B0604030504040204" pitchFamily="34" charset="0"/>
              </a:rPr>
              <a:t>번째부터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 끝까지</a:t>
            </a:r>
          </a:p>
          <a:p>
            <a:endParaRPr lang="ko-KR" altLang="en-US" sz="1000" b="1" dirty="0">
              <a:latin typeface="MS Reference Sans Serif" panose="020B0604030504040204" pitchFamily="34" charset="0"/>
            </a:endParaRP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Range range_5_10 = 5..10;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PrintArray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(array[range_5_10]); // 5</a:t>
            </a:r>
            <a:r>
              <a:rPr lang="ko-KR" altLang="en-US" sz="1000" b="1" dirty="0" err="1">
                <a:latin typeface="MS Reference Sans Serif" panose="020B0604030504040204" pitchFamily="34" charset="0"/>
              </a:rPr>
              <a:t>번째부터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9(10-1)</a:t>
            </a:r>
            <a:r>
              <a:rPr lang="ko-KR" altLang="en-US" sz="1000" b="1" dirty="0" err="1">
                <a:latin typeface="MS Reference Sans Serif" panose="020B0604030504040204" pitchFamily="34" charset="0"/>
              </a:rPr>
              <a:t>번째까지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      </a:t>
            </a:r>
          </a:p>
          <a:p>
            <a:endParaRPr lang="ko-KR" altLang="en-US" sz="1000" b="1" dirty="0">
              <a:latin typeface="MS Reference Sans Serif" panose="020B0604030504040204" pitchFamily="34" charset="0"/>
            </a:endParaRP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Index last = ^0;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Range range_5_last = 5..last;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PrintArray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(array[range_5_last]); // 5</a:t>
            </a:r>
            <a:r>
              <a:rPr lang="ko-KR" altLang="en-US" sz="1000" b="1" dirty="0" err="1">
                <a:latin typeface="MS Reference Sans Serif" panose="020B0604030504040204" pitchFamily="34" charset="0"/>
              </a:rPr>
              <a:t>번째부터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 끝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(^)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까지      </a:t>
            </a:r>
          </a:p>
          <a:p>
            <a:endParaRPr lang="ko-KR" altLang="en-US" sz="1000" b="1" dirty="0">
              <a:latin typeface="MS Reference Sans Serif" panose="020B0604030504040204" pitchFamily="34" charset="0"/>
            </a:endParaRP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PrintArray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(array[^4..^1]);  //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끝에서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4</a:t>
            </a:r>
            <a:r>
              <a:rPr lang="ko-KR" altLang="en-US" sz="1000" b="1" dirty="0" err="1">
                <a:latin typeface="MS Reference Sans Serif" panose="020B0604030504040204" pitchFamily="34" charset="0"/>
              </a:rPr>
              <a:t>번째부터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 끝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(^)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에서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1</a:t>
            </a:r>
            <a:r>
              <a:rPr lang="ko-KR" altLang="en-US" sz="1000" b="1" dirty="0" err="1">
                <a:latin typeface="MS Reference Sans Serif" panose="020B0604030504040204" pitchFamily="34" charset="0"/>
              </a:rPr>
              <a:t>번째까지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      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F6819F-BA50-A3D1-8604-A295E878F7C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ECCC1F-67D8-A1A5-DECE-4CD99A6D32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412AAB3-1A9D-9233-B48F-297569C2D26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Slice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8BA166-0D60-902B-1DC7-829EF6887DE7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92E06679-5BD0-593D-55B4-17DC5272F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589" y="5331124"/>
            <a:ext cx="2848373" cy="1057423"/>
          </a:xfrm>
          <a:prstGeom prst="rect">
            <a:avLst/>
          </a:prstGeom>
        </p:spPr>
      </p:pic>
      <p:sp>
        <p:nvSpPr>
          <p:cNvPr id="2" name="말풍선: 사각형 1">
            <a:extLst>
              <a:ext uri="{FF2B5EF4-FFF2-40B4-BE49-F238E27FC236}">
                <a16:creationId xmlns:a16="http://schemas.microsoft.com/office/drawing/2014/main" id="{25903EEA-4920-1D11-D5D1-0BBFF2B78043}"/>
              </a:ext>
            </a:extLst>
          </p:cNvPr>
          <p:cNvSpPr/>
          <p:nvPr/>
        </p:nvSpPr>
        <p:spPr>
          <a:xfrm>
            <a:off x="4428252" y="3303257"/>
            <a:ext cx="4347710" cy="922482"/>
          </a:xfrm>
          <a:prstGeom prst="wedgeRectCallout">
            <a:avLst>
              <a:gd name="adj1" fmla="val -53549"/>
              <a:gd name="adj2" fmla="val 209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'Z' - 'A' = 90 - 65 = 25,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즉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두 문자 사이의 간격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거리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)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이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25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라는 뜻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'Z' - 'A' + 1 = 26.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즉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, A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부터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Z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까지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26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개의 문자로 배열을 만듭니다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.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결과 배열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:</a:t>
            </a:r>
          </a:p>
          <a:p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A B C D E F G H I J K L M N O P Q R S T U V W X Y Z</a:t>
            </a:r>
          </a:p>
        </p:txBody>
      </p:sp>
    </p:spTree>
    <p:extLst>
      <p:ext uri="{BB962C8B-B14F-4D97-AF65-F5344CB8AC3E}">
        <p14:creationId xmlns:p14="http://schemas.microsoft.com/office/powerpoint/2010/main" val="24451070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854-9680-6656-C955-86F865EE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D0B6311-3B70-D7D9-2B0D-79EB71FA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배열 분할하기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61D4C-6914-8404-C93F-FA54B636BAFA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단계별 동작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F6819F-BA50-A3D1-8604-A295E878F7C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ECCC1F-67D8-A1A5-DECE-4CD99A6D32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412AAB3-1A9D-9233-B48F-297569C2D26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Slice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8BA166-0D60-902B-1DC7-829EF6887DE7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5D771C3-4DC9-1C41-C232-AC21C4B3C7FF}"/>
              </a:ext>
            </a:extLst>
          </p:cNvPr>
          <p:cNvSpPr txBox="1"/>
          <p:nvPr/>
        </p:nvSpPr>
        <p:spPr>
          <a:xfrm>
            <a:off x="126525" y="2060889"/>
            <a:ext cx="889095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latin typeface="MS Reference Sans Serif" panose="020B0604030504040204" pitchFamily="34" charset="0"/>
              </a:rPr>
              <a:t>(1) </a:t>
            </a:r>
            <a:r>
              <a:rPr lang="ko-KR" altLang="en-US" b="1" dirty="0">
                <a:latin typeface="MS Reference Sans Serif" panose="020B0604030504040204" pitchFamily="34" charset="0"/>
              </a:rPr>
              <a:t>알파벳 배열 생성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char[] array = new char['Z' - 'A' + 1];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for (int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dirty="0">
                <a:latin typeface="MS Reference Sans Serif" panose="020B0604030504040204" pitchFamily="34" charset="0"/>
              </a:rPr>
              <a:t> &lt;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array.Length</a:t>
            </a:r>
            <a:r>
              <a:rPr lang="en-US" altLang="ko-KR" sz="1400" dirty="0">
                <a:latin typeface="MS Reference Sans Serif" panose="020B0604030504040204" pitchFamily="34" charset="0"/>
              </a:rPr>
              <a:t>;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dirty="0">
                <a:latin typeface="MS Reference Sans Serif" panose="020B0604030504040204" pitchFamily="34" charset="0"/>
              </a:rPr>
              <a:t>++)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    array[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dirty="0">
                <a:latin typeface="MS Reference Sans Serif" panose="020B0604030504040204" pitchFamily="34" charset="0"/>
              </a:rPr>
              <a:t>] = (char)('A' +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dirty="0">
                <a:latin typeface="MS Reference Sans Serif" panose="020B0604030504040204" pitchFamily="34" charset="0"/>
              </a:rPr>
              <a:t>);</a:t>
            </a:r>
          </a:p>
          <a:p>
            <a:pPr rtl="0">
              <a:buNone/>
            </a:pPr>
            <a:endParaRPr lang="en-US" altLang="ko-KR" dirty="0">
              <a:latin typeface="MS Reference Sans Serif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MS Reference Sans Serif" panose="020B0604030504040204" pitchFamily="34" charset="0"/>
              </a:rPr>
              <a:t>'Z' - 'A' = 90 - 65 = 25, </a:t>
            </a:r>
            <a:r>
              <a:rPr lang="ko-KR" altLang="en-US" dirty="0">
                <a:latin typeface="MS Reference Sans Serif" panose="020B0604030504040204" pitchFamily="34" charset="0"/>
              </a:rPr>
              <a:t>즉</a:t>
            </a:r>
            <a:r>
              <a:rPr lang="en-US" altLang="ko-KR" dirty="0">
                <a:latin typeface="MS Reference Sans Serif" panose="020B0604030504040204" pitchFamily="34" charset="0"/>
              </a:rPr>
              <a:t>, </a:t>
            </a:r>
            <a:r>
              <a:rPr lang="ko-KR" altLang="en-US" dirty="0">
                <a:latin typeface="MS Reference Sans Serif" panose="020B0604030504040204" pitchFamily="34" charset="0"/>
              </a:rPr>
              <a:t>두 문자 사이의 간격</a:t>
            </a:r>
            <a:r>
              <a:rPr lang="en-US" altLang="ko-KR" dirty="0">
                <a:latin typeface="MS Reference Sans Serif" panose="020B0604030504040204" pitchFamily="34" charset="0"/>
              </a:rPr>
              <a:t>(</a:t>
            </a:r>
            <a:r>
              <a:rPr lang="ko-KR" altLang="en-US" dirty="0">
                <a:latin typeface="MS Reference Sans Serif" panose="020B0604030504040204" pitchFamily="34" charset="0"/>
              </a:rPr>
              <a:t>거리</a:t>
            </a:r>
            <a:r>
              <a:rPr lang="en-US" altLang="ko-KR" dirty="0">
                <a:latin typeface="MS Reference Sans Serif" panose="020B0604030504040204" pitchFamily="34" charset="0"/>
              </a:rPr>
              <a:t>) </a:t>
            </a:r>
            <a:r>
              <a:rPr lang="ko-KR" altLang="en-US" dirty="0">
                <a:latin typeface="MS Reference Sans Serif" panose="020B0604030504040204" pitchFamily="34" charset="0"/>
              </a:rPr>
              <a:t>이 </a:t>
            </a:r>
            <a:r>
              <a:rPr lang="en-US" altLang="ko-KR" dirty="0">
                <a:latin typeface="MS Reference Sans Serif" panose="020B0604030504040204" pitchFamily="34" charset="0"/>
              </a:rPr>
              <a:t>25</a:t>
            </a:r>
            <a:r>
              <a:rPr lang="ko-KR" altLang="en-US" dirty="0">
                <a:latin typeface="MS Reference Sans Serif" panose="020B0604030504040204" pitchFamily="34" charset="0"/>
              </a:rPr>
              <a:t>라는 뜻</a:t>
            </a:r>
            <a:r>
              <a:rPr lang="en-US" altLang="ko-KR" dirty="0">
                <a:latin typeface="MS Reference Sans Serif" panose="020B0604030504040204" pitchFamily="34" charset="0"/>
              </a:rPr>
              <a:t>'Z' - 'A' + 1 = 26. </a:t>
            </a:r>
            <a:r>
              <a:rPr lang="ko-KR" altLang="en-US" dirty="0">
                <a:latin typeface="MS Reference Sans Serif" panose="020B0604030504040204" pitchFamily="34" charset="0"/>
              </a:rPr>
              <a:t>즉</a:t>
            </a:r>
            <a:r>
              <a:rPr lang="en-US" altLang="ko-KR" dirty="0">
                <a:latin typeface="MS Reference Sans Serif" panose="020B0604030504040204" pitchFamily="34" charset="0"/>
              </a:rPr>
              <a:t>, A</a:t>
            </a:r>
            <a:r>
              <a:rPr lang="ko-KR" altLang="en-US" dirty="0">
                <a:latin typeface="MS Reference Sans Serif" panose="020B0604030504040204" pitchFamily="34" charset="0"/>
              </a:rPr>
              <a:t>부터 </a:t>
            </a:r>
            <a:r>
              <a:rPr lang="en-US" altLang="ko-KR" dirty="0">
                <a:latin typeface="MS Reference Sans Serif" panose="020B0604030504040204" pitchFamily="34" charset="0"/>
              </a:rPr>
              <a:t>Z</a:t>
            </a:r>
            <a:r>
              <a:rPr lang="ko-KR" altLang="en-US" dirty="0">
                <a:latin typeface="MS Reference Sans Serif" panose="020B0604030504040204" pitchFamily="34" charset="0"/>
              </a:rPr>
              <a:t>까지 </a:t>
            </a:r>
            <a:r>
              <a:rPr lang="en-US" altLang="ko-KR" dirty="0">
                <a:latin typeface="MS Reference Sans Serif" panose="020B0604030504040204" pitchFamily="34" charset="0"/>
              </a:rPr>
              <a:t>26</a:t>
            </a:r>
            <a:r>
              <a:rPr lang="ko-KR" altLang="en-US" dirty="0">
                <a:latin typeface="MS Reference Sans Serif" panose="020B0604030504040204" pitchFamily="34" charset="0"/>
              </a:rPr>
              <a:t>개의 문자로 배열을 만듭니다</a:t>
            </a:r>
            <a:r>
              <a:rPr lang="en-US" altLang="ko-KR" dirty="0">
                <a:latin typeface="MS Reference Sans Serif" panose="020B0604030504040204" pitchFamily="34" charset="0"/>
              </a:rPr>
              <a:t>.</a:t>
            </a:r>
          </a:p>
          <a:p>
            <a:pPr>
              <a:buNone/>
            </a:pPr>
            <a:r>
              <a:rPr lang="ko-KR" altLang="en-US" dirty="0">
                <a:latin typeface="MS Reference Sans Serif" panose="020B0604030504040204" pitchFamily="34" charset="0"/>
              </a:rPr>
              <a:t>결과 배열</a:t>
            </a:r>
            <a:r>
              <a:rPr lang="en-US" altLang="ko-KR" dirty="0">
                <a:latin typeface="MS Reference Sans Serif" panose="020B0604030504040204" pitchFamily="34" charset="0"/>
              </a:rPr>
              <a:t>: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A B C D E F G H I J K L M N O P Q R S T U V W X Y Z</a:t>
            </a:r>
          </a:p>
          <a:p>
            <a:pPr>
              <a:buNone/>
            </a:pPr>
            <a:br>
              <a:rPr lang="en-US" altLang="ko-KR" dirty="0">
                <a:latin typeface="MS Reference Sans Serif" panose="020B0604030504040204" pitchFamily="34" charset="0"/>
              </a:rPr>
            </a:br>
            <a:r>
              <a:rPr lang="en-US" altLang="ko-KR" b="1" dirty="0">
                <a:latin typeface="MS Reference Sans Serif" panose="020B0604030504040204" pitchFamily="34" charset="0"/>
              </a:rPr>
              <a:t>(2) </a:t>
            </a:r>
            <a:r>
              <a:rPr lang="en-US" altLang="ko-KR" b="1" dirty="0" err="1">
                <a:latin typeface="MS Reference Sans Serif" panose="020B0604030504040204" pitchFamily="34" charset="0"/>
              </a:rPr>
              <a:t>PrintArray</a:t>
            </a:r>
            <a:r>
              <a:rPr lang="en-US" altLang="ko-KR" b="1" dirty="0">
                <a:latin typeface="MS Reference Sans Serif" panose="020B0604030504040204" pitchFamily="34" charset="0"/>
              </a:rPr>
              <a:t>(array[..])</a:t>
            </a:r>
          </a:p>
          <a:p>
            <a:pPr rtl="0">
              <a:buNone/>
            </a:pPr>
            <a:r>
              <a:rPr lang="en-US" altLang="ko-KR" sz="1400" dirty="0" err="1">
                <a:latin typeface="MS Reference Sans Serif" panose="020B0604030504040204" pitchFamily="34" charset="0"/>
              </a:rPr>
              <a:t>PrintArray</a:t>
            </a:r>
            <a:r>
              <a:rPr lang="en-US" altLang="ko-KR" sz="1400" dirty="0">
                <a:latin typeface="MS Reference Sans Serif" panose="020B0604030504040204" pitchFamily="34" charset="0"/>
              </a:rPr>
              <a:t>(array[..]);  // 0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번째부터</a:t>
            </a:r>
            <a:r>
              <a:rPr lang="ko-KR" altLang="en-US" sz="1400" dirty="0">
                <a:latin typeface="MS Reference Sans Serif" panose="020B0604030504040204" pitchFamily="34" charset="0"/>
              </a:rPr>
              <a:t> 마지막까지</a:t>
            </a:r>
            <a:endParaRPr lang="en-US" altLang="ko-KR" sz="1400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endParaRPr lang="ko-KR" altLang="en-US" dirty="0">
              <a:latin typeface="MS Reference Sans Serif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MS Reference Sans Serif" panose="020B0604030504040204" pitchFamily="34" charset="0"/>
              </a:rPr>
              <a:t>[..]</a:t>
            </a:r>
            <a:r>
              <a:rPr lang="ko-KR" altLang="en-US" dirty="0">
                <a:latin typeface="MS Reference Sans Serif" panose="020B0604030504040204" pitchFamily="34" charset="0"/>
              </a:rPr>
              <a:t>는 “전체 범위</a:t>
            </a:r>
            <a:r>
              <a:rPr lang="en-US" altLang="ko-KR" dirty="0">
                <a:latin typeface="MS Reference Sans Serif" panose="020B0604030504040204" pitchFamily="34" charset="0"/>
              </a:rPr>
              <a:t>(0</a:t>
            </a:r>
            <a:r>
              <a:rPr lang="ko-KR" altLang="en-US" dirty="0">
                <a:latin typeface="MS Reference Sans Serif" panose="020B0604030504040204" pitchFamily="34" charset="0"/>
              </a:rPr>
              <a:t>부터 끝까지</a:t>
            </a:r>
            <a:r>
              <a:rPr lang="en-US" altLang="ko-KR" dirty="0">
                <a:latin typeface="MS Reference Sans Serif" panose="020B0604030504040204" pitchFamily="34" charset="0"/>
              </a:rPr>
              <a:t>)”</a:t>
            </a:r>
            <a:r>
              <a:rPr lang="ko-KR" altLang="en-US" dirty="0">
                <a:latin typeface="MS Reference Sans Serif" panose="020B0604030504040204" pitchFamily="34" charset="0"/>
              </a:rPr>
              <a:t>를 의미합니다</a:t>
            </a:r>
            <a:r>
              <a:rPr lang="en-US" altLang="ko-KR" dirty="0">
                <a:latin typeface="MS Reference Sans Serif" panose="020B060403050404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MS Reference Sans Serif" panose="020B0604030504040204" pitchFamily="34" charset="0"/>
              </a:rPr>
              <a:t>즉</a:t>
            </a:r>
            <a:r>
              <a:rPr lang="en-US" altLang="ko-KR" dirty="0">
                <a:latin typeface="MS Reference Sans Serif" panose="020B0604030504040204" pitchFamily="34" charset="0"/>
              </a:rPr>
              <a:t>, </a:t>
            </a:r>
            <a:r>
              <a:rPr lang="ko-KR" altLang="en-US" dirty="0">
                <a:latin typeface="MS Reference Sans Serif" panose="020B0604030504040204" pitchFamily="34" charset="0"/>
              </a:rPr>
              <a:t>배열 전체를 출력합니다</a:t>
            </a:r>
            <a:r>
              <a:rPr lang="en-US" altLang="ko-KR" dirty="0">
                <a:latin typeface="MS Reference Sans Serif" panose="020B0604030504040204" pitchFamily="34" charset="0"/>
              </a:rPr>
              <a:t>.</a:t>
            </a:r>
          </a:p>
          <a:p>
            <a:pPr>
              <a:buNone/>
            </a:pPr>
            <a:r>
              <a:rPr lang="ko-KR" altLang="en-US" dirty="0">
                <a:latin typeface="MS Reference Sans Serif" panose="020B0604030504040204" pitchFamily="34" charset="0"/>
              </a:rPr>
              <a:t>출력 결과</a:t>
            </a:r>
            <a:r>
              <a:rPr lang="en-US" altLang="ko-KR" dirty="0">
                <a:latin typeface="MS Reference Sans Serif" panose="020B0604030504040204" pitchFamily="34" charset="0"/>
              </a:rPr>
              <a:t>: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ABCDEFGHIJKLMNOPQRSTUVWXYZ</a:t>
            </a:r>
          </a:p>
        </p:txBody>
      </p:sp>
    </p:spTree>
    <p:extLst>
      <p:ext uri="{BB962C8B-B14F-4D97-AF65-F5344CB8AC3E}">
        <p14:creationId xmlns:p14="http://schemas.microsoft.com/office/powerpoint/2010/main" val="24803625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854-9680-6656-C955-86F865EE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D0B6311-3B70-D7D9-2B0D-79EB71FA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배열 분할하기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61D4C-6914-8404-C93F-FA54B636BAFA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단계별 동작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F6819F-BA50-A3D1-8604-A295E878F7C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ECCC1F-67D8-A1A5-DECE-4CD99A6D32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412AAB3-1A9D-9233-B48F-297569C2D26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Slice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8BA166-0D60-902B-1DC7-829EF6887DE7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8865E72-9B7B-4170-A40C-4BEB6D971E68}"/>
              </a:ext>
            </a:extLst>
          </p:cNvPr>
          <p:cNvSpPr txBox="1"/>
          <p:nvPr/>
        </p:nvSpPr>
        <p:spPr>
          <a:xfrm>
            <a:off x="221417" y="2050096"/>
            <a:ext cx="870116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latin typeface="MS Reference Sans Serif" panose="020B0604030504040204" pitchFamily="34" charset="0"/>
              </a:rPr>
              <a:t>(3)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PrintArray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(array[5..])</a:t>
            </a:r>
            <a:endParaRPr lang="ko-KR" altLang="en-US" sz="1400" b="1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sz="1200" dirty="0" err="1">
                <a:latin typeface="MS Reference Sans Serif" panose="020B0604030504040204" pitchFamily="34" charset="0"/>
              </a:rPr>
              <a:t>PrintArray</a:t>
            </a:r>
            <a:r>
              <a:rPr lang="en-US" altLang="ko-KR" sz="1200" dirty="0">
                <a:latin typeface="MS Reference Sans Serif" panose="020B0604030504040204" pitchFamily="34" charset="0"/>
              </a:rPr>
              <a:t>(array[5..]);  // 5</a:t>
            </a:r>
            <a:r>
              <a:rPr lang="ko-KR" altLang="en-US" sz="1200" dirty="0" err="1">
                <a:latin typeface="MS Reference Sans Serif" panose="020B0604030504040204" pitchFamily="34" charset="0"/>
              </a:rPr>
              <a:t>번째부터</a:t>
            </a:r>
            <a:r>
              <a:rPr lang="ko-KR" altLang="en-US" sz="1200" dirty="0">
                <a:latin typeface="MS Reference Sans Serif" panose="020B0604030504040204" pitchFamily="34" charset="0"/>
              </a:rPr>
              <a:t> 끝까지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MS Reference Sans Serif" panose="020B0604030504040204" pitchFamily="34" charset="0"/>
              </a:rPr>
              <a:t>array[5..]</a:t>
            </a:r>
            <a:r>
              <a:rPr lang="ko-KR" altLang="en-US" sz="1400" dirty="0">
                <a:latin typeface="MS Reference Sans Serif" panose="020B0604030504040204" pitchFamily="34" charset="0"/>
              </a:rPr>
              <a:t>는 “인덱스 </a:t>
            </a:r>
            <a:r>
              <a:rPr lang="en-US" altLang="ko-KR" sz="1400" dirty="0">
                <a:latin typeface="MS Reference Sans Serif" panose="020B0604030504040204" pitchFamily="34" charset="0"/>
              </a:rPr>
              <a:t>5</a:t>
            </a:r>
            <a:r>
              <a:rPr lang="ko-KR" altLang="en-US" sz="1400" dirty="0">
                <a:latin typeface="MS Reference Sans Serif" panose="020B0604030504040204" pitchFamily="34" charset="0"/>
              </a:rPr>
              <a:t>부터 끝까지”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MS Reference Sans Serif" panose="020B0604030504040204" pitchFamily="34" charset="0"/>
              </a:rPr>
              <a:t>인덱스 </a:t>
            </a:r>
            <a:r>
              <a:rPr lang="en-US" altLang="ko-KR" sz="1400" dirty="0">
                <a:latin typeface="MS Reference Sans Serif" panose="020B0604030504040204" pitchFamily="34" charset="0"/>
              </a:rPr>
              <a:t>5 → A=0, B=1, C=2, D=3, E=4, F=5</a:t>
            </a:r>
            <a:endParaRPr lang="ko-KR" altLang="en-US" sz="1400" dirty="0">
              <a:latin typeface="MS Reference Sans Serif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MS Reference Sans Serif" panose="020B0604030504040204" pitchFamily="34" charset="0"/>
              </a:rPr>
              <a:t>따라서 </a:t>
            </a:r>
            <a:r>
              <a:rPr lang="en-US" altLang="ko-KR" sz="1400" dirty="0">
                <a:latin typeface="MS Reference Sans Serif" panose="020B0604030504040204" pitchFamily="34" charset="0"/>
              </a:rPr>
              <a:t>F</a:t>
            </a:r>
            <a:r>
              <a:rPr lang="ko-KR" altLang="en-US" sz="1400" dirty="0">
                <a:latin typeface="MS Reference Sans Serif" panose="020B0604030504040204" pitchFamily="34" charset="0"/>
              </a:rPr>
              <a:t>부터 끝까지 출력합니다</a:t>
            </a:r>
            <a:r>
              <a:rPr lang="en-US" altLang="ko-KR" sz="1400" dirty="0">
                <a:latin typeface="MS Reference Sans Serif" panose="020B0604030504040204" pitchFamily="34" charset="0"/>
              </a:rPr>
              <a:t>.</a:t>
            </a:r>
          </a:p>
          <a:p>
            <a:pPr>
              <a:buNone/>
            </a:pPr>
            <a:r>
              <a:rPr lang="ko-KR" altLang="en-US" sz="1400" dirty="0">
                <a:latin typeface="MS Reference Sans Serif" panose="020B0604030504040204" pitchFamily="34" charset="0"/>
              </a:rPr>
              <a:t>출력</a:t>
            </a:r>
            <a:r>
              <a:rPr lang="en-US" altLang="ko-KR" sz="1400" dirty="0">
                <a:latin typeface="MS Reference Sans Serif" panose="020B0604030504040204" pitchFamily="34" charset="0"/>
              </a:rPr>
              <a:t>: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FGHIJKLMNOPQRSTUVWXYZ</a:t>
            </a:r>
          </a:p>
          <a:p>
            <a:pPr>
              <a:buNone/>
            </a:pPr>
            <a:br>
              <a:rPr lang="ko-KR" altLang="en-US" sz="1400" dirty="0">
                <a:latin typeface="MS Reference Sans Serif" panose="020B0604030504040204" pitchFamily="34" charset="0"/>
              </a:rPr>
            </a:br>
            <a:endParaRPr lang="ko-KR" altLang="en-US" sz="1400" dirty="0">
              <a:latin typeface="MS Reference Sans Serif" panose="020B0604030504040204" pitchFamily="34" charset="0"/>
            </a:endParaRPr>
          </a:p>
          <a:p>
            <a:pPr>
              <a:buNone/>
            </a:pPr>
            <a:r>
              <a:rPr lang="en-US" altLang="ko-KR" sz="1400" b="1" dirty="0">
                <a:latin typeface="MS Reference Sans Serif" panose="020B0604030504040204" pitchFamily="34" charset="0"/>
              </a:rPr>
              <a:t>(4) Range range_5_10 = 5..10;</a:t>
            </a:r>
            <a:endParaRPr lang="ko-KR" altLang="en-US" sz="1400" b="1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sz="1200" dirty="0">
                <a:latin typeface="MS Reference Sans Serif" panose="020B0604030504040204" pitchFamily="34" charset="0"/>
              </a:rPr>
              <a:t>Range range_5_10 = 5..10;</a:t>
            </a:r>
          </a:p>
          <a:p>
            <a:pPr rtl="0">
              <a:buNone/>
            </a:pPr>
            <a:r>
              <a:rPr lang="en-US" altLang="ko-KR" sz="1200" dirty="0" err="1">
                <a:latin typeface="MS Reference Sans Serif" panose="020B0604030504040204" pitchFamily="34" charset="0"/>
              </a:rPr>
              <a:t>PrintArray</a:t>
            </a:r>
            <a:r>
              <a:rPr lang="en-US" altLang="ko-KR" sz="1200" dirty="0">
                <a:latin typeface="MS Reference Sans Serif" panose="020B0604030504040204" pitchFamily="34" charset="0"/>
              </a:rPr>
              <a:t>(array[range_5_10]); // 5</a:t>
            </a:r>
            <a:r>
              <a:rPr lang="ko-KR" altLang="en-US" sz="1200" dirty="0" err="1">
                <a:latin typeface="MS Reference Sans Serif" panose="020B0604030504040204" pitchFamily="34" charset="0"/>
              </a:rPr>
              <a:t>번째부터</a:t>
            </a:r>
            <a:r>
              <a:rPr lang="ko-KR" altLang="en-US" sz="1200" dirty="0">
                <a:latin typeface="MS Reference Sans Serif" panose="020B0604030504040204" pitchFamily="34" charset="0"/>
              </a:rPr>
              <a:t> </a:t>
            </a:r>
            <a:r>
              <a:rPr lang="en-US" altLang="ko-KR" sz="1200" dirty="0">
                <a:latin typeface="MS Reference Sans Serif" panose="020B0604030504040204" pitchFamily="34" charset="0"/>
              </a:rPr>
              <a:t>9(10-1)</a:t>
            </a:r>
            <a:r>
              <a:rPr lang="ko-KR" altLang="en-US" sz="1200" dirty="0" err="1">
                <a:latin typeface="MS Reference Sans Serif" panose="020B0604030504040204" pitchFamily="34" charset="0"/>
              </a:rPr>
              <a:t>번째까지</a:t>
            </a:r>
            <a:endParaRPr lang="ko-KR" altLang="en-US" sz="1200" dirty="0">
              <a:latin typeface="MS Reference Sans Serif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MS Reference Sans Serif" panose="020B0604030504040204" pitchFamily="34" charset="0"/>
              </a:rPr>
              <a:t>5..10</a:t>
            </a:r>
            <a:r>
              <a:rPr lang="ko-KR" altLang="en-US" sz="1400" dirty="0">
                <a:latin typeface="MS Reference Sans Serif" panose="020B0604030504040204" pitchFamily="34" charset="0"/>
              </a:rPr>
              <a:t>은 인덱스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5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이상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10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미만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즉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, 5~9)</a:t>
            </a:r>
            <a:r>
              <a:rPr lang="ko-KR" altLang="en-US" sz="1400" dirty="0">
                <a:latin typeface="MS Reference Sans Serif" panose="020B0604030504040204" pitchFamily="34" charset="0"/>
              </a:rPr>
              <a:t> 범위입니다</a:t>
            </a:r>
            <a:r>
              <a:rPr lang="en-US" altLang="ko-KR" sz="1400" dirty="0">
                <a:latin typeface="MS Reference Sans Serif" panose="020B060403050404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MS Reference Sans Serif" panose="020B0604030504040204" pitchFamily="34" charset="0"/>
              </a:rPr>
              <a:t>인덱스 기준</a:t>
            </a:r>
            <a:r>
              <a:rPr lang="en-US" altLang="ko-KR" sz="1400" dirty="0">
                <a:latin typeface="MS Reference Sans Serif" panose="020B060403050404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MS Reference Sans Serif" panose="020B0604030504040204" pitchFamily="34" charset="0"/>
              </a:rPr>
              <a:t>5: 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MS Reference Sans Serif" panose="020B0604030504040204" pitchFamily="34" charset="0"/>
              </a:rPr>
              <a:t>6: 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MS Reference Sans Serif" panose="020B0604030504040204" pitchFamily="34" charset="0"/>
              </a:rPr>
              <a:t>7: 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MS Reference Sans Serif" panose="020B0604030504040204" pitchFamily="34" charset="0"/>
              </a:rPr>
              <a:t>8: 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MS Reference Sans Serif" panose="020B0604030504040204" pitchFamily="34" charset="0"/>
              </a:rPr>
              <a:t>9: J</a:t>
            </a:r>
          </a:p>
          <a:p>
            <a:pPr>
              <a:buNone/>
            </a:pPr>
            <a:r>
              <a:rPr lang="ko-KR" altLang="en-US" sz="1400" dirty="0">
                <a:latin typeface="MS Reference Sans Serif" panose="020B0604030504040204" pitchFamily="34" charset="0"/>
              </a:rPr>
              <a:t>출력</a:t>
            </a:r>
            <a:r>
              <a:rPr lang="en-US" altLang="ko-KR" sz="1400" dirty="0">
                <a:latin typeface="MS Reference Sans Serif" panose="020B0604030504040204" pitchFamily="34" charset="0"/>
              </a:rPr>
              <a:t>: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FGHIJ</a:t>
            </a:r>
          </a:p>
        </p:txBody>
      </p:sp>
    </p:spTree>
    <p:extLst>
      <p:ext uri="{BB962C8B-B14F-4D97-AF65-F5344CB8AC3E}">
        <p14:creationId xmlns:p14="http://schemas.microsoft.com/office/powerpoint/2010/main" val="22072278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854-9680-6656-C955-86F865EE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D0B6311-3B70-D7D9-2B0D-79EB71FA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배열 분할하기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61D4C-6914-8404-C93F-FA54B636BAFA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단계별 동작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F6819F-BA50-A3D1-8604-A295E878F7C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ECCC1F-67D8-A1A5-DECE-4CD99A6D32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412AAB3-1A9D-9233-B48F-297569C2D26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Slice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8BA166-0D60-902B-1DC7-829EF6887DE7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C57BDF3-8A7A-7C8C-D58B-C5434974700B}"/>
              </a:ext>
            </a:extLst>
          </p:cNvPr>
          <p:cNvSpPr txBox="1"/>
          <p:nvPr/>
        </p:nvSpPr>
        <p:spPr>
          <a:xfrm>
            <a:off x="144987" y="2050096"/>
            <a:ext cx="8854026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(5) </a:t>
            </a:r>
            <a:r>
              <a:rPr lang="en-US" altLang="ko-KR" b="1" dirty="0">
                <a:latin typeface="Courier New" panose="02070309020205020404" pitchFamily="49" charset="0"/>
              </a:rPr>
              <a:t>Index last = ^0;</a:t>
            </a:r>
            <a:r>
              <a:rPr lang="ko-KR" altLang="en-US" b="1" dirty="0"/>
              <a:t> 와 </a:t>
            </a:r>
            <a:r>
              <a:rPr lang="en-US" altLang="ko-KR" b="1" dirty="0">
                <a:latin typeface="Courier New" panose="02070309020205020404" pitchFamily="49" charset="0"/>
              </a:rPr>
              <a:t>Range range_5_last = 5..last;</a:t>
            </a:r>
            <a:endParaRPr lang="ko-KR" altLang="en-US" b="1" dirty="0"/>
          </a:p>
          <a:p>
            <a:pPr rtl="0">
              <a:buNone/>
            </a:pPr>
            <a:r>
              <a:rPr lang="en-US" altLang="ko-KR" sz="1400" dirty="0">
                <a:latin typeface="Courier New" panose="02070309020205020404" pitchFamily="49" charset="0"/>
              </a:rPr>
              <a:t>Index last = ^0;</a:t>
            </a:r>
          </a:p>
          <a:p>
            <a:pPr rtl="0">
              <a:buNone/>
            </a:pPr>
            <a:r>
              <a:rPr lang="en-US" altLang="ko-KR" sz="1400" dirty="0">
                <a:latin typeface="Courier New" panose="02070309020205020404" pitchFamily="49" charset="0"/>
              </a:rPr>
              <a:t>Range range_5_last = 5..last;</a:t>
            </a:r>
          </a:p>
          <a:p>
            <a:pPr rtl="0">
              <a:buNone/>
            </a:pPr>
            <a:r>
              <a:rPr lang="en-US" altLang="ko-KR" sz="1400" dirty="0" err="1">
                <a:latin typeface="Courier New" panose="02070309020205020404" pitchFamily="49" charset="0"/>
              </a:rPr>
              <a:t>PrintArray</a:t>
            </a:r>
            <a:r>
              <a:rPr lang="en-US" altLang="ko-KR" sz="1400" dirty="0">
                <a:latin typeface="Courier New" panose="02070309020205020404" pitchFamily="49" charset="0"/>
              </a:rPr>
              <a:t>(array[range_5_last]); // 5</a:t>
            </a:r>
            <a:r>
              <a:rPr lang="ko-KR" altLang="en-US" sz="1400" dirty="0" err="1">
                <a:latin typeface="Courier New" panose="02070309020205020404" pitchFamily="49" charset="0"/>
              </a:rPr>
              <a:t>번째부터</a:t>
            </a:r>
            <a:r>
              <a:rPr lang="ko-KR" altLang="en-US" sz="1400" dirty="0">
                <a:latin typeface="Courier New" panose="02070309020205020404" pitchFamily="49" charset="0"/>
              </a:rPr>
              <a:t> 끝까지</a:t>
            </a:r>
            <a:endParaRPr lang="en-US" altLang="ko-KR" sz="1400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ko-KR" altLang="en-US" dirty="0">
              <a:latin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Courier New" panose="02070309020205020404" pitchFamily="49" charset="0"/>
              </a:rPr>
              <a:t>^</a:t>
            </a:r>
            <a:r>
              <a:rPr lang="ko-KR" altLang="en-US" dirty="0"/>
              <a:t> 연산자는 뒤에서부터 인덱싱을 의미합니다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Courier New" panose="02070309020205020404" pitchFamily="49" charset="0"/>
              </a:rPr>
              <a:t>^1</a:t>
            </a:r>
            <a:r>
              <a:rPr lang="ko-KR" altLang="en-US" dirty="0"/>
              <a:t> → 끝에서 </a:t>
            </a:r>
            <a:r>
              <a:rPr lang="en-US" altLang="ko-KR" dirty="0"/>
              <a:t>1</a:t>
            </a:r>
            <a:r>
              <a:rPr lang="ko-KR" altLang="en-US" dirty="0"/>
              <a:t>번째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Courier New" panose="02070309020205020404" pitchFamily="49" charset="0"/>
              </a:rPr>
              <a:t>^2</a:t>
            </a:r>
            <a:r>
              <a:rPr lang="ko-KR" altLang="en-US" dirty="0"/>
              <a:t> → 끝에서 </a:t>
            </a:r>
            <a:r>
              <a:rPr lang="en-US" altLang="ko-KR" dirty="0"/>
              <a:t>2</a:t>
            </a:r>
            <a:r>
              <a:rPr lang="ko-KR" altLang="en-US" dirty="0"/>
              <a:t>번째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Courier New" panose="02070309020205020404" pitchFamily="49" charset="0"/>
              </a:rPr>
              <a:t>^0</a:t>
            </a:r>
            <a:r>
              <a:rPr lang="ko-KR" altLang="en-US" dirty="0"/>
              <a:t> → “끝에서 </a:t>
            </a:r>
            <a:r>
              <a:rPr lang="en-US" altLang="ko-KR" dirty="0"/>
              <a:t>0</a:t>
            </a:r>
            <a:r>
              <a:rPr lang="ko-KR" altLang="en-US" dirty="0"/>
              <a:t>번째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배열 끝</a:t>
            </a:r>
            <a:r>
              <a:rPr lang="en-US" altLang="ko-KR" dirty="0"/>
              <a:t>)”</a:t>
            </a:r>
            <a:r>
              <a:rPr lang="ko-KR" altLang="en-US" dirty="0"/>
              <a:t>을 의미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따라서 </a:t>
            </a:r>
            <a:r>
              <a:rPr lang="en-US" altLang="ko-KR" dirty="0">
                <a:latin typeface="Courier New" panose="02070309020205020404" pitchFamily="49" charset="0"/>
              </a:rPr>
              <a:t>5..^0</a:t>
            </a:r>
            <a:r>
              <a:rPr lang="ko-KR" altLang="en-US" dirty="0"/>
              <a:t> 은 “인덱스 </a:t>
            </a:r>
            <a:r>
              <a:rPr lang="en-US" altLang="ko-KR" dirty="0"/>
              <a:t>5</a:t>
            </a:r>
            <a:r>
              <a:rPr lang="ko-KR" altLang="en-US" dirty="0"/>
              <a:t>부터 배열 끝” </a:t>
            </a:r>
            <a:r>
              <a:rPr lang="en-US" altLang="ko-KR" dirty="0"/>
              <a:t>= “</a:t>
            </a:r>
            <a:r>
              <a:rPr lang="ko-KR" altLang="en-US" dirty="0" err="1"/>
              <a:t>끝까지”와</a:t>
            </a:r>
            <a:r>
              <a:rPr lang="ko-KR" altLang="en-US" dirty="0"/>
              <a:t> 같습니다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ko-KR" altLang="en-US" dirty="0"/>
              <a:t>출력</a:t>
            </a:r>
            <a:r>
              <a:rPr lang="en-US" altLang="ko-KR" dirty="0"/>
              <a:t>:</a:t>
            </a:r>
          </a:p>
          <a:p>
            <a:pPr rtl="0">
              <a:buNone/>
            </a:pPr>
            <a:r>
              <a:rPr lang="en-US" altLang="ko-KR" dirty="0">
                <a:latin typeface="Courier New" panose="02070309020205020404" pitchFamily="49" charset="0"/>
              </a:rPr>
              <a:t>FGHIJKLMNOPQRSTUVWXYZ</a:t>
            </a:r>
          </a:p>
          <a:p>
            <a:pPr>
              <a:buNone/>
            </a:pPr>
            <a:r>
              <a:rPr lang="en-US" altLang="ko-KR" dirty="0"/>
              <a:t>(</a:t>
            </a:r>
            <a:r>
              <a:rPr lang="en-US" altLang="ko-KR" dirty="0">
                <a:latin typeface="Courier New" panose="02070309020205020404" pitchFamily="49" charset="0"/>
              </a:rPr>
              <a:t>array[5..]</a:t>
            </a:r>
            <a:r>
              <a:rPr lang="ko-KR" altLang="en-US" dirty="0"/>
              <a:t>과 동일한 결과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982980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854-9680-6656-C955-86F865EE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D0B6311-3B70-D7D9-2B0D-79EB71FA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배열 분할하기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61D4C-6914-8404-C93F-FA54B636BAFA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단계별 동작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F6819F-BA50-A3D1-8604-A295E878F7C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ECCC1F-67D8-A1A5-DECE-4CD99A6D32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412AAB3-1A9D-9233-B48F-297569C2D26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Slice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8BA166-0D60-902B-1DC7-829EF6887DE7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46479BB-9239-AAAF-26C3-1C74B5F2CC4B}"/>
              </a:ext>
            </a:extLst>
          </p:cNvPr>
          <p:cNvSpPr txBox="1"/>
          <p:nvPr/>
        </p:nvSpPr>
        <p:spPr>
          <a:xfrm>
            <a:off x="335222" y="2139387"/>
            <a:ext cx="847355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latin typeface="MS Reference Sans Serif" panose="020B0604030504040204" pitchFamily="34" charset="0"/>
              </a:rPr>
              <a:t>6) </a:t>
            </a:r>
            <a:r>
              <a:rPr lang="en-US" altLang="ko-KR" b="1" dirty="0" err="1">
                <a:latin typeface="MS Reference Sans Serif" panose="020B0604030504040204" pitchFamily="34" charset="0"/>
              </a:rPr>
              <a:t>PrintArray</a:t>
            </a:r>
            <a:r>
              <a:rPr lang="en-US" altLang="ko-KR" b="1" dirty="0">
                <a:latin typeface="MS Reference Sans Serif" panose="020B0604030504040204" pitchFamily="34" charset="0"/>
              </a:rPr>
              <a:t>(array[^4..^1]);</a:t>
            </a:r>
            <a:endParaRPr lang="ko-KR" altLang="en-US" b="1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sz="1600" dirty="0" err="1">
                <a:latin typeface="MS Reference Sans Serif" panose="020B0604030504040204" pitchFamily="34" charset="0"/>
              </a:rPr>
              <a:t>PrintArray</a:t>
            </a:r>
            <a:r>
              <a:rPr lang="en-US" altLang="ko-KR" sz="1600" dirty="0">
                <a:latin typeface="MS Reference Sans Serif" panose="020B0604030504040204" pitchFamily="34" charset="0"/>
              </a:rPr>
              <a:t>(array[^4..^1]); // </a:t>
            </a:r>
            <a:r>
              <a:rPr lang="ko-KR" altLang="en-US" sz="1600" dirty="0">
                <a:latin typeface="MS Reference Sans Serif" panose="020B0604030504040204" pitchFamily="34" charset="0"/>
              </a:rPr>
              <a:t>끝에서 </a:t>
            </a:r>
            <a:r>
              <a:rPr lang="en-US" altLang="ko-KR" sz="1600" dirty="0">
                <a:latin typeface="MS Reference Sans Serif" panose="020B0604030504040204" pitchFamily="34" charset="0"/>
              </a:rPr>
              <a:t>4</a:t>
            </a:r>
            <a:r>
              <a:rPr lang="ko-KR" altLang="en-US" sz="1600" dirty="0" err="1">
                <a:latin typeface="MS Reference Sans Serif" panose="020B0604030504040204" pitchFamily="34" charset="0"/>
              </a:rPr>
              <a:t>번째부터</a:t>
            </a:r>
            <a:r>
              <a:rPr lang="ko-KR" altLang="en-US" sz="1600" dirty="0">
                <a:latin typeface="MS Reference Sans Serif" panose="020B0604030504040204" pitchFamily="34" charset="0"/>
              </a:rPr>
              <a:t> 끝</a:t>
            </a:r>
            <a:r>
              <a:rPr lang="en-US" altLang="ko-KR" sz="1600" dirty="0">
                <a:latin typeface="MS Reference Sans Serif" panose="020B0604030504040204" pitchFamily="34" charset="0"/>
              </a:rPr>
              <a:t>(^)</a:t>
            </a:r>
            <a:r>
              <a:rPr lang="ko-KR" altLang="en-US" sz="1600" dirty="0">
                <a:latin typeface="MS Reference Sans Serif" panose="020B0604030504040204" pitchFamily="34" charset="0"/>
              </a:rPr>
              <a:t>에서 </a:t>
            </a:r>
            <a:r>
              <a:rPr lang="en-US" altLang="ko-KR" sz="1600" dirty="0">
                <a:latin typeface="MS Reference Sans Serif" panose="020B0604030504040204" pitchFamily="34" charset="0"/>
              </a:rPr>
              <a:t>1</a:t>
            </a:r>
            <a:r>
              <a:rPr lang="ko-KR" altLang="en-US" sz="1600" dirty="0" err="1">
                <a:latin typeface="MS Reference Sans Serif" panose="020B0604030504040204" pitchFamily="34" charset="0"/>
              </a:rPr>
              <a:t>번째까지</a:t>
            </a:r>
            <a:endParaRPr lang="en-US" altLang="ko-KR" sz="1600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endParaRPr lang="ko-KR" altLang="en-US" sz="1600" dirty="0">
              <a:latin typeface="MS Reference Sans Serif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MS Reference Sans Serif" panose="020B0604030504040204" pitchFamily="34" charset="0"/>
              </a:rPr>
              <a:t>^4</a:t>
            </a:r>
            <a:r>
              <a:rPr lang="ko-KR" altLang="en-US" dirty="0">
                <a:latin typeface="MS Reference Sans Serif" panose="020B0604030504040204" pitchFamily="34" charset="0"/>
              </a:rPr>
              <a:t> → 끝에서 </a:t>
            </a:r>
            <a:r>
              <a:rPr lang="en-US" altLang="ko-KR" dirty="0">
                <a:latin typeface="MS Reference Sans Serif" panose="020B0604030504040204" pitchFamily="34" charset="0"/>
              </a:rPr>
              <a:t>4</a:t>
            </a:r>
            <a:r>
              <a:rPr lang="ko-KR" altLang="en-US" dirty="0">
                <a:latin typeface="MS Reference Sans Serif" panose="020B0604030504040204" pitchFamily="34" charset="0"/>
              </a:rPr>
              <a:t>번째 </a:t>
            </a:r>
            <a:r>
              <a:rPr lang="en-US" altLang="ko-KR" dirty="0">
                <a:latin typeface="MS Reference Sans Serif" panose="020B0604030504040204" pitchFamily="34" charset="0"/>
              </a:rPr>
              <a:t>(W)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MS Reference Sans Serif" panose="020B0604030504040204" pitchFamily="34" charset="0"/>
              </a:rPr>
              <a:t>^1</a:t>
            </a:r>
            <a:r>
              <a:rPr lang="ko-KR" altLang="en-US" dirty="0">
                <a:latin typeface="MS Reference Sans Serif" panose="020B0604030504040204" pitchFamily="34" charset="0"/>
              </a:rPr>
              <a:t> → 끝에서 </a:t>
            </a:r>
            <a:r>
              <a:rPr lang="en-US" altLang="ko-KR" dirty="0">
                <a:latin typeface="MS Reference Sans Serif" panose="020B0604030504040204" pitchFamily="34" charset="0"/>
              </a:rPr>
              <a:t>1</a:t>
            </a:r>
            <a:r>
              <a:rPr lang="ko-KR" altLang="en-US" dirty="0">
                <a:latin typeface="MS Reference Sans Serif" panose="020B0604030504040204" pitchFamily="34" charset="0"/>
              </a:rPr>
              <a:t>번째 </a:t>
            </a:r>
            <a:r>
              <a:rPr lang="en-US" altLang="ko-KR" dirty="0">
                <a:latin typeface="MS Reference Sans Serif" panose="020B0604030504040204" pitchFamily="34" charset="0"/>
              </a:rPr>
              <a:t>(Z)</a:t>
            </a:r>
          </a:p>
          <a:p>
            <a:pPr>
              <a:buNone/>
            </a:pPr>
            <a:r>
              <a:rPr lang="ko-KR" altLang="en-US" dirty="0">
                <a:latin typeface="MS Reference Sans Serif" panose="020B0604030504040204" pitchFamily="34" charset="0"/>
              </a:rPr>
              <a:t>즉</a:t>
            </a:r>
            <a:r>
              <a:rPr lang="en-US" altLang="ko-KR" dirty="0">
                <a:latin typeface="MS Reference Sans Serif" panose="020B0604030504040204" pitchFamily="34" charset="0"/>
              </a:rPr>
              <a:t>, array[^4..^1]</a:t>
            </a:r>
            <a:r>
              <a:rPr lang="ko-KR" altLang="en-US" dirty="0">
                <a:latin typeface="MS Reference Sans Serif" panose="020B0604030504040204" pitchFamily="34" charset="0"/>
              </a:rPr>
              <a:t>는 </a:t>
            </a:r>
            <a:r>
              <a:rPr lang="en-US" altLang="ko-KR" b="1" dirty="0">
                <a:latin typeface="MS Reference Sans Serif" panose="020B0604030504040204" pitchFamily="34" charset="0"/>
              </a:rPr>
              <a:t>W, X, Y</a:t>
            </a:r>
            <a:r>
              <a:rPr lang="ko-KR" altLang="en-US" dirty="0">
                <a:latin typeface="MS Reference Sans Serif" panose="020B0604030504040204" pitchFamily="34" charset="0"/>
              </a:rPr>
              <a:t> </a:t>
            </a:r>
            <a:r>
              <a:rPr lang="en-US" altLang="ko-KR" dirty="0">
                <a:latin typeface="MS Reference Sans Serif" panose="020B0604030504040204" pitchFamily="34" charset="0"/>
              </a:rPr>
              <a:t>(</a:t>
            </a:r>
            <a:r>
              <a:rPr lang="ko-KR" altLang="en-US" dirty="0">
                <a:latin typeface="MS Reference Sans Serif" panose="020B0604030504040204" pitchFamily="34" charset="0"/>
              </a:rPr>
              <a:t>마지막 요소 </a:t>
            </a:r>
            <a:r>
              <a:rPr lang="en-US" altLang="ko-KR" dirty="0">
                <a:latin typeface="MS Reference Sans Serif" panose="020B0604030504040204" pitchFamily="34" charset="0"/>
              </a:rPr>
              <a:t>Z</a:t>
            </a:r>
            <a:r>
              <a:rPr lang="ko-KR" altLang="en-US" dirty="0">
                <a:latin typeface="MS Reference Sans Serif" panose="020B0604030504040204" pitchFamily="34" charset="0"/>
              </a:rPr>
              <a:t>은 포함 안 됨</a:t>
            </a:r>
            <a:r>
              <a:rPr lang="en-US" altLang="ko-KR" dirty="0">
                <a:latin typeface="MS Reference Sans Serif" panose="020B0604030504040204" pitchFamily="34" charset="0"/>
              </a:rPr>
              <a:t>)</a:t>
            </a:r>
          </a:p>
          <a:p>
            <a:pPr>
              <a:buNone/>
            </a:pPr>
            <a:r>
              <a:rPr lang="ko-KR" altLang="en-US" dirty="0">
                <a:latin typeface="MS Reference Sans Serif" panose="020B0604030504040204" pitchFamily="34" charset="0"/>
              </a:rPr>
              <a:t>출력</a:t>
            </a:r>
            <a:r>
              <a:rPr lang="en-US" altLang="ko-KR" dirty="0">
                <a:latin typeface="MS Reference Sans Serif" panose="020B0604030504040204" pitchFamily="34" charset="0"/>
              </a:rPr>
              <a:t>: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WXY</a:t>
            </a:r>
          </a:p>
        </p:txBody>
      </p:sp>
    </p:spTree>
    <p:extLst>
      <p:ext uri="{BB962C8B-B14F-4D97-AF65-F5344CB8AC3E}">
        <p14:creationId xmlns:p14="http://schemas.microsoft.com/office/powerpoint/2010/main" val="4046222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8CE183B-9EAF-39E3-2DC5-AA0F463EC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5. 2</a:t>
            </a:r>
            <a:r>
              <a:rPr lang="ko-KR" altLang="en-US" dirty="0"/>
              <a:t>차원 배열</a:t>
            </a:r>
          </a:p>
        </p:txBody>
      </p:sp>
      <p:sp>
        <p:nvSpPr>
          <p:cNvPr id="6" name="Google Shape;100;p14">
            <a:extLst>
              <a:ext uri="{FF2B5EF4-FFF2-40B4-BE49-F238E27FC236}">
                <a16:creationId xmlns:a16="http://schemas.microsoft.com/office/drawing/2014/main" id="{4D78B6F0-7D80-4D66-A24E-64B032C561B3}"/>
              </a:ext>
            </a:extLst>
          </p:cNvPr>
          <p:cNvSpPr txBox="1">
            <a:spLocks/>
          </p:cNvSpPr>
          <p:nvPr/>
        </p:nvSpPr>
        <p:spPr>
          <a:xfrm>
            <a:off x="885825" y="1332220"/>
            <a:ext cx="7190555" cy="2104414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b="1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2</a:t>
            </a:r>
            <a:r>
              <a:rPr lang="ko-KR" altLang="en-US" sz="1800" b="1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개의 차원</a:t>
            </a:r>
            <a:r>
              <a:rPr lang="en-US" altLang="ko-KR" sz="1800" b="1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(</a:t>
            </a:r>
            <a:r>
              <a:rPr lang="ko-KR" altLang="en-US" sz="1800" b="1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세로</a:t>
            </a:r>
            <a:r>
              <a:rPr lang="en-US" altLang="ko-KR" sz="1800" b="1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+</a:t>
            </a:r>
            <a:r>
              <a:rPr lang="ko-KR" altLang="en-US" sz="1800" b="1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가로</a:t>
            </a:r>
            <a:r>
              <a:rPr lang="en-US" altLang="ko-KR" sz="1800" b="1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)</a:t>
            </a:r>
            <a:r>
              <a:rPr lang="ko-KR" altLang="en-US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으로 요소 배치</a:t>
            </a:r>
            <a:endParaRPr lang="en-US" altLang="ko-KR" sz="18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r>
              <a:rPr lang="ko-KR" altLang="en-US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차원의 길이를 뒤에서부터 읽어 해석</a:t>
            </a:r>
            <a:r>
              <a:rPr lang="en-US" altLang="ko-KR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(</a:t>
            </a: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예</a:t>
            </a:r>
            <a:r>
              <a:rPr lang="en-US" altLang="ko-KR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: int[ 2, 3 ]</a:t>
            </a:r>
            <a:r>
              <a:rPr lang="ko-KR" altLang="en-US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MS Reference Sans Serif" panose="020B0604030504040204" pitchFamily="34" charset="0"/>
                <a:sym typeface="Wingdings" panose="05000000000000000000" pitchFamily="2" charset="2"/>
              </a:rPr>
              <a:t> </a:t>
            </a:r>
            <a:r>
              <a:rPr lang="ko-KR" altLang="en-US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길이가 </a:t>
            </a:r>
            <a:r>
              <a:rPr lang="en-US" altLang="ko-KR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3</a:t>
            </a:r>
            <a:r>
              <a:rPr lang="ko-KR" altLang="en-US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인 </a:t>
            </a:r>
            <a:r>
              <a:rPr lang="en-US" altLang="ko-KR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1</a:t>
            </a:r>
            <a:r>
              <a:rPr lang="ko-KR" altLang="en-US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차원 배열을 요소로 갖는</a:t>
            </a:r>
            <a:r>
              <a:rPr lang="en-US" altLang="ko-KR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 </a:t>
            </a:r>
            <a:r>
              <a:rPr lang="ko-KR" altLang="en-US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길이가 </a:t>
            </a:r>
            <a:r>
              <a:rPr lang="en-US" altLang="ko-KR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2</a:t>
            </a:r>
            <a:r>
              <a:rPr lang="ko-KR" altLang="en-US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인</a:t>
            </a:r>
            <a:r>
              <a:rPr lang="en-US" altLang="ko-KR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 2</a:t>
            </a:r>
            <a:r>
              <a:rPr lang="ko-KR" altLang="en-US" sz="16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차원 배열</a:t>
            </a:r>
            <a:endParaRPr lang="en-US" altLang="ko-KR" sz="16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pPr lvl="1"/>
            <a:endParaRPr lang="ko-KR" altLang="en-US" sz="16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pPr marL="171450" lvl="1">
              <a:spcBef>
                <a:spcPts val="750"/>
              </a:spcBef>
            </a:pPr>
            <a:r>
              <a:rPr lang="ko-KR" altLang="en-US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배열의 세 가지 초기화 방법 모두 사용 가능</a:t>
            </a:r>
            <a:endParaRPr lang="en-US" altLang="ko-KR" sz="18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8CF947-20B4-47A8-BC51-85938348D5E2}"/>
              </a:ext>
            </a:extLst>
          </p:cNvPr>
          <p:cNvSpPr/>
          <p:nvPr/>
        </p:nvSpPr>
        <p:spPr>
          <a:xfrm>
            <a:off x="885825" y="4038788"/>
            <a:ext cx="4409744" cy="5770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int[,] </a:t>
            </a:r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arr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altLang="ko-KR" sz="105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new int[2, 3]{ {1, 2, 3}, {4, 5, 6} }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int[,] </a:t>
            </a:r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arr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altLang="ko-KR" sz="105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new int[,] { { 1, 2, 3 }, { 4, 5, 6 } }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int[,] </a:t>
            </a:r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arr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en-US" altLang="ko-KR" sz="105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{ { 1, 2, 3 }, { 4, 5, 6 } }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E24E8F8-75D0-4E41-B165-F939E3EBA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759" y="3762770"/>
            <a:ext cx="3041695" cy="122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3662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DB30-2740-983A-ABE9-54C5C6C5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1390ECC-540A-BFEA-D6AF-09EA4233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5. 2</a:t>
            </a:r>
            <a:r>
              <a:rPr lang="ko-KR" altLang="en-US" dirty="0"/>
              <a:t>차원 배열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83CA7-C805-0BEB-014F-160CCB990238}"/>
              </a:ext>
            </a:extLst>
          </p:cNvPr>
          <p:cNvSpPr txBox="1"/>
          <p:nvPr/>
        </p:nvSpPr>
        <p:spPr>
          <a:xfrm>
            <a:off x="224290" y="1526876"/>
            <a:ext cx="884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MS Reference Sans Serif" panose="020B0604030504040204" pitchFamily="34" charset="0"/>
              </a:rPr>
              <a:t>2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차원 배열 선언 및 초기화 방법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928F791-0E92-F562-26BE-896B1B677473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864171C-A259-82C0-8920-569E32DFA70A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0A35945-4182-EAA0-9670-A0EA086A5C99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2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차원 배열 선언 및 초기화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620E080-6B04-7F70-AFBC-21260B9239CD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3F5CC73-2B66-DF3B-D56B-4C752C08EFA1}"/>
              </a:ext>
            </a:extLst>
          </p:cNvPr>
          <p:cNvSpPr txBox="1"/>
          <p:nvPr/>
        </p:nvSpPr>
        <p:spPr>
          <a:xfrm>
            <a:off x="198408" y="2274838"/>
            <a:ext cx="45720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MS Reference Sans Serif" panose="020B0604030504040204" pitchFamily="34" charset="0"/>
              </a:rPr>
              <a:t>방법 1: 크기만 지정</a:t>
            </a:r>
          </a:p>
          <a:p>
            <a:r>
              <a:rPr lang="ko-KR" altLang="en-US" sz="1400" b="1" dirty="0">
                <a:latin typeface="MS Reference Sans Serif" panose="020B0604030504040204" pitchFamily="34" charset="0"/>
              </a:rPr>
              <a:t>// 3행 4열 2차원 배열</a:t>
            </a:r>
          </a:p>
          <a:p>
            <a:r>
              <a:rPr lang="ko-KR" altLang="en-US" sz="1400" b="1" dirty="0" err="1">
                <a:latin typeface="MS Reference Sans Serif" panose="020B0604030504040204" pitchFamily="34" charset="0"/>
              </a:rPr>
              <a:t>int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[,] </a:t>
            </a:r>
            <a:r>
              <a:rPr lang="ko-KR" altLang="en-US" sz="1400" b="1" dirty="0" err="1">
                <a:latin typeface="MS Reference Sans Serif" panose="020B0604030504040204" pitchFamily="34" charset="0"/>
              </a:rPr>
              <a:t>matrix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 = </a:t>
            </a:r>
            <a:r>
              <a:rPr lang="ko-KR" altLang="en-US" sz="1400" b="1" dirty="0" err="1">
                <a:latin typeface="MS Reference Sans Serif" panose="020B0604030504040204" pitchFamily="34" charset="0"/>
              </a:rPr>
              <a:t>new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1400" b="1" dirty="0" err="1">
                <a:latin typeface="MS Reference Sans Serif" panose="020B0604030504040204" pitchFamily="34" charset="0"/>
              </a:rPr>
              <a:t>int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[3, 4];</a:t>
            </a:r>
          </a:p>
          <a:p>
            <a:endParaRPr lang="ko-KR" altLang="en-US" sz="1400" b="1" dirty="0">
              <a:latin typeface="MS Reference Sans Serif" panose="020B0604030504040204" pitchFamily="34" charset="0"/>
            </a:endParaRPr>
          </a:p>
          <a:p>
            <a:r>
              <a:rPr lang="ko-KR" altLang="en-US" sz="1400" b="1" dirty="0">
                <a:latin typeface="MS Reference Sans Serif" panose="020B0604030504040204" pitchFamily="34" charset="0"/>
              </a:rPr>
              <a:t>// 기본값: 모든 요소가 0</a:t>
            </a:r>
          </a:p>
          <a:p>
            <a:r>
              <a:rPr lang="ko-KR" altLang="en-US" sz="1400" b="1" dirty="0">
                <a:latin typeface="MS Reference Sans Serif" panose="020B0604030504040204" pitchFamily="34" charset="0"/>
              </a:rPr>
              <a:t>// [0, 0, 0, 0]</a:t>
            </a:r>
          </a:p>
          <a:p>
            <a:r>
              <a:rPr lang="ko-KR" altLang="en-US" sz="1400" b="1" dirty="0">
                <a:latin typeface="MS Reference Sans Serif" panose="020B0604030504040204" pitchFamily="34" charset="0"/>
              </a:rPr>
              <a:t>// [0, 0, 0, 0]</a:t>
            </a:r>
          </a:p>
          <a:p>
            <a:r>
              <a:rPr lang="ko-KR" altLang="en-US" sz="1400" b="1" dirty="0">
                <a:latin typeface="MS Reference Sans Serif" panose="020B0604030504040204" pitchFamily="34" charset="0"/>
              </a:rPr>
              <a:t>// [0, 0, 0, 0]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B66353-B0CE-E9F1-A699-C134D7F585C4}"/>
              </a:ext>
            </a:extLst>
          </p:cNvPr>
          <p:cNvSpPr txBox="1"/>
          <p:nvPr/>
        </p:nvSpPr>
        <p:spPr>
          <a:xfrm>
            <a:off x="4118508" y="2274838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MS Reference Sans Serif" panose="020B0604030504040204" pitchFamily="34" charset="0"/>
              </a:rPr>
              <a:t>방법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2: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선언과 동시에 초기화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int[,] matrix = new int[3, 3]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1, 2, 3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4, 5, 6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7, 8, 9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또는 간략하게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int[,] matrix = 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1, 2, 3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4, 5, 6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7, 8, 9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};</a:t>
            </a:r>
            <a:endParaRPr lang="ko-KR" altLang="en-US" sz="1400" b="1" dirty="0">
              <a:latin typeface="MS Reference Sans Serif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6AD60F-93B4-2649-65DD-A971FCA5E895}"/>
              </a:ext>
            </a:extLst>
          </p:cNvPr>
          <p:cNvSpPr txBox="1"/>
          <p:nvPr/>
        </p:nvSpPr>
        <p:spPr>
          <a:xfrm>
            <a:off x="198408" y="4469350"/>
            <a:ext cx="4572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MS Reference Sans Serif" panose="020B0604030504040204" pitchFamily="34" charset="0"/>
              </a:rPr>
              <a:t>방법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3: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문자열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2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차원 배열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string[,] seats = new string[3, 4]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"A1", "A2", "A3", "A4"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"B1", "B2", "B3", "B4"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"C1", "C2", "C3", "C4"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};</a:t>
            </a:r>
            <a:endParaRPr lang="ko-KR" altLang="en-US" sz="1400" b="1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9118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DB30-2740-983A-ABE9-54C5C6C5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1390ECC-540A-BFEA-D6AF-09EA4233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5. 2</a:t>
            </a:r>
            <a:r>
              <a:rPr lang="ko-KR" altLang="en-US" dirty="0"/>
              <a:t>차원 배열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83CA7-C805-0BEB-014F-160CCB990238}"/>
              </a:ext>
            </a:extLst>
          </p:cNvPr>
          <p:cNvSpPr txBox="1"/>
          <p:nvPr/>
        </p:nvSpPr>
        <p:spPr>
          <a:xfrm>
            <a:off x="224290" y="1526876"/>
            <a:ext cx="884207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int[,] matrix = 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1, 2, 3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4, 5, 6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7, 8, 9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읽기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(matrix[0, 0]);  // 1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(matrix[1, 2]);  // 6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(matrix[2, 1]);  // 8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쓰기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matrix[0, 0] = 100;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matrix[1, 1] = 200;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수정 후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[100, 2, 3]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[4, 200, 6]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[7, 8, 9]</a:t>
            </a:r>
            <a:endParaRPr lang="ko-KR" altLang="en-US" sz="1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928F791-0E92-F562-26BE-896B1B677473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864171C-A259-82C0-8920-569E32DFA70A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0A35945-4182-EAA0-9670-A0EA086A5C99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2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차원 배열 요소 접근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620E080-6B04-7F70-AFBC-21260B9239CD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12592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DB30-2740-983A-ABE9-54C5C6C5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1390ECC-540A-BFEA-D6AF-09EA4233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5. 2</a:t>
            </a:r>
            <a:r>
              <a:rPr lang="ko-KR" altLang="en-US" dirty="0"/>
              <a:t>차원 배열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83CA7-C805-0BEB-014F-160CCB990238}"/>
              </a:ext>
            </a:extLst>
          </p:cNvPr>
          <p:cNvSpPr txBox="1"/>
          <p:nvPr/>
        </p:nvSpPr>
        <p:spPr>
          <a:xfrm>
            <a:off x="224290" y="1526876"/>
            <a:ext cx="884207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int[,] matrix = new int[3, 4];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GetLength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차원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):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특정 차원의 길이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 rows =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matrix.GetLength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(0);     // 3 (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행 개수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 cols =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matrix.GetLength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(1);     // 4 (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열 개수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)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Length: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전체 요소 개수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 total =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matrix.Length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;           // 12 (3 × 4)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Rank: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차원 수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 dimensions =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matrix.Rank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;        // 2</a:t>
            </a:r>
            <a:endParaRPr lang="ko-KR" altLang="en-US" sz="1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928F791-0E92-F562-26BE-896B1B677473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864171C-A259-82C0-8920-569E32DFA70A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0A35945-4182-EAA0-9670-A0EA086A5C99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2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차원 배열의 속성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620E080-6B04-7F70-AFBC-21260B9239CD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44289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DB30-2740-983A-ABE9-54C5C6C5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1390ECC-540A-BFEA-D6AF-09EA4233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5. 2</a:t>
            </a:r>
            <a:r>
              <a:rPr lang="ko-KR" altLang="en-US" dirty="0"/>
              <a:t>차원 배열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83CA7-C805-0BEB-014F-160CCB990238}"/>
              </a:ext>
            </a:extLst>
          </p:cNvPr>
          <p:cNvSpPr txBox="1"/>
          <p:nvPr/>
        </p:nvSpPr>
        <p:spPr>
          <a:xfrm>
            <a:off x="224289" y="1526876"/>
            <a:ext cx="515060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MS Reference Sans Serif" panose="020B0604030504040204" pitchFamily="34" charset="0"/>
              </a:rPr>
              <a:t>중첩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for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문 사용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int[,] matrix = 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1, 2, 3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4, 5, 6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7, 8, 9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모든 요소 출력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for (int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&lt;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matrix.GetLength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(0);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++)      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행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for (int j = 0; j &lt;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matrix.GetLength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(1);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j++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)  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열</a:t>
            </a:r>
          </a:p>
          <a:p>
            <a:r>
              <a:rPr lang="ko-KR" altLang="en-US" sz="1400" b="1" dirty="0">
                <a:latin typeface="MS Reference Sans Serif" panose="020B0604030504040204" pitchFamily="34" charset="0"/>
              </a:rPr>
              <a:t>   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($"{matrix[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, j],4}");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출력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: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   1   2   3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   4   5   6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   7   8   9</a:t>
            </a:r>
            <a:endParaRPr lang="ko-KR" altLang="en-US" sz="1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928F791-0E92-F562-26BE-896B1B677473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864171C-A259-82C0-8920-569E32DFA70A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0A35945-4182-EAA0-9670-A0EA086A5C99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2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차원 배열 순회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620E080-6B04-7F70-AFBC-21260B9239CD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AF3D979-86FE-B216-5191-8279C30951E2}"/>
              </a:ext>
            </a:extLst>
          </p:cNvPr>
          <p:cNvSpPr txBox="1"/>
          <p:nvPr/>
        </p:nvSpPr>
        <p:spPr>
          <a:xfrm>
            <a:off x="5374892" y="1441671"/>
            <a:ext cx="337896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MS Reference Sans Serif" panose="020B0604030504040204" pitchFamily="34" charset="0"/>
              </a:rPr>
              <a:t>foreach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사용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int[,] matrix = 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1, 2, 3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 4, 5, 6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모든 요소를 순서대로 순회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foreach (int value in matrix)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($"{value} ");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출력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: 1 2 3 4 5 6</a:t>
            </a:r>
            <a:endParaRPr lang="ko-KR" altLang="en-US" sz="1400" b="1" dirty="0">
              <a:latin typeface="MS Reference Sans Serif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DCA9F-607A-AE4A-EBB1-9E6C9E5947B5}"/>
              </a:ext>
            </a:extLst>
          </p:cNvPr>
          <p:cNvSpPr txBox="1"/>
          <p:nvPr/>
        </p:nvSpPr>
        <p:spPr>
          <a:xfrm>
            <a:off x="4072128" y="5077402"/>
            <a:ext cx="4681728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matrix.GetLength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(n)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의 의미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C#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에서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GetLength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(dimension)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메서드는 지정한 차원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(dimension)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의 크기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길이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)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를 반환합니다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b="1" dirty="0" err="1">
                <a:latin typeface="MS Reference Sans Serif" panose="020B0604030504040204" pitchFamily="34" charset="0"/>
              </a:rPr>
              <a:t>matrix.GetLength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(0) → 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행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(row)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의 개수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b="1" dirty="0" err="1">
                <a:latin typeface="MS Reference Sans Serif" panose="020B0604030504040204" pitchFamily="34" charset="0"/>
              </a:rPr>
              <a:t>matrix.GetLength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(1) → 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열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(column)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의 개수</a:t>
            </a:r>
          </a:p>
        </p:txBody>
      </p:sp>
    </p:spTree>
    <p:extLst>
      <p:ext uri="{BB962C8B-B14F-4D97-AF65-F5344CB8AC3E}">
        <p14:creationId xmlns:p14="http://schemas.microsoft.com/office/powerpoint/2010/main" val="1232223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DB30-2740-983A-ABE9-54C5C6C5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1390ECC-540A-BFEA-D6AF-09EA4233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5. 2</a:t>
            </a:r>
            <a:r>
              <a:rPr lang="ko-KR" altLang="en-US" dirty="0"/>
              <a:t>차원 배열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83CA7-C805-0BEB-014F-160CCB990238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928F791-0E92-F562-26BE-896B1B677473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864171C-A259-82C0-8920-569E32DFA70A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0A35945-4182-EAA0-9670-A0EA086A5C99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2DArray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620E080-6B04-7F70-AFBC-21260B9239CD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43B34FC7-85DA-E65D-DA55-032DBF5A6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01" y="2117339"/>
            <a:ext cx="5677705" cy="371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480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DB30-2740-983A-ABE9-54C5C6C5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1390ECC-540A-BFEA-D6AF-09EA4233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5. 2</a:t>
            </a:r>
            <a:r>
              <a:rPr lang="ko-KR" altLang="en-US" dirty="0"/>
              <a:t>차원 배열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83CA7-C805-0BEB-014F-160CCB990238}"/>
              </a:ext>
            </a:extLst>
          </p:cNvPr>
          <p:cNvSpPr txBox="1"/>
          <p:nvPr/>
        </p:nvSpPr>
        <p:spPr>
          <a:xfrm>
            <a:off x="224290" y="1526876"/>
            <a:ext cx="858448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namespace _2DArray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200" b="1" u="sng" dirty="0">
                <a:latin typeface="MS Reference Sans Serif" panose="020B0604030504040204" pitchFamily="34" charset="0"/>
              </a:rPr>
              <a:t>            int[,] </a:t>
            </a:r>
            <a:r>
              <a:rPr lang="en-US" altLang="ko-KR" sz="1200" b="1" u="sng" dirty="0" err="1">
                <a:latin typeface="MS Reference Sans Serif" panose="020B0604030504040204" pitchFamily="34" charset="0"/>
              </a:rPr>
              <a:t>arr</a:t>
            </a:r>
            <a:r>
              <a:rPr lang="en-US" altLang="ko-KR" sz="1200" b="1" u="sng" dirty="0">
                <a:latin typeface="MS Reference Sans Serif" panose="020B0604030504040204" pitchFamily="34" charset="0"/>
              </a:rPr>
              <a:t> = new int[2, 3] { { 1, 2, 3 }, { 4, 5, 6 } };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for (int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 &lt;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arr.GetLength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(0);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++)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for (int j = 0; j &lt;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arr.GetLength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(1);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j++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($"[{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}, {j}] : {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arr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[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, j]} ");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928F791-0E92-F562-26BE-896B1B677473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864171C-A259-82C0-8920-569E32DFA70A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0A35945-4182-EAA0-9670-A0EA086A5C99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2DArray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620E080-6B04-7F70-AFBC-21260B9239CD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57729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DB30-2740-983A-ABE9-54C5C6C5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1390ECC-540A-BFEA-D6AF-09EA4233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5. 2</a:t>
            </a:r>
            <a:r>
              <a:rPr lang="ko-KR" altLang="en-US" dirty="0"/>
              <a:t>차원 배열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83CA7-C805-0BEB-014F-160CCB990238}"/>
              </a:ext>
            </a:extLst>
          </p:cNvPr>
          <p:cNvSpPr txBox="1"/>
          <p:nvPr/>
        </p:nvSpPr>
        <p:spPr>
          <a:xfrm>
            <a:off x="224290" y="1526876"/>
            <a:ext cx="858448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u="sng" dirty="0">
                <a:latin typeface="MS Reference Sans Serif" panose="020B0604030504040204" pitchFamily="34" charset="0"/>
              </a:rPr>
              <a:t>            int[,] arr2 = new int[,] { { 1, 2, 3 }, { 4, 5, 6 } };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for (int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 &lt; arr2.GetLength(0);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++)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for (int j = 0; j &lt; arr2.GetLength(1);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j++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($"[{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}, {j}] : {arr2[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, j]} ");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u="sng" dirty="0">
                <a:latin typeface="MS Reference Sans Serif" panose="020B0604030504040204" pitchFamily="34" charset="0"/>
              </a:rPr>
              <a:t>            int[,] arr3 = { { 1, 2, 3 }, { 4, 5, 6 } };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for (int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 &lt; arr2.GetLength(0);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++)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for (int j = 0; j &lt; arr2.GetLength(1);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j++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($"[{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}, {j}] : {arr3[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, j]} ");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928F791-0E92-F562-26BE-896B1B677473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864171C-A259-82C0-8920-569E32DFA70A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0A35945-4182-EAA0-9670-A0EA086A5C99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2DArray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620E080-6B04-7F70-AFBC-21260B9239CD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8A80DD02-E0BB-2108-3BB0-D0C8F4DF7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826" y="4540438"/>
            <a:ext cx="3238952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993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DB30-2740-983A-ABE9-54C5C6C5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1390ECC-540A-BFEA-D6AF-09EA4233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5. 2</a:t>
            </a:r>
            <a:r>
              <a:rPr lang="ko-KR" altLang="en-US" dirty="0"/>
              <a:t>차원 배열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83CA7-C805-0BEB-014F-160CCB990238}"/>
              </a:ext>
            </a:extLst>
          </p:cNvPr>
          <p:cNvSpPr txBox="1"/>
          <p:nvPr/>
        </p:nvSpPr>
        <p:spPr>
          <a:xfrm>
            <a:off x="224290" y="1526876"/>
            <a:ext cx="8524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>
                <a:latin typeface="MS Reference Sans Serif" panose="020B0604030504040204" pitchFamily="34" charset="0"/>
              </a:rPr>
              <a:t>EduScore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 PRD (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실습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1: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학생 성적 관리 프로그램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)</a:t>
            </a:r>
            <a:endParaRPr lang="ko-KR" altLang="en-US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928F791-0E92-F562-26BE-896B1B677473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864171C-A259-82C0-8920-569E32DFA70A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0A35945-4182-EAA0-9670-A0EA086A5C99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1: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학생 성적 관리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</a:t>
              </a:r>
              <a:r>
                <a:rPr lang="en-US" altLang="ko-KR" sz="2800" dirty="0" err="1"/>
                <a:t>EduScore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620E080-6B04-7F70-AFBC-21260B9239CD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F6B11A5-BF87-3458-9E44-B6FD8A03E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760532"/>
              </p:ext>
            </p:extLst>
          </p:nvPr>
        </p:nvGraphicFramePr>
        <p:xfrm>
          <a:off x="221417" y="2050096"/>
          <a:ext cx="8747184" cy="46450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39159">
                  <a:extLst>
                    <a:ext uri="{9D8B030D-6E8A-4147-A177-3AD203B41FA5}">
                      <a16:colId xmlns:a16="http://schemas.microsoft.com/office/drawing/2014/main" val="265832533"/>
                    </a:ext>
                  </a:extLst>
                </a:gridCol>
                <a:gridCol w="5266944">
                  <a:extLst>
                    <a:ext uri="{9D8B030D-6E8A-4147-A177-3AD203B41FA5}">
                      <a16:colId xmlns:a16="http://schemas.microsoft.com/office/drawing/2014/main" val="1964196295"/>
                    </a:ext>
                  </a:extLst>
                </a:gridCol>
                <a:gridCol w="2141081">
                  <a:extLst>
                    <a:ext uri="{9D8B030D-6E8A-4147-A177-3AD203B41FA5}">
                      <a16:colId xmlns:a16="http://schemas.microsoft.com/office/drawing/2014/main" val="3630825787"/>
                    </a:ext>
                  </a:extLst>
                </a:gridCol>
              </a:tblGrid>
              <a:tr h="179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구분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항목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설명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312387"/>
                  </a:ext>
                </a:extLst>
              </a:tr>
              <a:tr h="495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프로젝트명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EduScore</a:t>
                      </a:r>
                      <a:endParaRPr 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학생별 및 과목별 평균 점수를 계산하고 출력하는 간단한 성적 관리 프로그램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1432513416"/>
                  </a:ext>
                </a:extLst>
              </a:tr>
              <a:tr h="337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개발 언어 </a:t>
                      </a:r>
                      <a:r>
                        <a:rPr lang="en-US" altLang="ko-KR" sz="1000" b="1"/>
                        <a:t>/ </a:t>
                      </a:r>
                      <a:r>
                        <a:rPr lang="ko-KR" altLang="en-US" sz="1000" b="1"/>
                        <a:t>환경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C#, .NET Console Application</a:t>
                      </a:r>
                      <a:endParaRPr 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Visual Studio </a:t>
                      </a:r>
                      <a:r>
                        <a:rPr lang="ko-KR" altLang="en-US" sz="1000"/>
                        <a:t>또는 </a:t>
                      </a:r>
                      <a:r>
                        <a:rPr lang="en-US" altLang="ko-KR" sz="1000"/>
                        <a:t>VS Code </a:t>
                      </a:r>
                      <a:r>
                        <a:rPr lang="ko-KR" altLang="en-US" sz="1000"/>
                        <a:t>환경에서 실행 가능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990011943"/>
                  </a:ext>
                </a:extLst>
              </a:tr>
              <a:tr h="337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개발 목적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학생별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과목별 점수를 배열로 관리하고 평균을 산출하는 기본적인 데이터 처리 및 반복문 학습 실습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1998056225"/>
                  </a:ext>
                </a:extLst>
              </a:tr>
              <a:tr h="179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기능 요약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1. </a:t>
                      </a:r>
                      <a:r>
                        <a:rPr lang="ko-KR" altLang="en-US" sz="1000"/>
                        <a:t>학생별 평균 계산</a:t>
                      </a:r>
                      <a:r>
                        <a:rPr lang="en-US" altLang="ko-KR" sz="1000"/>
                        <a:t>2. </a:t>
                      </a:r>
                      <a:r>
                        <a:rPr lang="ko-KR" altLang="en-US" sz="1000"/>
                        <a:t>과목별 평균 계산</a:t>
                      </a:r>
                      <a:r>
                        <a:rPr lang="en-US" altLang="ko-KR" sz="1000"/>
                        <a:t>3. </a:t>
                      </a:r>
                      <a:r>
                        <a:rPr lang="ko-KR" altLang="en-US" sz="1000"/>
                        <a:t>결과 콘솔 출력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3984218960"/>
                  </a:ext>
                </a:extLst>
              </a:tr>
              <a:tr h="287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입력 데이터 구조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int[,] scores 2</a:t>
                      </a:r>
                      <a:r>
                        <a:rPr lang="ko-KR" altLang="en-US" sz="1000" b="1" dirty="0"/>
                        <a:t>차원 배열 </a:t>
                      </a:r>
                      <a:r>
                        <a:rPr lang="en-US" altLang="ko-KR" sz="1000" b="1" dirty="0"/>
                        <a:t>(5</a:t>
                      </a:r>
                      <a:r>
                        <a:rPr lang="ko-KR" altLang="en-US" sz="1000" b="1" dirty="0"/>
                        <a:t>명 </a:t>
                      </a:r>
                      <a:r>
                        <a:rPr lang="en-US" altLang="ko-KR" sz="1000" b="1" dirty="0"/>
                        <a:t>× 3</a:t>
                      </a:r>
                      <a:r>
                        <a:rPr lang="ko-KR" altLang="en-US" sz="1000" b="1" dirty="0"/>
                        <a:t>과목</a:t>
                      </a:r>
                      <a:r>
                        <a:rPr lang="en-US" altLang="ko-KR" sz="1000" b="1" dirty="0"/>
                        <a:t>)</a:t>
                      </a:r>
                      <a:r>
                        <a:rPr lang="en-US" sz="1000" b="1" dirty="0"/>
                        <a:t>string[] students </a:t>
                      </a:r>
                      <a:r>
                        <a:rPr lang="ko-KR" altLang="en-US" sz="1000" b="1" dirty="0"/>
                        <a:t>학생 이름 배열</a:t>
                      </a:r>
                      <a:r>
                        <a:rPr lang="en-US" sz="1000" b="1" dirty="0"/>
                        <a:t>string[] subjects </a:t>
                      </a:r>
                      <a:r>
                        <a:rPr lang="ko-KR" altLang="en-US" sz="1000" b="1" dirty="0"/>
                        <a:t>과목명 배열</a:t>
                      </a:r>
                      <a:endParaRPr lang="ko-KR" altLang="en-US" sz="1000" b="1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3066484802"/>
                  </a:ext>
                </a:extLst>
              </a:tr>
              <a:tr h="179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출력 데이터 구조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학생별 평균 점수과목별 평균 점수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2496379465"/>
                  </a:ext>
                </a:extLst>
              </a:tr>
              <a:tr h="557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주요 처리 로직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이중 </a:t>
                      </a:r>
                      <a:r>
                        <a:rPr lang="en-US" altLang="ko-KR" sz="1000" dirty="0"/>
                        <a:t>for</a:t>
                      </a:r>
                      <a:r>
                        <a:rPr lang="ko-KR" altLang="en-US" sz="1000" dirty="0"/>
                        <a:t>문을 사용하여 합계 계산 후 평균 도출</a:t>
                      </a:r>
                      <a:r>
                        <a:rPr lang="en-US" altLang="ko-KR" sz="1000" dirty="0"/>
                        <a:t>- </a:t>
                      </a:r>
                      <a:r>
                        <a:rPr lang="en-US" altLang="ko-KR" sz="1000" dirty="0" err="1"/>
                        <a:t>scores.GetLength</a:t>
                      </a:r>
                      <a:r>
                        <a:rPr lang="en-US" altLang="ko-KR" sz="1000" dirty="0"/>
                        <a:t>(0)</a:t>
                      </a:r>
                      <a:r>
                        <a:rPr lang="ko-KR" altLang="en-US" sz="1000" dirty="0"/>
                        <a:t> 및 </a:t>
                      </a:r>
                      <a:r>
                        <a:rPr lang="en-US" altLang="ko-KR" sz="1000" dirty="0" err="1"/>
                        <a:t>scores.GetLength</a:t>
                      </a:r>
                      <a:r>
                        <a:rPr lang="en-US" altLang="ko-KR" sz="1000" dirty="0"/>
                        <a:t>(1)</a:t>
                      </a:r>
                      <a:r>
                        <a:rPr lang="ko-KR" altLang="en-US" sz="1000" dirty="0"/>
                        <a:t>로 행</a:t>
                      </a:r>
                      <a:r>
                        <a:rPr lang="en-US" altLang="ko-KR" sz="1000" dirty="0"/>
                        <a:t>·</a:t>
                      </a:r>
                      <a:r>
                        <a:rPr lang="ko-KR" altLang="en-US" sz="1000" dirty="0"/>
                        <a:t>열 길이 자동 참조</a:t>
                      </a:r>
                      <a:r>
                        <a:rPr lang="en-US" altLang="ko-KR" sz="1000" dirty="0"/>
                        <a:t>- </a:t>
                      </a:r>
                      <a:r>
                        <a:rPr lang="en-US" altLang="ko-KR" sz="1000" dirty="0" err="1"/>
                        <a:t>Console.WriteLine</a:t>
                      </a:r>
                      <a:r>
                        <a:rPr lang="en-US" altLang="ko-KR" sz="1000" dirty="0"/>
                        <a:t>()</a:t>
                      </a:r>
                      <a:r>
                        <a:rPr lang="ko-KR" altLang="en-US" sz="1000" dirty="0"/>
                        <a:t>으로 결과 출력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3895449073"/>
                  </a:ext>
                </a:extLst>
              </a:tr>
              <a:tr h="337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주요 알고리즘 </a:t>
                      </a:r>
                      <a:r>
                        <a:rPr lang="en-US" altLang="ko-KR" sz="1000" b="1"/>
                        <a:t>/ </a:t>
                      </a:r>
                      <a:r>
                        <a:rPr lang="ko-KR" altLang="en-US" sz="1000" b="1"/>
                        <a:t>로직 흐름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① 학생별 루프</a:t>
                      </a:r>
                      <a:r>
                        <a:rPr lang="en-US" altLang="ko-KR" sz="1000" dirty="0"/>
                        <a:t>(</a:t>
                      </a:r>
                      <a:r>
                        <a:rPr lang="en-US" altLang="ko-KR" sz="1000" dirty="0" err="1"/>
                        <a:t>i</a:t>
                      </a:r>
                      <a:r>
                        <a:rPr lang="en-US" altLang="ko-KR" sz="1000" dirty="0"/>
                        <a:t>): </a:t>
                      </a:r>
                      <a:r>
                        <a:rPr lang="ko-KR" altLang="en-US" sz="1000" dirty="0"/>
                        <a:t>각 학생의 과목 점수 합산 → 평균 계산② 과목별 루프</a:t>
                      </a:r>
                      <a:r>
                        <a:rPr lang="en-US" altLang="ko-KR" sz="1000" dirty="0"/>
                        <a:t>(j): </a:t>
                      </a:r>
                      <a:r>
                        <a:rPr lang="ko-KR" altLang="en-US" sz="1000" dirty="0"/>
                        <a:t>각 과목의 학생 점수 합산 → 평균 계산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2491799633"/>
                  </a:ext>
                </a:extLst>
              </a:tr>
              <a:tr h="503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출력 예시 </a:t>
                      </a:r>
                      <a:r>
                        <a:rPr lang="en-US" altLang="ko-KR" sz="1000" b="1"/>
                        <a:t>(</a:t>
                      </a:r>
                      <a:r>
                        <a:rPr lang="en-US" sz="1000" b="1"/>
                        <a:t>Console)</a:t>
                      </a:r>
                      <a:endParaRPr 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&lt;</a:t>
                      </a:r>
                      <a:r>
                        <a:rPr lang="ko-KR" altLang="en-US" sz="1000" dirty="0"/>
                        <a:t>학생별 평균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/>
                        <a:t>홍길동</a:t>
                      </a:r>
                      <a:r>
                        <a:rPr lang="en-US" altLang="ko-KR" sz="1000" dirty="0"/>
                        <a:t>: 84.33</a:t>
                      </a:r>
                      <a:r>
                        <a:rPr lang="ko-KR" altLang="en-US" sz="1000" dirty="0"/>
                        <a:t>점 김철수</a:t>
                      </a:r>
                      <a:r>
                        <a:rPr lang="en-US" altLang="ko-KR" sz="1000" dirty="0"/>
                        <a:t>: 91.67</a:t>
                      </a:r>
                      <a:r>
                        <a:rPr lang="ko-KR" altLang="en-US" sz="1000" dirty="0"/>
                        <a:t>점 이영희</a:t>
                      </a:r>
                      <a:r>
                        <a:rPr lang="en-US" altLang="ko-KR" sz="1000" dirty="0"/>
                        <a:t>: 80.00</a:t>
                      </a:r>
                      <a:r>
                        <a:rPr lang="ko-KR" altLang="en-US" sz="1000" dirty="0"/>
                        <a:t>점 박민수</a:t>
                      </a:r>
                      <a:r>
                        <a:rPr lang="en-US" altLang="ko-KR" sz="1000" dirty="0"/>
                        <a:t>: 91.67</a:t>
                      </a:r>
                      <a:r>
                        <a:rPr lang="ko-KR" altLang="en-US" sz="1000" dirty="0"/>
                        <a:t>점 최지영</a:t>
                      </a:r>
                      <a:r>
                        <a:rPr lang="en-US" altLang="ko-KR" sz="1000" dirty="0"/>
                        <a:t>: 86.67</a:t>
                      </a:r>
                      <a:r>
                        <a:rPr lang="ko-KR" altLang="en-US" sz="1000" dirty="0"/>
                        <a:t>점</a:t>
                      </a:r>
                      <a:r>
                        <a:rPr lang="en-US" altLang="ko-KR" sz="1000" dirty="0"/>
                        <a:t>&lt;</a:t>
                      </a:r>
                      <a:r>
                        <a:rPr lang="ko-KR" altLang="en-US" sz="1000" dirty="0"/>
                        <a:t>과목별 평균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/>
                        <a:t>국어</a:t>
                      </a:r>
                      <a:r>
                        <a:rPr lang="en-US" altLang="ko-KR" sz="1000" dirty="0"/>
                        <a:t>: 87.6</a:t>
                      </a:r>
                      <a:r>
                        <a:rPr lang="ko-KR" altLang="en-US" sz="1000" dirty="0"/>
                        <a:t>점 영어</a:t>
                      </a:r>
                      <a:r>
                        <a:rPr lang="en-US" altLang="ko-KR" sz="1000" dirty="0"/>
                        <a:t>: 86.8</a:t>
                      </a:r>
                      <a:r>
                        <a:rPr lang="ko-KR" altLang="en-US" sz="1000" dirty="0"/>
                        <a:t>점 수학</a:t>
                      </a:r>
                      <a:r>
                        <a:rPr lang="en-US" altLang="ko-KR" sz="1000" dirty="0"/>
                        <a:t>: 86.2</a:t>
                      </a:r>
                      <a:r>
                        <a:rPr lang="ko-KR" altLang="en-US" sz="1000" dirty="0"/>
                        <a:t>점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3850492121"/>
                  </a:ext>
                </a:extLst>
              </a:tr>
              <a:tr h="179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예외 처리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없음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정상 데이터만 입력됨을 가정</a:t>
                      </a:r>
                      <a:r>
                        <a:rPr lang="en-US" altLang="ko-KR" sz="1000"/>
                        <a:t>)</a:t>
                      </a:r>
                      <a:endParaRPr lang="en-US" altLang="ko-KR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2755349038"/>
                  </a:ext>
                </a:extLst>
              </a:tr>
              <a:tr h="337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테스트 케이스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학생 수 변경 시 정상 작동 확인</a:t>
                      </a: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과목 수 변경 시 평균 계산 검증</a:t>
                      </a: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모든 점수가 </a:t>
                      </a:r>
                      <a:r>
                        <a:rPr lang="en-US" altLang="ko-KR" sz="1000" dirty="0"/>
                        <a:t>0 </a:t>
                      </a:r>
                      <a:r>
                        <a:rPr lang="ko-KR" altLang="en-US" sz="1000" dirty="0"/>
                        <a:t>또는 </a:t>
                      </a:r>
                      <a:r>
                        <a:rPr lang="en-US" altLang="ko-KR" sz="1000" dirty="0"/>
                        <a:t>100</a:t>
                      </a:r>
                      <a:r>
                        <a:rPr lang="ko-KR" altLang="en-US" sz="1000" dirty="0"/>
                        <a:t>일 때 평균 정확도 확인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1651858809"/>
                  </a:ext>
                </a:extLst>
              </a:tr>
              <a:tr h="337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확장 가능성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최고점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최저점 학생 출력 기능 추가</a:t>
                      </a:r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성적 파일 입출력 기능 확장</a:t>
                      </a:r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학급 전체 평균 및 등급화 기능 추가 가능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3014422474"/>
                  </a:ext>
                </a:extLst>
              </a:tr>
              <a:tr h="179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작성자 </a:t>
                      </a:r>
                      <a:r>
                        <a:rPr lang="en-US" altLang="ko-KR" sz="1000" b="1"/>
                        <a:t>/ </a:t>
                      </a:r>
                      <a:r>
                        <a:rPr lang="ko-KR" altLang="en-US" sz="1000" b="1"/>
                        <a:t>버전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작성자</a:t>
                      </a:r>
                      <a:r>
                        <a:rPr lang="en-US" altLang="ko-KR" sz="1000"/>
                        <a:t>: </a:t>
                      </a:r>
                      <a:r>
                        <a:rPr lang="ko-KR" altLang="en-US" sz="1000"/>
                        <a:t>김대경버전</a:t>
                      </a:r>
                      <a:r>
                        <a:rPr lang="en-US" altLang="ko-KR" sz="1000"/>
                        <a:t>: v1.0</a:t>
                      </a:r>
                      <a:r>
                        <a:rPr lang="ko-KR" altLang="en-US" sz="1000"/>
                        <a:t>작성일</a:t>
                      </a:r>
                      <a:r>
                        <a:rPr lang="en-US" altLang="ko-KR" sz="1000"/>
                        <a:t>: 2025.11.11</a:t>
                      </a:r>
                      <a:endParaRPr lang="en-US" altLang="ko-KR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939911236"/>
                  </a:ext>
                </a:extLst>
              </a:tr>
              <a:tr h="179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비고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콘솔 기반으로 반복문 및 </a:t>
                      </a:r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차원 배열 활용 학습에 최적화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287125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87856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DB30-2740-983A-ABE9-54C5C6C5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1390ECC-540A-BFEA-D6AF-09EA4233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5. 2</a:t>
            </a:r>
            <a:r>
              <a:rPr lang="ko-KR" altLang="en-US" dirty="0"/>
              <a:t>차원 배열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83CA7-C805-0BEB-014F-160CCB990238}"/>
              </a:ext>
            </a:extLst>
          </p:cNvPr>
          <p:cNvSpPr txBox="1"/>
          <p:nvPr/>
        </p:nvSpPr>
        <p:spPr>
          <a:xfrm>
            <a:off x="224290" y="1526876"/>
            <a:ext cx="4811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928F791-0E92-F562-26BE-896B1B677473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864171C-A259-82C0-8920-569E32DFA70A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0A35945-4182-EAA0-9670-A0EA086A5C99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1: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학생 성적 관리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</a:t>
              </a:r>
              <a:r>
                <a:rPr lang="en-US" altLang="ko-KR" sz="2800" dirty="0" err="1"/>
                <a:t>EduScore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620E080-6B04-7F70-AFBC-21260B9239CD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C6F0ECA3-EE9F-CB4F-9C07-3E3DCF7E9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01" y="2050096"/>
            <a:ext cx="5677705" cy="359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6308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DB30-2740-983A-ABE9-54C5C6C5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1390ECC-540A-BFEA-D6AF-09EA4233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5. 2</a:t>
            </a:r>
            <a:r>
              <a:rPr lang="ko-KR" altLang="en-US" dirty="0"/>
              <a:t>차원 배열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83CA7-C805-0BEB-014F-160CCB990238}"/>
              </a:ext>
            </a:extLst>
          </p:cNvPr>
          <p:cNvSpPr txBox="1"/>
          <p:nvPr/>
        </p:nvSpPr>
        <p:spPr>
          <a:xfrm>
            <a:off x="198408" y="1533465"/>
            <a:ext cx="868921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EduScore</a:t>
            </a:r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// 5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명의 학생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, 3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과목 점수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// [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학생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][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과목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] =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점수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int[,] scores =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 85, 90, 78 },  //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학생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0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 92, 88, 95 },  //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학생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1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 78, 82, 80 },  //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학생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2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 95, 89, 91 },  //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학생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3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 88, 85, 87 }   //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학생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4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string[] students = { 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홍길동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김철수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이영희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박민수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최지영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 };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string[] subjects = { 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국어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영어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수학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 };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//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학생별 평균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("===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학생별 평균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===");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for (int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&lt;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scores.GetLength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(0);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++)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int sum = 0;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for (int j = 0; j &lt;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scores.GetLength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(1);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j++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sum += scores[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, j];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double average = (double)sum /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scores.GetLength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(1);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($"{students[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]}: {average:F2}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점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928F791-0E92-F562-26BE-896B1B677473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864171C-A259-82C0-8920-569E32DFA70A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0A35945-4182-EAA0-9670-A0EA086A5C99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1: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학생 성적 관리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</a:t>
              </a:r>
              <a:r>
                <a:rPr lang="en-US" altLang="ko-KR" sz="2800" dirty="0" err="1"/>
                <a:t>EduScore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620E080-6B04-7F70-AFBC-21260B9239CD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86410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DB30-2740-983A-ABE9-54C5C6C5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1390ECC-540A-BFEA-D6AF-09EA4233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5. 2</a:t>
            </a:r>
            <a:r>
              <a:rPr lang="ko-KR" altLang="en-US" dirty="0"/>
              <a:t>차원 배열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83CA7-C805-0BEB-014F-160CCB990238}"/>
              </a:ext>
            </a:extLst>
          </p:cNvPr>
          <p:cNvSpPr txBox="1"/>
          <p:nvPr/>
        </p:nvSpPr>
        <p:spPr>
          <a:xfrm>
            <a:off x="224290" y="1526876"/>
            <a:ext cx="86892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//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과목별 평균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("\n===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과목별 평균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===");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for (int j = 0; j &lt;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scores.GetLength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(1);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j++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int sum = 0;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for (int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&lt;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scores.GetLength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(0);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++)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sum += scores[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, j];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double average = (double)sum /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scores.GetLength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(0);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($"{subjects[j]}: {average:F2}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점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928F791-0E92-F562-26BE-896B1B677473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864171C-A259-82C0-8920-569E32DFA70A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0A35945-4182-EAA0-9670-A0EA086A5C99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1: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학생 성적 관리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</a:t>
              </a:r>
              <a:r>
                <a:rPr lang="en-US" altLang="ko-KR" sz="2800" dirty="0" err="1"/>
                <a:t>EduScore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620E080-6B04-7F70-AFBC-21260B9239CD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D1981397-B16E-BE87-BB06-743632ACE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368" y="1697608"/>
            <a:ext cx="2191056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4570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026D9-8B27-B5CE-F599-96C32A07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0D51ECB-287A-DD1B-9CB6-8D02EEE1C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5. 2</a:t>
            </a:r>
            <a:r>
              <a:rPr lang="ko-KR" altLang="en-US" dirty="0"/>
              <a:t>차원 배열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6067A-FF61-544A-F99C-FDA67234EECF}"/>
              </a:ext>
            </a:extLst>
          </p:cNvPr>
          <p:cNvSpPr txBox="1"/>
          <p:nvPr/>
        </p:nvSpPr>
        <p:spPr>
          <a:xfrm>
            <a:off x="224290" y="1526876"/>
            <a:ext cx="8738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MS Reference Sans Serif" panose="020B0604030504040204" pitchFamily="34" charset="0"/>
              </a:rPr>
              <a:t>Seat-Now PRD (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실습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2: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좌석 예약 시스템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)</a:t>
            </a:r>
            <a:endParaRPr lang="ko-KR" altLang="en-US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CCC9C7C-2CB4-564E-32DC-072AABFB4D39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C2A11BF-0350-70DE-95D8-D99327D0DF23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846D6E8-5289-DEED-4A8E-0D514E6BB4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2: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좌석 예약 시스템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-Seat-Now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BEBD8EE-6D0F-8E8B-1306-E188370810B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45AEE65-5A84-3B4C-BD34-381637921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793149"/>
              </p:ext>
            </p:extLst>
          </p:nvPr>
        </p:nvGraphicFramePr>
        <p:xfrm>
          <a:off x="281801" y="2050096"/>
          <a:ext cx="8626416" cy="450053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38360">
                  <a:extLst>
                    <a:ext uri="{9D8B030D-6E8A-4147-A177-3AD203B41FA5}">
                      <a16:colId xmlns:a16="http://schemas.microsoft.com/office/drawing/2014/main" val="2199748180"/>
                    </a:ext>
                  </a:extLst>
                </a:gridCol>
                <a:gridCol w="4412584">
                  <a:extLst>
                    <a:ext uri="{9D8B030D-6E8A-4147-A177-3AD203B41FA5}">
                      <a16:colId xmlns:a16="http://schemas.microsoft.com/office/drawing/2014/main" val="276961103"/>
                    </a:ext>
                  </a:extLst>
                </a:gridCol>
                <a:gridCol w="2875472">
                  <a:extLst>
                    <a:ext uri="{9D8B030D-6E8A-4147-A177-3AD203B41FA5}">
                      <a16:colId xmlns:a16="http://schemas.microsoft.com/office/drawing/2014/main" val="3795287798"/>
                    </a:ext>
                  </a:extLst>
                </a:gridCol>
              </a:tblGrid>
              <a:tr h="95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구분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항목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설명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16809"/>
                  </a:ext>
                </a:extLst>
              </a:tr>
              <a:tr h="166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프로젝트명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Seat-Now</a:t>
                      </a:r>
                      <a:endParaRPr 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콘솔 기반 좌석 예약 시스템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extLst>
                  <a:ext uri="{0D108BD9-81ED-4DB2-BD59-A6C34878D82A}">
                    <a16:rowId xmlns:a16="http://schemas.microsoft.com/office/drawing/2014/main" val="1613967378"/>
                  </a:ext>
                </a:extLst>
              </a:tr>
              <a:tr h="237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개발 언어 </a:t>
                      </a:r>
                      <a:r>
                        <a:rPr lang="en-US" altLang="ko-KR" sz="1000" b="1"/>
                        <a:t>/ </a:t>
                      </a:r>
                      <a:r>
                        <a:rPr lang="ko-KR" altLang="en-US" sz="1000" b="1"/>
                        <a:t>환경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C#, .NET Console Application</a:t>
                      </a:r>
                      <a:endParaRPr 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Visual Studio </a:t>
                      </a:r>
                      <a:r>
                        <a:rPr lang="ko-KR" altLang="en-US" sz="1000"/>
                        <a:t>또는 </a:t>
                      </a:r>
                      <a:r>
                        <a:rPr lang="en-US" altLang="ko-KR" sz="1000"/>
                        <a:t>VS Code </a:t>
                      </a:r>
                      <a:r>
                        <a:rPr lang="ko-KR" altLang="en-US" sz="1000"/>
                        <a:t>환경에서 실행 가능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extLst>
                  <a:ext uri="{0D108BD9-81ED-4DB2-BD59-A6C34878D82A}">
                    <a16:rowId xmlns:a16="http://schemas.microsoft.com/office/drawing/2014/main" val="2743041581"/>
                  </a:ext>
                </a:extLst>
              </a:tr>
              <a:tr h="309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개발 목적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차원 배열을 활용하여 좌석의 예약 상태를 관리하고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예약 가능 좌석 수를 계산하는 프로그램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extLst>
                  <a:ext uri="{0D108BD9-81ED-4DB2-BD59-A6C34878D82A}">
                    <a16:rowId xmlns:a16="http://schemas.microsoft.com/office/drawing/2014/main" val="3191039018"/>
                  </a:ext>
                </a:extLst>
              </a:tr>
              <a:tr h="309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기능 요약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1. </a:t>
                      </a:r>
                      <a:r>
                        <a:rPr lang="ko-KR" altLang="en-US" sz="1000" dirty="0"/>
                        <a:t>좌석 현황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빈 좌석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예약 좌석</a:t>
                      </a:r>
                      <a:r>
                        <a:rPr lang="en-US" altLang="ko-KR" sz="1000" dirty="0"/>
                        <a:t>) </a:t>
                      </a:r>
                      <a:r>
                        <a:rPr lang="ko-KR" altLang="en-US" sz="1000" dirty="0"/>
                        <a:t>표시</a:t>
                      </a:r>
                      <a:r>
                        <a:rPr lang="en-US" altLang="ko-KR" sz="1000" dirty="0"/>
                        <a:t>2. </a:t>
                      </a:r>
                      <a:r>
                        <a:rPr lang="ko-KR" altLang="en-US" sz="1000" dirty="0"/>
                        <a:t>예약 좌석 초기 설정</a:t>
                      </a:r>
                      <a:r>
                        <a:rPr lang="en-US" altLang="ko-KR" sz="1000" dirty="0"/>
                        <a:t>3. </a:t>
                      </a:r>
                      <a:r>
                        <a:rPr lang="ko-KR" altLang="en-US" sz="1000" dirty="0"/>
                        <a:t>예약 가능 좌석 수 출력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extLst>
                  <a:ext uri="{0D108BD9-81ED-4DB2-BD59-A6C34878D82A}">
                    <a16:rowId xmlns:a16="http://schemas.microsoft.com/office/drawing/2014/main" val="1788246488"/>
                  </a:ext>
                </a:extLst>
              </a:tr>
              <a:tr h="237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입력 데이터 구조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/>
                        <a:t>int[,] seats</a:t>
                      </a:r>
                      <a:r>
                        <a:rPr lang="ko-KR" altLang="en-US" sz="1000" b="1" dirty="0"/>
                        <a:t> </a:t>
                      </a:r>
                      <a:r>
                        <a:rPr lang="en-US" altLang="ko-KR" sz="1000" b="1" dirty="0"/>
                        <a:t>2</a:t>
                      </a:r>
                      <a:r>
                        <a:rPr lang="ko-KR" altLang="en-US" sz="1000" b="1" dirty="0"/>
                        <a:t>차원 배열 </a:t>
                      </a:r>
                      <a:r>
                        <a:rPr lang="en-US" altLang="ko-KR" sz="1000" b="1" dirty="0"/>
                        <a:t>(5</a:t>
                      </a:r>
                      <a:r>
                        <a:rPr lang="ko-KR" altLang="en-US" sz="1000" b="1" dirty="0"/>
                        <a:t>행 </a:t>
                      </a:r>
                      <a:r>
                        <a:rPr lang="en-US" altLang="ko-KR" sz="1000" b="1" dirty="0"/>
                        <a:t>× 6</a:t>
                      </a:r>
                      <a:r>
                        <a:rPr lang="ko-KR" altLang="en-US" sz="1000" b="1" dirty="0"/>
                        <a:t>열</a:t>
                      </a:r>
                      <a:r>
                        <a:rPr lang="en-US" altLang="ko-KR" sz="1000" b="1" dirty="0"/>
                        <a:t>)</a:t>
                      </a:r>
                      <a:r>
                        <a:rPr lang="ko-KR" altLang="en-US" sz="1000" b="1" dirty="0"/>
                        <a:t>값</a:t>
                      </a:r>
                      <a:r>
                        <a:rPr lang="en-US" altLang="ko-KR" sz="1000" b="1" dirty="0"/>
                        <a:t>: 0(</a:t>
                      </a:r>
                      <a:r>
                        <a:rPr lang="ko-KR" altLang="en-US" sz="1000" b="1" dirty="0"/>
                        <a:t>빈 좌석</a:t>
                      </a:r>
                      <a:r>
                        <a:rPr lang="en-US" altLang="ko-KR" sz="1000" b="1" dirty="0"/>
                        <a:t>), 1(</a:t>
                      </a:r>
                      <a:r>
                        <a:rPr lang="ko-KR" altLang="en-US" sz="1000" b="1" dirty="0"/>
                        <a:t>예약된 좌석</a:t>
                      </a:r>
                      <a:r>
                        <a:rPr lang="en-US" altLang="ko-KR" sz="1000" b="1" dirty="0"/>
                        <a:t>)</a:t>
                      </a:r>
                      <a:endParaRPr lang="en-US" altLang="ko-KR" sz="1000" b="1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extLst>
                  <a:ext uri="{0D108BD9-81ED-4DB2-BD59-A6C34878D82A}">
                    <a16:rowId xmlns:a16="http://schemas.microsoft.com/office/drawing/2014/main" val="4106722018"/>
                  </a:ext>
                </a:extLst>
              </a:tr>
              <a:tr h="237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출력 데이터 구조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좌석 배치도 </a:t>
                      </a:r>
                      <a:r>
                        <a:rPr lang="en-US" altLang="ko-KR" sz="1000" dirty="0"/>
                        <a:t>(○: </a:t>
                      </a:r>
                      <a:r>
                        <a:rPr lang="ko-KR" altLang="en-US" sz="1000" dirty="0"/>
                        <a:t>빈 좌석 </a:t>
                      </a:r>
                      <a:r>
                        <a:rPr lang="en-US" altLang="ko-KR" sz="1000" dirty="0"/>
                        <a:t>/ ●: </a:t>
                      </a:r>
                      <a:r>
                        <a:rPr lang="ko-KR" altLang="en-US" sz="1000" dirty="0"/>
                        <a:t>예약 좌석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예약 가능 좌석 수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정수형</a:t>
                      </a:r>
                      <a:r>
                        <a:rPr lang="en-US" altLang="ko-KR" sz="1000" dirty="0"/>
                        <a:t>)</a:t>
                      </a:r>
                      <a:endParaRPr lang="en-US" altLang="ko-KR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extLst>
                  <a:ext uri="{0D108BD9-81ED-4DB2-BD59-A6C34878D82A}">
                    <a16:rowId xmlns:a16="http://schemas.microsoft.com/office/drawing/2014/main" val="1188315335"/>
                  </a:ext>
                </a:extLst>
              </a:tr>
              <a:tr h="237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초기 데이터 예시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{ [0,0]=1, [1,3]=1, [2,2]=1 }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R" sz="1000"/>
                        <a:t>— </a:t>
                      </a:r>
                      <a:r>
                        <a:rPr lang="ko-KR" altLang="en-US" sz="1000"/>
                        <a:t>총 </a:t>
                      </a:r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석 예약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extLst>
                  <a:ext uri="{0D108BD9-81ED-4DB2-BD59-A6C34878D82A}">
                    <a16:rowId xmlns:a16="http://schemas.microsoft.com/office/drawing/2014/main" val="2305223411"/>
                  </a:ext>
                </a:extLst>
              </a:tr>
              <a:tr h="523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주요 처리 로직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1️⃣ for</a:t>
                      </a:r>
                      <a:r>
                        <a:rPr lang="ko-KR" altLang="en-US" sz="1000"/>
                        <a:t>문을 통해 행</a:t>
                      </a:r>
                      <a:r>
                        <a:rPr lang="en-US" altLang="ko-KR" sz="1000"/>
                        <a:t>(A~E) </a:t>
                      </a:r>
                      <a:r>
                        <a:rPr lang="ko-KR" altLang="en-US" sz="1000"/>
                        <a:t>및 열</a:t>
                      </a:r>
                      <a:r>
                        <a:rPr lang="en-US" altLang="ko-KR" sz="1000"/>
                        <a:t>(1~6) </a:t>
                      </a:r>
                      <a:r>
                        <a:rPr lang="ko-KR" altLang="en-US" sz="1000"/>
                        <a:t>출력</a:t>
                      </a:r>
                      <a:r>
                        <a:rPr lang="en-US" altLang="ko-KR" sz="1000"/>
                        <a:t>2️⃣ </a:t>
                      </a:r>
                      <a:r>
                        <a:rPr lang="ko-KR" altLang="en-US" sz="1000"/>
                        <a:t>좌석 상태를 조건문으로 표시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○ 또는 ●</a:t>
                      </a:r>
                      <a:r>
                        <a:rPr lang="en-US" altLang="ko-KR" sz="1000"/>
                        <a:t>)3️⃣ foreach</a:t>
                      </a:r>
                      <a:r>
                        <a:rPr lang="ko-KR" altLang="en-US" sz="1000"/>
                        <a:t>문으로 전체 배열 순회하며 예약 가능 좌석</a:t>
                      </a:r>
                      <a:r>
                        <a:rPr lang="en-US" altLang="ko-KR" sz="1000"/>
                        <a:t>(0) </a:t>
                      </a:r>
                      <a:r>
                        <a:rPr lang="ko-KR" altLang="en-US" sz="1000"/>
                        <a:t>카운트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extLst>
                  <a:ext uri="{0D108BD9-81ED-4DB2-BD59-A6C34878D82A}">
                    <a16:rowId xmlns:a16="http://schemas.microsoft.com/office/drawing/2014/main" val="1402901402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출력 예시 </a:t>
                      </a:r>
                      <a:r>
                        <a:rPr lang="en-US" altLang="ko-KR" sz="1000" b="1"/>
                        <a:t>(</a:t>
                      </a:r>
                      <a:r>
                        <a:rPr lang="en-US" sz="1000" b="1"/>
                        <a:t>Console)</a:t>
                      </a:r>
                      <a:endParaRPr 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1 2 3 4 5 6 A ● ○ ○ ○ ○ ○ B ○ ○ ○ ● ○ ○ C ○ ○ ● ○ ○ ○ D ○ ○ ○ ○ ○ ○ E ○ ○ ○ ○ ○ ○ </a:t>
                      </a:r>
                      <a:r>
                        <a:rPr lang="ko-KR" altLang="en-US" sz="1000"/>
                        <a:t>예약 가능</a:t>
                      </a:r>
                      <a:r>
                        <a:rPr lang="en-US" altLang="ko-KR" sz="1000"/>
                        <a:t>: 27</a:t>
                      </a:r>
                      <a:r>
                        <a:rPr lang="ko-KR" altLang="en-US" sz="1000"/>
                        <a:t>석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extLst>
                  <a:ext uri="{0D108BD9-81ED-4DB2-BD59-A6C34878D82A}">
                    <a16:rowId xmlns:a16="http://schemas.microsoft.com/office/drawing/2014/main" val="1153152481"/>
                  </a:ext>
                </a:extLst>
              </a:tr>
              <a:tr h="166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예외 처리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없음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좌석 데이터가 정상 입력된다고 가정</a:t>
                      </a:r>
                      <a:r>
                        <a:rPr lang="en-US" altLang="ko-KR" sz="1000"/>
                        <a:t>)</a:t>
                      </a:r>
                      <a:endParaRPr lang="en-US" altLang="ko-KR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extLst>
                  <a:ext uri="{0D108BD9-81ED-4DB2-BD59-A6C34878D82A}">
                    <a16:rowId xmlns:a16="http://schemas.microsoft.com/office/drawing/2014/main" val="2107877281"/>
                  </a:ext>
                </a:extLst>
              </a:tr>
              <a:tr h="380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테스트 케이스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/>
                        <a:t>- </a:t>
                      </a:r>
                      <a:r>
                        <a:rPr lang="ko-KR" altLang="en-US" sz="1000" b="1" dirty="0"/>
                        <a:t>초기 예약 좌석이 없는 경우 </a:t>
                      </a:r>
                      <a:r>
                        <a:rPr lang="en-US" altLang="ko-KR" sz="1000" b="1" dirty="0"/>
                        <a:t>(</a:t>
                      </a:r>
                      <a:r>
                        <a:rPr lang="ko-KR" altLang="en-US" sz="1000" b="1" dirty="0"/>
                        <a:t>모두 ○</a:t>
                      </a:r>
                      <a:r>
                        <a:rPr lang="en-US" altLang="ko-KR" sz="1000" b="1" dirty="0"/>
                        <a:t>)- </a:t>
                      </a:r>
                      <a:r>
                        <a:rPr lang="ko-KR" altLang="en-US" sz="1000" b="1" dirty="0"/>
                        <a:t>모든 좌석 예약 완료 </a:t>
                      </a:r>
                      <a:r>
                        <a:rPr lang="en-US" altLang="ko-KR" sz="1000" b="1" dirty="0"/>
                        <a:t>(</a:t>
                      </a:r>
                      <a:r>
                        <a:rPr lang="ko-KR" altLang="en-US" sz="1000" b="1" dirty="0"/>
                        <a:t>모두 ●</a:t>
                      </a:r>
                      <a:r>
                        <a:rPr lang="en-US" altLang="ko-KR" sz="1000" b="1" dirty="0"/>
                        <a:t>)- </a:t>
                      </a:r>
                      <a:r>
                        <a:rPr lang="ko-KR" altLang="en-US" sz="1000" b="1" dirty="0"/>
                        <a:t>예약 좌석 수 변경 시 카운트 정확성 확인</a:t>
                      </a:r>
                      <a:endParaRPr lang="ko-KR" altLang="en-US" sz="1000" b="1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extLst>
                  <a:ext uri="{0D108BD9-81ED-4DB2-BD59-A6C34878D82A}">
                    <a16:rowId xmlns:a16="http://schemas.microsoft.com/office/drawing/2014/main" val="2627891816"/>
                  </a:ext>
                </a:extLst>
              </a:tr>
              <a:tr h="523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확장 가능성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사용자 입력을 통한 실시간 예약 기능 추가</a:t>
                      </a:r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예약 취소 기능 추가</a:t>
                      </a:r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좌석 위치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행</a:t>
                      </a:r>
                      <a:r>
                        <a:rPr lang="en-US" altLang="ko-KR" sz="1000"/>
                        <a:t>·</a:t>
                      </a:r>
                      <a:r>
                        <a:rPr lang="ko-KR" altLang="en-US" sz="1000"/>
                        <a:t>열</a:t>
                      </a:r>
                      <a:r>
                        <a:rPr lang="en-US" altLang="ko-KR" sz="1000"/>
                        <a:t>) </a:t>
                      </a:r>
                      <a:r>
                        <a:rPr lang="ko-KR" altLang="en-US" sz="1000"/>
                        <a:t>입력 검증 및 오류 처리</a:t>
                      </a:r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파일 기반 좌석 저장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불러오기 기능 추가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extLst>
                  <a:ext uri="{0D108BD9-81ED-4DB2-BD59-A6C34878D82A}">
                    <a16:rowId xmlns:a16="http://schemas.microsoft.com/office/drawing/2014/main" val="991787864"/>
                  </a:ext>
                </a:extLst>
              </a:tr>
              <a:tr h="166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작성자 </a:t>
                      </a:r>
                      <a:r>
                        <a:rPr lang="en-US" altLang="ko-KR" sz="1000" b="1"/>
                        <a:t>/ </a:t>
                      </a:r>
                      <a:r>
                        <a:rPr lang="ko-KR" altLang="en-US" sz="1000" b="1"/>
                        <a:t>버전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작성자</a:t>
                      </a:r>
                      <a:r>
                        <a:rPr lang="en-US" altLang="ko-KR" sz="1000"/>
                        <a:t>: </a:t>
                      </a:r>
                      <a:r>
                        <a:rPr lang="ko-KR" altLang="en-US" sz="1000"/>
                        <a:t>김대경버전</a:t>
                      </a:r>
                      <a:r>
                        <a:rPr lang="en-US" altLang="ko-KR" sz="1000"/>
                        <a:t>: v1.0</a:t>
                      </a:r>
                      <a:r>
                        <a:rPr lang="ko-KR" altLang="en-US" sz="1000"/>
                        <a:t>작성일</a:t>
                      </a:r>
                      <a:r>
                        <a:rPr lang="en-US" altLang="ko-KR" sz="1000"/>
                        <a:t>: 2025.11.11</a:t>
                      </a:r>
                      <a:endParaRPr lang="en-US" altLang="ko-KR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extLst>
                  <a:ext uri="{0D108BD9-81ED-4DB2-BD59-A6C34878D82A}">
                    <a16:rowId xmlns:a16="http://schemas.microsoft.com/office/drawing/2014/main" val="1807696814"/>
                  </a:ext>
                </a:extLst>
              </a:tr>
              <a:tr h="309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/>
                        <a:t>비고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차원 배열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반복문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조건문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문자 출력</a:t>
                      </a:r>
                      <a:r>
                        <a:rPr lang="en-US" altLang="ko-KR" sz="1000"/>
                        <a:t>((char)('A'+i)) </a:t>
                      </a:r>
                      <a:r>
                        <a:rPr lang="ko-KR" altLang="en-US" sz="1000"/>
                        <a:t>등의 기본 문법 학습용 예제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3778" marR="23778" marT="11889" marB="11889" anchor="ctr"/>
                </a:tc>
                <a:extLst>
                  <a:ext uri="{0D108BD9-81ED-4DB2-BD59-A6C34878D82A}">
                    <a16:rowId xmlns:a16="http://schemas.microsoft.com/office/drawing/2014/main" val="228420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9247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026D9-8B27-B5CE-F599-96C32A07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0D51ECB-287A-DD1B-9CB6-8D02EEE1C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5. 2</a:t>
            </a:r>
            <a:r>
              <a:rPr lang="ko-KR" altLang="en-US" dirty="0"/>
              <a:t>차원 배열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6067A-FF61-544A-F99C-FDA67234EECF}"/>
              </a:ext>
            </a:extLst>
          </p:cNvPr>
          <p:cNvSpPr txBox="1"/>
          <p:nvPr/>
        </p:nvSpPr>
        <p:spPr>
          <a:xfrm>
            <a:off x="224290" y="1526876"/>
            <a:ext cx="4811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>
                <a:latin typeface="MS Reference Sans Serif" panose="020B0604030504040204" pitchFamily="34" charset="0"/>
              </a:rPr>
              <a:t>새 프로젝트 구성</a:t>
            </a:r>
            <a:endParaRPr lang="ko-KR" altLang="en-US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CCC9C7C-2CB4-564E-32DC-072AABFB4D39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C2A11BF-0350-70DE-95D8-D99327D0DF23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846D6E8-5289-DEED-4A8E-0D514E6BB4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2: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좌석 예약 시스템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-Seat-Now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BEBD8EE-6D0F-8E8B-1306-E188370810B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A09FF895-3A2D-347F-136D-BAEBEE2D6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01" y="2112758"/>
            <a:ext cx="5677705" cy="371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408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026D9-8B27-B5CE-F599-96C32A07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0D51ECB-287A-DD1B-9CB6-8D02EEE1C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5. 2</a:t>
            </a:r>
            <a:r>
              <a:rPr lang="ko-KR" altLang="en-US" dirty="0"/>
              <a:t>차원 배열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6067A-FF61-544A-F99C-FDA67234EECF}"/>
              </a:ext>
            </a:extLst>
          </p:cNvPr>
          <p:cNvSpPr txBox="1"/>
          <p:nvPr/>
        </p:nvSpPr>
        <p:spPr>
          <a:xfrm>
            <a:off x="224290" y="1526876"/>
            <a:ext cx="85844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Seat_Now</a:t>
            </a:r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// 0: 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빈 좌석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, 1: 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예약된 좌석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int[,] seats = new int[5, 6];  // 5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행 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6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열</a:t>
            </a:r>
          </a:p>
          <a:p>
            <a:endParaRPr lang="ko-KR" altLang="en-US" sz="900" b="1" dirty="0">
              <a:latin typeface="MS Reference Sans Serif" panose="020B0604030504040204" pitchFamily="34" charset="0"/>
            </a:endParaRP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초기 예약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seats[0, 0] = 1;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seats[1, 3] = 1;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seats[2, 2] = 1;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// 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좌석 현황 출력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("  1 2 3 4 5 6");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for (int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 &lt;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seats.GetLength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(0);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++)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($"{(char)('A' +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)} ");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for (int j = 0; j &lt;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seats.GetLength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(1);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j++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(seats[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, j] == 0 ? "○ " : "● ");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}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}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// 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예약 가능한 좌석 수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int available = 0;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foreach (int seat in seats)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if (seat == 0) available++;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}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($"\n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예약 가능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: {available}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석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CCC9C7C-2CB4-564E-32DC-072AABFB4D39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C2A11BF-0350-70DE-95D8-D99327D0DF23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846D6E8-5289-DEED-4A8E-0D514E6BB4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2: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좌석 예약 시스템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-Seat-Now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BEBD8EE-6D0F-8E8B-1306-E188370810B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E553745D-21AB-E61B-349B-FD7714D3F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042" y="4920141"/>
            <a:ext cx="2400635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7206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700CD-4E0D-D573-6A53-8916E346C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C1738C7-0905-2FA2-6BA3-404288D30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다차원 배열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B99A5C-4C56-7DA8-91C8-8DD38248766A}"/>
              </a:ext>
            </a:extLst>
          </p:cNvPr>
          <p:cNvSpPr txBox="1"/>
          <p:nvPr/>
        </p:nvSpPr>
        <p:spPr>
          <a:xfrm>
            <a:off x="224290" y="1526876"/>
            <a:ext cx="4811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>
                <a:latin typeface="MS Reference Sans Serif" panose="020B0604030504040204" pitchFamily="34" charset="0"/>
              </a:rPr>
              <a:t>새 프로젝트 구성</a:t>
            </a:r>
            <a:endParaRPr lang="ko-KR" altLang="en-US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5444C9-6714-A99C-1E42-3933CA6E4B5D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40D3B42-A63D-CAA8-FAC8-044863C7CE3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12828C5-E6DF-68D6-929D-4376760FA914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3DArray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FBA3144-7D5A-6846-4106-473172655DAC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710771A8-38D2-D7FB-C39A-C24B29D73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2" y="1988541"/>
            <a:ext cx="5677705" cy="37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318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700CD-4E0D-D573-6A53-8916E346C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C1738C7-0905-2FA2-6BA3-404288D30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다차원 배열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B99A5C-4C56-7DA8-91C8-8DD38248766A}"/>
              </a:ext>
            </a:extLst>
          </p:cNvPr>
          <p:cNvSpPr txBox="1"/>
          <p:nvPr/>
        </p:nvSpPr>
        <p:spPr>
          <a:xfrm>
            <a:off x="224290" y="1526876"/>
            <a:ext cx="858448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namespace _3DArray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int[,,] array = new int[4, 3, 2]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{ {1, 2}, {3, 4}, {5, 6} },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{ {1, 4}, {2, 5}, {3, 6} },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{ {6, 5}, {4, 3}, {2, 1} },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{ {6, 3}, {5, 2}, {4, 1} },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};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for (int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&lt;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array.GetLength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(0);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++)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for (int j = 0; j &lt;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array.GetLength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(1);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j++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("{ 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for (int k = 0; k &lt;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array.GetLength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(2); k++)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($"{array[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, j, k]} 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("} 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5444C9-6714-A99C-1E42-3933CA6E4B5D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40D3B42-A63D-CAA8-FAC8-044863C7CE3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12828C5-E6DF-68D6-929D-4376760FA914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3DArray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FBA3144-7D5A-6846-4106-473172655DAC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1AAA5D98-63C6-6303-1A43-0784F66C9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832" y="1852409"/>
            <a:ext cx="2808876" cy="1053329"/>
          </a:xfrm>
          <a:prstGeom prst="rect">
            <a:avLst/>
          </a:prstGeom>
        </p:spPr>
      </p:pic>
      <p:sp>
        <p:nvSpPr>
          <p:cNvPr id="2" name="말풍선: 사각형 1">
            <a:extLst>
              <a:ext uri="{FF2B5EF4-FFF2-40B4-BE49-F238E27FC236}">
                <a16:creationId xmlns:a16="http://schemas.microsoft.com/office/drawing/2014/main" id="{98EF0DAB-464B-CB28-16F9-A6984F21314C}"/>
              </a:ext>
            </a:extLst>
          </p:cNvPr>
          <p:cNvSpPr/>
          <p:nvPr/>
        </p:nvSpPr>
        <p:spPr>
          <a:xfrm>
            <a:off x="4428252" y="4908973"/>
            <a:ext cx="4347710" cy="922482"/>
          </a:xfrm>
          <a:prstGeom prst="wedgeRectCallout">
            <a:avLst>
              <a:gd name="adj1" fmla="val -53549"/>
              <a:gd name="adj2" fmla="val 209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순회는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차원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행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열 순으로 순회</a:t>
            </a:r>
            <a:endParaRPr lang="en-US" altLang="ko-KR" sz="1000" dirty="0">
              <a:solidFill>
                <a:schemeClr val="tx1"/>
              </a:solidFill>
              <a:latin typeface="MS Reference Sans Serif" panose="020B0604030504040204" pitchFamily="34" charset="0"/>
            </a:endParaRPr>
          </a:p>
          <a:p>
            <a:r>
              <a:rPr lang="en-US" altLang="ko-KR" sz="1000" dirty="0" err="1">
                <a:solidFill>
                  <a:schemeClr val="tx1"/>
                </a:solidFill>
                <a:latin typeface="MS Reference Sans Serif" panose="020B0604030504040204" pitchFamily="34" charset="0"/>
              </a:rPr>
              <a:t>i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 : 4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개의 ‘층’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(Layer)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을 순회</a:t>
            </a:r>
          </a:p>
          <a:p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j :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각 층 안의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3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개의 ‘행’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(Row)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을 순회</a:t>
            </a:r>
          </a:p>
          <a:p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k :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각 행 안의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2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개의 ‘열’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(Column)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을 순회</a:t>
            </a:r>
            <a:endParaRPr lang="en-US" altLang="ko-KR" sz="1000" dirty="0">
              <a:solidFill>
                <a:schemeClr val="tx1"/>
              </a:solidFill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9039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F030-ECA3-C524-E236-7BE4A5BF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6" name="Google Shape;100;p14">
            <a:extLst>
              <a:ext uri="{FF2B5EF4-FFF2-40B4-BE49-F238E27FC236}">
                <a16:creationId xmlns:a16="http://schemas.microsoft.com/office/drawing/2014/main" id="{4D78B6F0-7D80-4D66-A24E-64B032C561B3}"/>
              </a:ext>
            </a:extLst>
          </p:cNvPr>
          <p:cNvSpPr txBox="1">
            <a:spLocks/>
          </p:cNvSpPr>
          <p:nvPr/>
        </p:nvSpPr>
        <p:spPr>
          <a:xfrm>
            <a:off x="803214" y="1036170"/>
            <a:ext cx="7190555" cy="2104414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400" dirty="0">
              <a:solidFill>
                <a:schemeClr val="dk1"/>
              </a:solidFill>
              <a:latin typeface="MS Reference Sans Serif" panose="020B0604030504040204" pitchFamily="34" charset="0"/>
            </a:endParaRPr>
          </a:p>
          <a:p>
            <a:r>
              <a:rPr lang="ko-KR" altLang="en-US" sz="1800" b="1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배열의 배열</a:t>
            </a:r>
            <a:r>
              <a:rPr lang="en-US" altLang="ko-KR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, </a:t>
            </a:r>
            <a:r>
              <a:rPr lang="ko-KR" altLang="en-US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즉 </a:t>
            </a:r>
            <a:r>
              <a:rPr lang="ko-KR" altLang="en-US" sz="1800" b="1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배열을 요소</a:t>
            </a:r>
            <a:r>
              <a:rPr lang="ko-KR" altLang="en-US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로 갖는 배열</a:t>
            </a:r>
            <a:endParaRPr lang="en-US" altLang="ko-KR" sz="18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r>
              <a:rPr lang="ko-KR" altLang="en-US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요소로 입력되는 배열의 차원과 길이는 같아야 할 필요 없음</a:t>
            </a:r>
            <a:r>
              <a:rPr lang="en-US" altLang="ko-KR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.</a:t>
            </a:r>
          </a:p>
          <a:p>
            <a:r>
              <a:rPr lang="ko-KR" altLang="en-US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가변 배열 선언 형식</a:t>
            </a:r>
            <a:endParaRPr lang="en-US" altLang="ko-KR" sz="18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endParaRPr lang="en-US" altLang="ko-KR" sz="18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r>
              <a:rPr lang="ko-KR" altLang="en-US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가변 배열 선언 및 초기화 예</a:t>
            </a:r>
            <a:endParaRPr lang="en-US" altLang="ko-KR" sz="18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endParaRPr lang="en-US" altLang="ko-KR" sz="18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endParaRPr lang="en-US" altLang="ko-KR" sz="18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5B1DAE-C2AE-4C7A-A934-5A7AF4BDEA52}"/>
              </a:ext>
            </a:extLst>
          </p:cNvPr>
          <p:cNvSpPr/>
          <p:nvPr/>
        </p:nvSpPr>
        <p:spPr>
          <a:xfrm>
            <a:off x="1067620" y="3452853"/>
            <a:ext cx="6191886" cy="2539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데이터형식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[ ][ ] </a:t>
            </a:r>
            <a:r>
              <a:rPr lang="ko-KR" altLang="en-US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배열이름 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= new </a:t>
            </a:r>
            <a:r>
              <a:rPr lang="ko-KR" altLang="en-US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데이터형식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[</a:t>
            </a:r>
            <a:r>
              <a:rPr lang="ko-KR" altLang="en-US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가변배열의 용량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][ ];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669F37-09EC-4E23-9C76-CFC532B70FE9}"/>
              </a:ext>
            </a:extLst>
          </p:cNvPr>
          <p:cNvSpPr/>
          <p:nvPr/>
        </p:nvSpPr>
        <p:spPr>
          <a:xfrm>
            <a:off x="1067620" y="4105226"/>
            <a:ext cx="6191886" cy="1223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int[][] jagged = new int[3][];</a:t>
            </a:r>
            <a:endParaRPr lang="ko-KR" altLang="ko-KR" sz="10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jagged[0] = new int[5] { 1, 2, 3, 4, 5 };</a:t>
            </a:r>
            <a:endParaRPr lang="ko-KR" altLang="ko-KR" sz="10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jagged[1] = new int[]  { 10, 20, 30 };</a:t>
            </a:r>
            <a:endParaRPr lang="ko-KR" altLang="ko-KR" sz="10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jagged[2] = new int[]  { 100, 200 };</a:t>
            </a:r>
          </a:p>
          <a:p>
            <a:endParaRPr lang="en-US" altLang="ko-KR" sz="10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int[][] jagged2 = new int[2][] { new int[] { 1000, 2000 }, 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                         new int[4] { 6, 7, 8, 9 } };</a:t>
            </a:r>
            <a:endParaRPr lang="ko-KR" altLang="ko-KR" sz="10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3056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F030-ECA3-C524-E236-7BE4A5BF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F8BD5-70AB-481E-1A87-3F9E829C51AE}"/>
              </a:ext>
            </a:extLst>
          </p:cNvPr>
          <p:cNvSpPr txBox="1"/>
          <p:nvPr/>
        </p:nvSpPr>
        <p:spPr>
          <a:xfrm>
            <a:off x="224290" y="1526876"/>
            <a:ext cx="858448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MS Reference Sans Serif" panose="020B0604030504040204" pitchFamily="34" charset="0"/>
              </a:rPr>
              <a:t>// 2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차원 배열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(Rectangular Array)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int[,]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rect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= new int[3, 4];  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모든 행이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4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개 열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[-, -, -, -]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[-, -, -, -]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[-, -, -, -]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20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가변 배열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(Jagged Array)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int[][] jagged = new int[3][];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jagged[0] = new int[4];  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첫 행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: 4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개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jagged[1] = new int[2];  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둘째 행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: 2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개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jagged[2] = new int[5];  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셋째 행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: 5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개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[-, -, -, -]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[-, -]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[-, -, -, -, -]</a:t>
            </a:r>
            <a:endParaRPr lang="ko-KR" altLang="en-US" sz="1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E29118-3F4C-9A38-0946-202E27FF4B2C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AAA8EE-72F2-4025-96C5-1CAE9E064BF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543949-AFEA-4F0D-DA61-7E63DF6E1368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2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차원 배열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vs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가변 배열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07DF76-9C2C-6BCD-DB70-C1860D43A65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27560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F030-ECA3-C524-E236-7BE4A5BF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F8BD5-70AB-481E-1A87-3F9E829C51AE}"/>
              </a:ext>
            </a:extLst>
          </p:cNvPr>
          <p:cNvSpPr txBox="1"/>
          <p:nvPr/>
        </p:nvSpPr>
        <p:spPr>
          <a:xfrm>
            <a:off x="224290" y="1526876"/>
            <a:ext cx="8584488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MS Reference Sans Serif" panose="020B0604030504040204" pitchFamily="34" charset="0"/>
              </a:rPr>
              <a:t>방법 </a:t>
            </a:r>
            <a:r>
              <a:rPr lang="en-US" altLang="ko-KR" b="1" dirty="0">
                <a:latin typeface="MS Reference Sans Serif" panose="020B0604030504040204" pitchFamily="34" charset="0"/>
              </a:rPr>
              <a:t>1: </a:t>
            </a:r>
            <a:r>
              <a:rPr lang="ko-KR" altLang="en-US" b="1" dirty="0">
                <a:latin typeface="MS Reference Sans Serif" panose="020B0604030504040204" pitchFamily="34" charset="0"/>
              </a:rPr>
              <a:t>단계적 초기화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1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단계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: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외부 배열 생성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int[][] jagged = new int[3][];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2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단계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: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각 행 초기화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jagged[0] = new int[4];  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첫 번째 행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: 4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개 요소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jagged[1] = new int[2];  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두 번째 행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: 2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개 요소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jagged[2] = new int[3];  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세 번째 행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: 3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개 요소</a:t>
            </a:r>
            <a:endParaRPr lang="en-US" altLang="ko-KR" sz="1400" b="1" dirty="0">
              <a:latin typeface="MS Reference Sans Serif" panose="020B0604030504040204" pitchFamily="34" charset="0"/>
            </a:endParaRPr>
          </a:p>
          <a:p>
            <a:endParaRPr lang="ko-KR" altLang="en-US" sz="1200" b="1" dirty="0">
              <a:latin typeface="MS Reference Sans Serif" panose="020B0604030504040204" pitchFamily="34" charset="0"/>
            </a:endParaRPr>
          </a:p>
          <a:p>
            <a:r>
              <a:rPr lang="ko-KR" altLang="en-US" b="1" dirty="0">
                <a:latin typeface="MS Reference Sans Serif" panose="020B0604030504040204" pitchFamily="34" charset="0"/>
              </a:rPr>
              <a:t>방법 </a:t>
            </a:r>
            <a:r>
              <a:rPr lang="en-US" altLang="ko-KR" b="1" dirty="0">
                <a:latin typeface="MS Reference Sans Serif" panose="020B0604030504040204" pitchFamily="34" charset="0"/>
              </a:rPr>
              <a:t>2: </a:t>
            </a:r>
            <a:r>
              <a:rPr lang="ko-KR" altLang="en-US" b="1" dirty="0">
                <a:latin typeface="MS Reference Sans Serif" panose="020B0604030504040204" pitchFamily="34" charset="0"/>
              </a:rPr>
              <a:t>선언과 동시에 초기화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int[][] jagged = new int[][]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new int[] { 1, 2, 3, 4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new int[] { 5, 6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new int[] { 7, 8, 9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또는 간략하게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int[][] jagged = 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new int[] { 1, 2, 3, 4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new int[] { 5, 6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new int[] { 7, 8, 9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};</a:t>
            </a:r>
            <a:endParaRPr lang="ko-KR" altLang="en-US" sz="1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E29118-3F4C-9A38-0946-202E27FF4B2C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AAA8EE-72F2-4025-96C5-1CAE9E064BF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543949-AFEA-4F0D-DA61-7E63DF6E1368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가변 배열 선언 및 초기화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07DF76-9C2C-6BCD-DB70-C1860D43A65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85946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F030-ECA3-C524-E236-7BE4A5BF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F8BD5-70AB-481E-1A87-3F9E829C51AE}"/>
              </a:ext>
            </a:extLst>
          </p:cNvPr>
          <p:cNvSpPr txBox="1"/>
          <p:nvPr/>
        </p:nvSpPr>
        <p:spPr>
          <a:xfrm>
            <a:off x="224290" y="1526876"/>
            <a:ext cx="858448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MS Reference Sans Serif" panose="020B0604030504040204" pitchFamily="34" charset="0"/>
              </a:rPr>
              <a:t>방법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3: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다양한 타입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문자열 가변 배열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string[][] names = 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new string[] { "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홍길동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김철수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이영희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new string[] { "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박민수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new string[] { "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최지영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정수진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사용자 정의 타입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class Student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public string Name { get; set;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public int Age { get; set;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Student[][] classes = new Student[3][];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classes[0] = new Student[25];  // 1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반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: 25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명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classes[1] = new Student[30];  // 2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반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: 30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명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classes[2] = new Student[28];  // 3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반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: 28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명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E29118-3F4C-9A38-0946-202E27FF4B2C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AAA8EE-72F2-4025-96C5-1CAE9E064BF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543949-AFEA-4F0D-DA61-7E63DF6E1368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가변 배열 선언 및 초기화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07DF76-9C2C-6BCD-DB70-C1860D43A65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54468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F030-ECA3-C524-E236-7BE4A5BF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F8BD5-70AB-481E-1A87-3F9E829C51AE}"/>
              </a:ext>
            </a:extLst>
          </p:cNvPr>
          <p:cNvSpPr txBox="1"/>
          <p:nvPr/>
        </p:nvSpPr>
        <p:spPr>
          <a:xfrm>
            <a:off x="224290" y="1526876"/>
            <a:ext cx="858448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int[][] jagged = 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new int[] { 1, 2, 3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new int[] { 4, 5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new int[] { 6, 7, 8, 9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읽기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(jagged[0][1]);  // 2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(jagged[1][0]);  // 4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(jagged[2][3]);  // 9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쓰기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jagged[0][0] = 100;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jagged[1][1] = 200;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각 행의 길이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(jagged[0].Length);  // 3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(jagged[1].Length);  // 2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(jagged[2].Length);  // 4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전체 행 개수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jagged.Length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);     // 3</a:t>
            </a:r>
            <a:endParaRPr lang="ko-KR" altLang="en-US" sz="1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E29118-3F4C-9A38-0946-202E27FF4B2C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AAA8EE-72F2-4025-96C5-1CAE9E064BF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543949-AFEA-4F0D-DA61-7E63DF6E1368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가변 배열 요소 접근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07DF76-9C2C-6BCD-DB70-C1860D43A65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79161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F030-ECA3-C524-E236-7BE4A5BF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F8BD5-70AB-481E-1A87-3F9E829C51AE}"/>
              </a:ext>
            </a:extLst>
          </p:cNvPr>
          <p:cNvSpPr txBox="1"/>
          <p:nvPr/>
        </p:nvSpPr>
        <p:spPr>
          <a:xfrm>
            <a:off x="224290" y="1526876"/>
            <a:ext cx="858448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MS Reference Sans Serif" panose="020B0604030504040204" pitchFamily="34" charset="0"/>
              </a:rPr>
              <a:t>int[][] jagged = 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new int[] { 1, 2, 3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new int[] { 4, 5 },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new int[] { 6, 7, 8, 9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중첩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for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문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for (int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&lt;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jagged.Length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;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++)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($"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행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}: ");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for (int j = 0; j &lt; jagged[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].Length;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j++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($"{jagged[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][j]} ");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출력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: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행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0: 1 2 3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행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1: 4 5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행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2: 6 7 8 9</a:t>
            </a:r>
            <a:endParaRPr lang="ko-KR" altLang="en-US" sz="1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E29118-3F4C-9A38-0946-202E27FF4B2C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AAA8EE-72F2-4025-96C5-1CAE9E064BF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543949-AFEA-4F0D-DA61-7E63DF6E1368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가변 배열 순회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07DF76-9C2C-6BCD-DB70-C1860D43A65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CC7495D-31F2-1D93-22C1-32829B246667}"/>
              </a:ext>
            </a:extLst>
          </p:cNvPr>
          <p:cNvSpPr txBox="1"/>
          <p:nvPr/>
        </p:nvSpPr>
        <p:spPr>
          <a:xfrm>
            <a:off x="4632779" y="1526876"/>
            <a:ext cx="42294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MS Reference Sans Serif" panose="020B0604030504040204" pitchFamily="34" charset="0"/>
              </a:rPr>
              <a:t>// foreach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사용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foreach (int[] row in jagged)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foreach (int value in row)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($"{value} ");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</a:t>
            </a:r>
            <a:endParaRPr lang="ko-KR" altLang="en-US" sz="1400" b="1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2675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F030-ECA3-C524-E236-7BE4A5BF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F8BD5-70AB-481E-1A87-3F9E829C51AE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>
                <a:latin typeface="MS Reference Sans Serif" panose="020B0604030504040204" pitchFamily="34" charset="0"/>
              </a:rPr>
              <a:t>새 프로젝트 구성</a:t>
            </a:r>
            <a:endParaRPr lang="ko-KR" altLang="en-US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E29118-3F4C-9A38-0946-202E27FF4B2C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AAA8EE-72F2-4025-96C5-1CAE9E064BF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543949-AFEA-4F0D-DA61-7E63DF6E1368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JaggedArray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07DF76-9C2C-6BCD-DB70-C1860D43A65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B216284B-96C5-21B7-2F7F-3B8A3FC94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2" y="2103844"/>
            <a:ext cx="5677705" cy="372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7866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F030-ECA3-C524-E236-7BE4A5BF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F8BD5-70AB-481E-1A87-3F9E829C51AE}"/>
              </a:ext>
            </a:extLst>
          </p:cNvPr>
          <p:cNvSpPr txBox="1"/>
          <p:nvPr/>
        </p:nvSpPr>
        <p:spPr>
          <a:xfrm>
            <a:off x="224290" y="1526876"/>
            <a:ext cx="858448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JaggedArray</a:t>
            </a:r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800" b="1" u="sng" dirty="0">
                <a:latin typeface="MS Reference Sans Serif" panose="020B0604030504040204" pitchFamily="34" charset="0"/>
              </a:rPr>
              <a:t>            int[][] jagged = new int[3][];</a:t>
            </a:r>
          </a:p>
          <a:p>
            <a:r>
              <a:rPr lang="en-US" altLang="ko-KR" sz="800" b="1" u="sng" dirty="0">
                <a:latin typeface="MS Reference Sans Serif" panose="020B0604030504040204" pitchFamily="34" charset="0"/>
              </a:rPr>
              <a:t>            jagged[0] = new int[5] { 1, 2, 3, 4, 5 };</a:t>
            </a:r>
          </a:p>
          <a:p>
            <a:r>
              <a:rPr lang="en-US" altLang="ko-KR" sz="800" b="1" u="sng" dirty="0">
                <a:latin typeface="MS Reference Sans Serif" panose="020B0604030504040204" pitchFamily="34" charset="0"/>
              </a:rPr>
              <a:t>            jagged[1] = new int[] { 10, 20, 30 };</a:t>
            </a:r>
          </a:p>
          <a:p>
            <a:r>
              <a:rPr lang="en-US" altLang="ko-KR" sz="800" b="1" u="sng" dirty="0">
                <a:latin typeface="MS Reference Sans Serif" panose="020B0604030504040204" pitchFamily="34" charset="0"/>
              </a:rPr>
              <a:t>            jagged[2] = new int[] { 100, 200 };</a:t>
            </a:r>
          </a:p>
          <a:p>
            <a:endParaRPr lang="en-US" altLang="ko-KR" sz="800" b="1" dirty="0">
              <a:latin typeface="MS Reference Sans Serif" panose="020B0604030504040204" pitchFamily="34" charset="0"/>
            </a:endParaRPr>
          </a:p>
          <a:p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foreach (int[]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arr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 in jagged)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($"Length : {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arr.Length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}, ");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foreach (int e in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arr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   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($"{e} ");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}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("");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}</a:t>
            </a:r>
          </a:p>
          <a:p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("");</a:t>
            </a:r>
          </a:p>
          <a:p>
            <a:endParaRPr lang="en-US" altLang="ko-KR" sz="800" b="1" u="sng" dirty="0">
              <a:latin typeface="MS Reference Sans Serif" panose="020B0604030504040204" pitchFamily="34" charset="0"/>
            </a:endParaRPr>
          </a:p>
          <a:p>
            <a:r>
              <a:rPr lang="en-US" altLang="ko-KR" sz="800" b="1" u="sng" dirty="0">
                <a:latin typeface="MS Reference Sans Serif" panose="020B0604030504040204" pitchFamily="34" charset="0"/>
              </a:rPr>
              <a:t>            int[][] jagged2 = new int[2][] {</a:t>
            </a:r>
          </a:p>
          <a:p>
            <a:r>
              <a:rPr lang="en-US" altLang="ko-KR" sz="800" b="1" u="sng" dirty="0">
                <a:latin typeface="MS Reference Sans Serif" panose="020B0604030504040204" pitchFamily="34" charset="0"/>
              </a:rPr>
              <a:t>                new int[] { 1000, 2000 },</a:t>
            </a:r>
          </a:p>
          <a:p>
            <a:r>
              <a:rPr lang="en-US" altLang="ko-KR" sz="800" b="1" u="sng" dirty="0">
                <a:latin typeface="MS Reference Sans Serif" panose="020B0604030504040204" pitchFamily="34" charset="0"/>
              </a:rPr>
              <a:t>                new int[4] { 6, 7, 8, 9 } };</a:t>
            </a:r>
          </a:p>
          <a:p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foreach (int[]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arr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 in jagged2)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($"Length : {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arr.Length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}, ");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foreach (int e in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arr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   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($"{e} ");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}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}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E29118-3F4C-9A38-0946-202E27FF4B2C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AAA8EE-72F2-4025-96C5-1CAE9E064BF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543949-AFEA-4F0D-DA61-7E63DF6E1368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JaggedArray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07DF76-9C2C-6BCD-DB70-C1860D43A65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8AD4754C-7FC1-51A9-7EDC-331B1EE48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055" y="4726401"/>
            <a:ext cx="2076740" cy="1105054"/>
          </a:xfrm>
          <a:prstGeom prst="rect">
            <a:avLst/>
          </a:prstGeom>
        </p:spPr>
      </p:pic>
      <p:sp>
        <p:nvSpPr>
          <p:cNvPr id="3" name="말풍선: 사각형 2">
            <a:extLst>
              <a:ext uri="{FF2B5EF4-FFF2-40B4-BE49-F238E27FC236}">
                <a16:creationId xmlns:a16="http://schemas.microsoft.com/office/drawing/2014/main" id="{5E89CA57-0150-41CA-05BE-FE028EAC4AE2}"/>
              </a:ext>
            </a:extLst>
          </p:cNvPr>
          <p:cNvSpPr/>
          <p:nvPr/>
        </p:nvSpPr>
        <p:spPr>
          <a:xfrm>
            <a:off x="4428252" y="2786087"/>
            <a:ext cx="4347710" cy="922482"/>
          </a:xfrm>
          <a:prstGeom prst="wedgeRectCallout">
            <a:avLst>
              <a:gd name="adj1" fmla="val -53549"/>
              <a:gd name="adj2" fmla="val 209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>
                <a:latin typeface="MS Reference Sans Serif" panose="020B0604030504040204" pitchFamily="34" charset="0"/>
              </a:rPr>
              <a:t>바깥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foreach</a:t>
            </a:r>
            <a:r>
              <a:rPr lang="ko-KR" altLang="en-US" sz="1000" dirty="0">
                <a:latin typeface="MS Reference Sans Serif" panose="020B0604030504040204" pitchFamily="34" charset="0"/>
              </a:rPr>
              <a:t> → 각 행(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int</a:t>
            </a:r>
            <a:r>
              <a:rPr lang="ko-KR" altLang="en-US" sz="1000" dirty="0">
                <a:latin typeface="MS Reference Sans Serif" panose="020B0604030504040204" pitchFamily="34" charset="0"/>
              </a:rPr>
              <a:t>[])을 꺼냄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안쪽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foreach</a:t>
            </a:r>
            <a:r>
              <a:rPr lang="ko-KR" altLang="en-US" sz="1000" dirty="0">
                <a:latin typeface="MS Reference Sans Serif" panose="020B0604030504040204" pitchFamily="34" charset="0"/>
              </a:rPr>
              <a:t> → 해당 행의 요소(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int</a:t>
            </a:r>
            <a:r>
              <a:rPr lang="ko-KR" altLang="en-US" sz="1000" dirty="0">
                <a:latin typeface="MS Reference Sans Serif" panose="020B0604030504040204" pitchFamily="34" charset="0"/>
              </a:rPr>
              <a:t>)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를</a:t>
            </a:r>
            <a:r>
              <a:rPr lang="ko-KR" altLang="en-US" sz="1000" dirty="0">
                <a:latin typeface="MS Reference Sans Serif" panose="020B0604030504040204" pitchFamily="34" charset="0"/>
              </a:rPr>
              <a:t> 출력</a:t>
            </a:r>
          </a:p>
        </p:txBody>
      </p:sp>
    </p:spTree>
    <p:extLst>
      <p:ext uri="{BB962C8B-B14F-4D97-AF65-F5344CB8AC3E}">
        <p14:creationId xmlns:p14="http://schemas.microsoft.com/office/powerpoint/2010/main" val="28120608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F030-ECA3-C524-E236-7BE4A5BF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F8BD5-70AB-481E-1A87-3F9E829C51AE}"/>
              </a:ext>
            </a:extLst>
          </p:cNvPr>
          <p:cNvSpPr txBox="1"/>
          <p:nvPr/>
        </p:nvSpPr>
        <p:spPr>
          <a:xfrm>
            <a:off x="224290" y="1526876"/>
            <a:ext cx="858448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내부 배열 생성 및 값 할당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  <a:p>
            <a:endParaRPr lang="en-US" altLang="ko-KR" sz="2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jagged[0] = new int[5] { 1, 2, 3, 4, 5 };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jagged[1] = new int[] { 10, 20, 30 };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jagged[2] = new int[] { 100, 200 };</a:t>
            </a:r>
          </a:p>
          <a:p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E29118-3F4C-9A38-0946-202E27FF4B2C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AAA8EE-72F2-4025-96C5-1CAE9E064BF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543949-AFEA-4F0D-DA61-7E63DF6E1368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JaggedArray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07DF76-9C2C-6BCD-DB70-C1860D43A65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0225F48-DB8D-3735-622D-46FB6AA3D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374181"/>
              </p:ext>
            </p:extLst>
          </p:nvPr>
        </p:nvGraphicFramePr>
        <p:xfrm>
          <a:off x="628650" y="3373535"/>
          <a:ext cx="78867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7486958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220596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91310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인덱스</a:t>
                      </a:r>
                      <a:endParaRPr lang="ko-KR" alt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배열 내용</a:t>
                      </a:r>
                      <a:endParaRPr lang="ko-KR" alt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길이</a:t>
                      </a:r>
                      <a:endParaRPr lang="ko-KR" alt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714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jagged[0]</a:t>
                      </a:r>
                      <a:endParaRPr lang="en-US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{ 1, 2, 3, 4, 5 }</a:t>
                      </a:r>
                      <a:endParaRPr lang="en-US" altLang="ko-KR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5</a:t>
                      </a:r>
                      <a:endParaRPr lang="en-US" altLang="ko-KR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685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jagged[1]</a:t>
                      </a:r>
                      <a:endParaRPr lang="en-US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{ 10, 20, 30 }</a:t>
                      </a:r>
                      <a:endParaRPr lang="en-US" altLang="ko-KR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3</a:t>
                      </a:r>
                      <a:endParaRPr lang="en-US" altLang="ko-KR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8131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jagged[2]</a:t>
                      </a:r>
                      <a:endParaRPr 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{ 100, 200 }</a:t>
                      </a:r>
                      <a:endParaRPr lang="en-US" altLang="ko-KR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2</a:t>
                      </a:r>
                      <a:endParaRPr lang="en-US" altLang="ko-KR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129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288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F030-ECA3-C524-E236-7BE4A5BF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F8BD5-70AB-481E-1A87-3F9E829C51AE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첫 번째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foreach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루프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E29118-3F4C-9A38-0946-202E27FF4B2C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AAA8EE-72F2-4025-96C5-1CAE9E064BF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543949-AFEA-4F0D-DA61-7E63DF6E1368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JaggedArray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07DF76-9C2C-6BCD-DB70-C1860D43A65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A2A3C41-0094-D6BA-DAE9-947DC61D079F}"/>
              </a:ext>
            </a:extLst>
          </p:cNvPr>
          <p:cNvSpPr txBox="1"/>
          <p:nvPr/>
        </p:nvSpPr>
        <p:spPr>
          <a:xfrm>
            <a:off x="335222" y="2050096"/>
            <a:ext cx="84735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MS Reference Sans Serif" panose="020B0604030504040204" pitchFamily="34" charset="0"/>
              </a:rPr>
              <a:t>foreach</a:t>
            </a:r>
            <a:r>
              <a:rPr lang="ko-KR" altLang="en-US" sz="1400" dirty="0">
                <a:latin typeface="MS Reference Sans Serif" panose="020B0604030504040204" pitchFamily="34" charset="0"/>
              </a:rPr>
              <a:t> (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int</a:t>
            </a:r>
            <a:r>
              <a:rPr lang="ko-KR" altLang="en-US" sz="1400" dirty="0">
                <a:latin typeface="MS Reference Sans Serif" panose="020B0604030504040204" pitchFamily="34" charset="0"/>
              </a:rPr>
              <a:t>[]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arr</a:t>
            </a:r>
            <a:r>
              <a:rPr lang="ko-KR" altLang="en-US" sz="1400" dirty="0">
                <a:latin typeface="MS Reference Sans Serif" panose="020B0604030504040204" pitchFamily="34" charset="0"/>
              </a:rPr>
              <a:t>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in</a:t>
            </a:r>
            <a:r>
              <a:rPr lang="ko-KR" altLang="en-US" sz="1400" dirty="0">
                <a:latin typeface="MS Reference Sans Serif" panose="020B0604030504040204" pitchFamily="34" charset="0"/>
              </a:rPr>
              <a:t>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jagged</a:t>
            </a:r>
            <a:r>
              <a:rPr lang="ko-KR" altLang="en-US" sz="1400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   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Console.Write</a:t>
            </a:r>
            <a:r>
              <a:rPr lang="ko-KR" altLang="en-US" sz="1400" dirty="0">
                <a:latin typeface="MS Reference Sans Serif" panose="020B0604030504040204" pitchFamily="34" charset="0"/>
              </a:rPr>
              <a:t>($"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Length</a:t>
            </a:r>
            <a:r>
              <a:rPr lang="ko-KR" altLang="en-US" sz="1400" dirty="0">
                <a:latin typeface="MS Reference Sans Serif" panose="020B0604030504040204" pitchFamily="34" charset="0"/>
              </a:rPr>
              <a:t> : {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arr.Length</a:t>
            </a:r>
            <a:r>
              <a:rPr lang="ko-KR" altLang="en-US" sz="1400" dirty="0">
                <a:latin typeface="MS Reference Sans Serif" panose="020B0604030504040204" pitchFamily="34" charset="0"/>
              </a:rPr>
              <a:t>}, ");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   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foreach</a:t>
            </a:r>
            <a:r>
              <a:rPr lang="ko-KR" altLang="en-US" sz="1400" dirty="0">
                <a:latin typeface="MS Reference Sans Serif" panose="020B0604030504040204" pitchFamily="34" charset="0"/>
              </a:rPr>
              <a:t> (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int</a:t>
            </a:r>
            <a:r>
              <a:rPr lang="ko-KR" altLang="en-US" sz="1400" dirty="0">
                <a:latin typeface="MS Reference Sans Serif" panose="020B0604030504040204" pitchFamily="34" charset="0"/>
              </a:rPr>
              <a:t>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e</a:t>
            </a:r>
            <a:r>
              <a:rPr lang="ko-KR" altLang="en-US" sz="1400" dirty="0">
                <a:latin typeface="MS Reference Sans Serif" panose="020B0604030504040204" pitchFamily="34" charset="0"/>
              </a:rPr>
              <a:t>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in</a:t>
            </a:r>
            <a:r>
              <a:rPr lang="ko-KR" altLang="en-US" sz="1400" dirty="0">
                <a:latin typeface="MS Reference Sans Serif" panose="020B0604030504040204" pitchFamily="34" charset="0"/>
              </a:rPr>
              <a:t>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arr</a:t>
            </a:r>
            <a:r>
              <a:rPr lang="ko-KR" altLang="en-US" sz="1400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       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Console.Write</a:t>
            </a:r>
            <a:r>
              <a:rPr lang="ko-KR" altLang="en-US" sz="1400" dirty="0">
                <a:latin typeface="MS Reference Sans Serif" panose="020B0604030504040204" pitchFamily="34" charset="0"/>
              </a:rPr>
              <a:t>($"{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e</a:t>
            </a:r>
            <a:r>
              <a:rPr lang="ko-KR" altLang="en-US" sz="1400" dirty="0">
                <a:latin typeface="MS Reference Sans Serif" panose="020B0604030504040204" pitchFamily="34" charset="0"/>
              </a:rPr>
              <a:t>} ");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   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Console.WriteLine</a:t>
            </a:r>
            <a:r>
              <a:rPr lang="ko-KR" altLang="en-US" sz="1400" dirty="0">
                <a:latin typeface="MS Reference Sans Serif" panose="020B0604030504040204" pitchFamily="34" charset="0"/>
              </a:rPr>
              <a:t>("");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}</a:t>
            </a:r>
          </a:p>
          <a:p>
            <a:r>
              <a:rPr lang="ko-KR" altLang="en-US" dirty="0">
                <a:latin typeface="MS Reference Sans Serif" panose="020B0604030504040204" pitchFamily="34" charset="0"/>
              </a:rPr>
              <a:t>바깥 </a:t>
            </a:r>
            <a:r>
              <a:rPr lang="ko-KR" altLang="en-US" dirty="0" err="1">
                <a:latin typeface="MS Reference Sans Serif" panose="020B0604030504040204" pitchFamily="34" charset="0"/>
              </a:rPr>
              <a:t>foreach</a:t>
            </a:r>
            <a:r>
              <a:rPr lang="ko-KR" altLang="en-US" dirty="0">
                <a:latin typeface="MS Reference Sans Serif" panose="020B0604030504040204" pitchFamily="34" charset="0"/>
              </a:rPr>
              <a:t> → 각 행(</a:t>
            </a:r>
            <a:r>
              <a:rPr lang="ko-KR" altLang="en-US" dirty="0" err="1">
                <a:latin typeface="MS Reference Sans Serif" panose="020B0604030504040204" pitchFamily="34" charset="0"/>
              </a:rPr>
              <a:t>int</a:t>
            </a:r>
            <a:r>
              <a:rPr lang="ko-KR" altLang="en-US" dirty="0">
                <a:latin typeface="MS Reference Sans Serif" panose="020B0604030504040204" pitchFamily="34" charset="0"/>
              </a:rPr>
              <a:t>[])을 꺼냄</a:t>
            </a:r>
          </a:p>
          <a:p>
            <a:r>
              <a:rPr lang="ko-KR" altLang="en-US" dirty="0">
                <a:latin typeface="MS Reference Sans Serif" panose="020B0604030504040204" pitchFamily="34" charset="0"/>
              </a:rPr>
              <a:t>안쪽 </a:t>
            </a:r>
            <a:r>
              <a:rPr lang="ko-KR" altLang="en-US" dirty="0" err="1">
                <a:latin typeface="MS Reference Sans Serif" panose="020B0604030504040204" pitchFamily="34" charset="0"/>
              </a:rPr>
              <a:t>foreach</a:t>
            </a:r>
            <a:r>
              <a:rPr lang="ko-KR" altLang="en-US" dirty="0">
                <a:latin typeface="MS Reference Sans Serif" panose="020B0604030504040204" pitchFamily="34" charset="0"/>
              </a:rPr>
              <a:t> → 해당 행의 요소(</a:t>
            </a:r>
            <a:r>
              <a:rPr lang="ko-KR" altLang="en-US" dirty="0" err="1">
                <a:latin typeface="MS Reference Sans Serif" panose="020B0604030504040204" pitchFamily="34" charset="0"/>
              </a:rPr>
              <a:t>int</a:t>
            </a:r>
            <a:r>
              <a:rPr lang="ko-KR" altLang="en-US" dirty="0">
                <a:latin typeface="MS Reference Sans Serif" panose="020B0604030504040204" pitchFamily="34" charset="0"/>
              </a:rPr>
              <a:t>)</a:t>
            </a:r>
            <a:r>
              <a:rPr lang="ko-KR" altLang="en-US" dirty="0" err="1">
                <a:latin typeface="MS Reference Sans Serif" panose="020B0604030504040204" pitchFamily="34" charset="0"/>
              </a:rPr>
              <a:t>를</a:t>
            </a:r>
            <a:r>
              <a:rPr lang="ko-KR" altLang="en-US" dirty="0">
                <a:latin typeface="MS Reference Sans Serif" panose="020B0604030504040204" pitchFamily="34" charset="0"/>
              </a:rPr>
              <a:t> 출력</a:t>
            </a:r>
          </a:p>
          <a:p>
            <a:endParaRPr lang="ko-KR" altLang="en-US" dirty="0">
              <a:latin typeface="MS Reference Sans Serif" panose="020B0604030504040204" pitchFamily="34" charset="0"/>
            </a:endParaRPr>
          </a:p>
          <a:p>
            <a:r>
              <a:rPr lang="ko-KR" altLang="en-US" dirty="0">
                <a:latin typeface="MS Reference Sans Serif" panose="020B0604030504040204" pitchFamily="34" charset="0"/>
              </a:rPr>
              <a:t>🔹 출력 결과</a:t>
            </a:r>
          </a:p>
          <a:p>
            <a:r>
              <a:rPr lang="ko-KR" altLang="en-US" dirty="0" err="1">
                <a:latin typeface="MS Reference Sans Serif" panose="020B0604030504040204" pitchFamily="34" charset="0"/>
              </a:rPr>
              <a:t>Length</a:t>
            </a:r>
            <a:r>
              <a:rPr lang="ko-KR" altLang="en-US" dirty="0">
                <a:latin typeface="MS Reference Sans Serif" panose="020B0604030504040204" pitchFamily="34" charset="0"/>
              </a:rPr>
              <a:t> : 5, 1 2 3 4 5</a:t>
            </a:r>
          </a:p>
          <a:p>
            <a:r>
              <a:rPr lang="ko-KR" altLang="en-US" dirty="0" err="1">
                <a:latin typeface="MS Reference Sans Serif" panose="020B0604030504040204" pitchFamily="34" charset="0"/>
              </a:rPr>
              <a:t>Length</a:t>
            </a:r>
            <a:r>
              <a:rPr lang="ko-KR" altLang="en-US" dirty="0">
                <a:latin typeface="MS Reference Sans Serif" panose="020B0604030504040204" pitchFamily="34" charset="0"/>
              </a:rPr>
              <a:t> : 3, 10 20 30</a:t>
            </a:r>
          </a:p>
          <a:p>
            <a:r>
              <a:rPr lang="ko-KR" altLang="en-US" dirty="0" err="1">
                <a:latin typeface="MS Reference Sans Serif" panose="020B0604030504040204" pitchFamily="34" charset="0"/>
              </a:rPr>
              <a:t>Length</a:t>
            </a:r>
            <a:r>
              <a:rPr lang="ko-KR" altLang="en-US" dirty="0">
                <a:latin typeface="MS Reference Sans Serif" panose="020B0604030504040204" pitchFamily="34" charset="0"/>
              </a:rPr>
              <a:t> : 2, 100 200</a:t>
            </a:r>
          </a:p>
        </p:txBody>
      </p:sp>
    </p:spTree>
    <p:extLst>
      <p:ext uri="{BB962C8B-B14F-4D97-AF65-F5344CB8AC3E}">
        <p14:creationId xmlns:p14="http://schemas.microsoft.com/office/powerpoint/2010/main" val="2193664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F030-ECA3-C524-E236-7BE4A5BF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F8BD5-70AB-481E-1A87-3F9E829C51AE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두 번째 가변 배열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jagged2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생성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E29118-3F4C-9A38-0946-202E27FF4B2C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AAA8EE-72F2-4025-96C5-1CAE9E064BF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543949-AFEA-4F0D-DA61-7E63DF6E1368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JaggedArray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07DF76-9C2C-6BCD-DB70-C1860D43A65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D8D1E0E-1A34-E885-7B97-5FB3880F6B9F}"/>
              </a:ext>
            </a:extLst>
          </p:cNvPr>
          <p:cNvSpPr txBox="1"/>
          <p:nvPr/>
        </p:nvSpPr>
        <p:spPr>
          <a:xfrm>
            <a:off x="335222" y="2209122"/>
            <a:ext cx="834548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MS Reference Sans Serif" panose="020B0604030504040204" pitchFamily="34" charset="0"/>
              </a:rPr>
              <a:t>int</a:t>
            </a:r>
            <a:r>
              <a:rPr lang="ko-KR" altLang="en-US" sz="1400" dirty="0">
                <a:latin typeface="MS Reference Sans Serif" panose="020B0604030504040204" pitchFamily="34" charset="0"/>
              </a:rPr>
              <a:t>[][] jagged2 =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new</a:t>
            </a:r>
            <a:r>
              <a:rPr lang="ko-KR" altLang="en-US" sz="1400" dirty="0">
                <a:latin typeface="MS Reference Sans Serif" panose="020B0604030504040204" pitchFamily="34" charset="0"/>
              </a:rPr>
              <a:t>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int</a:t>
            </a:r>
            <a:r>
              <a:rPr lang="ko-KR" altLang="en-US" sz="1400" dirty="0">
                <a:latin typeface="MS Reference Sans Serif" panose="020B0604030504040204" pitchFamily="34" charset="0"/>
              </a:rPr>
              <a:t>[2][] {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   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new</a:t>
            </a:r>
            <a:r>
              <a:rPr lang="ko-KR" altLang="en-US" sz="1400" dirty="0">
                <a:latin typeface="MS Reference Sans Serif" panose="020B0604030504040204" pitchFamily="34" charset="0"/>
              </a:rPr>
              <a:t>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int</a:t>
            </a:r>
            <a:r>
              <a:rPr lang="ko-KR" altLang="en-US" sz="1400" dirty="0">
                <a:latin typeface="MS Reference Sans Serif" panose="020B0604030504040204" pitchFamily="34" charset="0"/>
              </a:rPr>
              <a:t>[] { 1000, 2000 },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   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new</a:t>
            </a:r>
            <a:r>
              <a:rPr lang="ko-KR" altLang="en-US" sz="1400" dirty="0">
                <a:latin typeface="MS Reference Sans Serif" panose="020B0604030504040204" pitchFamily="34" charset="0"/>
              </a:rPr>
              <a:t>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int</a:t>
            </a:r>
            <a:r>
              <a:rPr lang="ko-KR" altLang="en-US" sz="1400" dirty="0">
                <a:latin typeface="MS Reference Sans Serif" panose="020B0604030504040204" pitchFamily="34" charset="0"/>
              </a:rPr>
              <a:t>[4] { 6, 7, 8, 9 }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};</a:t>
            </a:r>
          </a:p>
          <a:p>
            <a:r>
              <a:rPr lang="ko-KR" altLang="en-US" dirty="0">
                <a:latin typeface="MS Reference Sans Serif" panose="020B0604030504040204" pitchFamily="34" charset="0"/>
              </a:rPr>
              <a:t>선언과 동시에 초기화 (</a:t>
            </a:r>
            <a:r>
              <a:rPr lang="ko-KR" altLang="en-US" dirty="0" err="1">
                <a:latin typeface="MS Reference Sans Serif" panose="020B0604030504040204" pitchFamily="34" charset="0"/>
              </a:rPr>
              <a:t>inline</a:t>
            </a:r>
            <a:r>
              <a:rPr lang="ko-KR" altLang="en-US" dirty="0">
                <a:latin typeface="MS Reference Sans Serif" panose="020B0604030504040204" pitchFamily="34" charset="0"/>
              </a:rPr>
              <a:t> </a:t>
            </a:r>
            <a:r>
              <a:rPr lang="ko-KR" altLang="en-US" dirty="0" err="1">
                <a:latin typeface="MS Reference Sans Serif" panose="020B0604030504040204" pitchFamily="34" charset="0"/>
              </a:rPr>
              <a:t>initialization</a:t>
            </a:r>
            <a:r>
              <a:rPr lang="ko-KR" altLang="en-US" dirty="0">
                <a:latin typeface="MS Reference Sans Serif" panose="020B0604030504040204" pitchFamily="34" charset="0"/>
              </a:rPr>
              <a:t>)</a:t>
            </a:r>
          </a:p>
          <a:p>
            <a:endParaRPr lang="ko-KR" altLang="en-US" dirty="0">
              <a:latin typeface="MS Reference Sans Serif" panose="020B0604030504040204" pitchFamily="34" charset="0"/>
            </a:endParaRPr>
          </a:p>
          <a:p>
            <a:r>
              <a:rPr lang="ko-KR" altLang="en-US" dirty="0">
                <a:latin typeface="MS Reference Sans Serif" panose="020B0604030504040204" pitchFamily="34" charset="0"/>
              </a:rPr>
              <a:t>구조: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6CAC6E3-3929-B4AB-1E90-3CA2D2EAD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459409"/>
              </p:ext>
            </p:extLst>
          </p:nvPr>
        </p:nvGraphicFramePr>
        <p:xfrm>
          <a:off x="564613" y="4416724"/>
          <a:ext cx="78867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968835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058184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41536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</a:rPr>
                        <a:t>인덱스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</a:rPr>
                        <a:t>배열 내용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</a:rPr>
                        <a:t>길이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006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</a:rPr>
                        <a:t>jagged2[0]</a:t>
                      </a:r>
                      <a:endParaRPr lang="en-US" sz="1800" kern="120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</a:rPr>
                        <a:t>{ 1000, 2000 }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 kern="12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ko-KR" sz="1800" kern="120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1915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</a:rPr>
                        <a:t>jagged2[1]</a:t>
                      </a:r>
                      <a:endParaRPr lang="en-US" sz="1800" kern="120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 kern="1200">
                          <a:solidFill>
                            <a:schemeClr val="tx1"/>
                          </a:solidFill>
                        </a:rPr>
                        <a:t>{ 6, 7, 8, 9 }</a:t>
                      </a:r>
                      <a:endParaRPr lang="en-US" altLang="ko-KR" sz="1800" kern="120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latin typeface="MS Reference Sans Serif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1032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24313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F030-ECA3-C524-E236-7BE4A5BF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F8BD5-70AB-481E-1A87-3F9E829C51AE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두 번째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foreach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루프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E29118-3F4C-9A38-0946-202E27FF4B2C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AAA8EE-72F2-4025-96C5-1CAE9E064BF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543949-AFEA-4F0D-DA61-7E63DF6E1368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JaggedArray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07DF76-9C2C-6BCD-DB70-C1860D43A65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B9AF716-7CF1-45DA-F195-C6F11D20D630}"/>
              </a:ext>
            </a:extLst>
          </p:cNvPr>
          <p:cNvSpPr txBox="1"/>
          <p:nvPr/>
        </p:nvSpPr>
        <p:spPr>
          <a:xfrm>
            <a:off x="335222" y="2050096"/>
            <a:ext cx="82723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MS Reference Sans Serif" panose="020B0604030504040204" pitchFamily="34" charset="0"/>
              </a:rPr>
              <a:t>foreach</a:t>
            </a:r>
            <a:r>
              <a:rPr lang="ko-KR" altLang="en-US" sz="1400" dirty="0">
                <a:latin typeface="MS Reference Sans Serif" panose="020B0604030504040204" pitchFamily="34" charset="0"/>
              </a:rPr>
              <a:t> (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int</a:t>
            </a:r>
            <a:r>
              <a:rPr lang="ko-KR" altLang="en-US" sz="1400" dirty="0">
                <a:latin typeface="MS Reference Sans Serif" panose="020B0604030504040204" pitchFamily="34" charset="0"/>
              </a:rPr>
              <a:t>[]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arr</a:t>
            </a:r>
            <a:r>
              <a:rPr lang="ko-KR" altLang="en-US" sz="1400" dirty="0">
                <a:latin typeface="MS Reference Sans Serif" panose="020B0604030504040204" pitchFamily="34" charset="0"/>
              </a:rPr>
              <a:t>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in</a:t>
            </a:r>
            <a:r>
              <a:rPr lang="ko-KR" altLang="en-US" sz="1400" dirty="0">
                <a:latin typeface="MS Reference Sans Serif" panose="020B0604030504040204" pitchFamily="34" charset="0"/>
              </a:rPr>
              <a:t> jagged2)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   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Console.Write</a:t>
            </a:r>
            <a:r>
              <a:rPr lang="ko-KR" altLang="en-US" sz="1400" dirty="0">
                <a:latin typeface="MS Reference Sans Serif" panose="020B0604030504040204" pitchFamily="34" charset="0"/>
              </a:rPr>
              <a:t>($"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Length</a:t>
            </a:r>
            <a:r>
              <a:rPr lang="ko-KR" altLang="en-US" sz="1400" dirty="0">
                <a:latin typeface="MS Reference Sans Serif" panose="020B0604030504040204" pitchFamily="34" charset="0"/>
              </a:rPr>
              <a:t> : {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arr.Length</a:t>
            </a:r>
            <a:r>
              <a:rPr lang="ko-KR" altLang="en-US" sz="1400" dirty="0">
                <a:latin typeface="MS Reference Sans Serif" panose="020B0604030504040204" pitchFamily="34" charset="0"/>
              </a:rPr>
              <a:t>}, ");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   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foreach</a:t>
            </a:r>
            <a:r>
              <a:rPr lang="ko-KR" altLang="en-US" sz="1400" dirty="0">
                <a:latin typeface="MS Reference Sans Serif" panose="020B0604030504040204" pitchFamily="34" charset="0"/>
              </a:rPr>
              <a:t> (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int</a:t>
            </a:r>
            <a:r>
              <a:rPr lang="ko-KR" altLang="en-US" sz="1400" dirty="0">
                <a:latin typeface="MS Reference Sans Serif" panose="020B0604030504040204" pitchFamily="34" charset="0"/>
              </a:rPr>
              <a:t>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e</a:t>
            </a:r>
            <a:r>
              <a:rPr lang="ko-KR" altLang="en-US" sz="1400" dirty="0">
                <a:latin typeface="MS Reference Sans Serif" panose="020B0604030504040204" pitchFamily="34" charset="0"/>
              </a:rPr>
              <a:t>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in</a:t>
            </a:r>
            <a:r>
              <a:rPr lang="ko-KR" altLang="en-US" sz="1400" dirty="0">
                <a:latin typeface="MS Reference Sans Serif" panose="020B0604030504040204" pitchFamily="34" charset="0"/>
              </a:rPr>
              <a:t>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arr</a:t>
            </a:r>
            <a:r>
              <a:rPr lang="ko-KR" altLang="en-US" sz="1400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       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Console.Write</a:t>
            </a:r>
            <a:r>
              <a:rPr lang="ko-KR" altLang="en-US" sz="1400" dirty="0">
                <a:latin typeface="MS Reference Sans Serif" panose="020B0604030504040204" pitchFamily="34" charset="0"/>
              </a:rPr>
              <a:t>($"{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e</a:t>
            </a:r>
            <a:r>
              <a:rPr lang="ko-KR" altLang="en-US" sz="1400" dirty="0">
                <a:latin typeface="MS Reference Sans Serif" panose="020B0604030504040204" pitchFamily="34" charset="0"/>
              </a:rPr>
              <a:t>} ");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   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Console.WriteLine</a:t>
            </a:r>
            <a:r>
              <a:rPr lang="ko-KR" altLang="en-US" sz="1400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ko-KR" altLang="en-US" sz="1400" dirty="0">
                <a:latin typeface="MS Reference Sans Serif" panose="020B0604030504040204" pitchFamily="34" charset="0"/>
              </a:rPr>
              <a:t>}</a:t>
            </a:r>
          </a:p>
          <a:p>
            <a:r>
              <a:rPr lang="ko-KR" altLang="en-US" dirty="0">
                <a:latin typeface="MS Reference Sans Serif" panose="020B0604030504040204" pitchFamily="34" charset="0"/>
              </a:rPr>
              <a:t>🔹 출력 결과</a:t>
            </a:r>
          </a:p>
          <a:p>
            <a:r>
              <a:rPr lang="ko-KR" altLang="en-US" dirty="0" err="1">
                <a:latin typeface="MS Reference Sans Serif" panose="020B0604030504040204" pitchFamily="34" charset="0"/>
              </a:rPr>
              <a:t>Length</a:t>
            </a:r>
            <a:r>
              <a:rPr lang="ko-KR" altLang="en-US" dirty="0">
                <a:latin typeface="MS Reference Sans Serif" panose="020B0604030504040204" pitchFamily="34" charset="0"/>
              </a:rPr>
              <a:t> : 2, 1000 2000</a:t>
            </a:r>
          </a:p>
          <a:p>
            <a:r>
              <a:rPr lang="ko-KR" altLang="en-US" dirty="0" err="1">
                <a:latin typeface="MS Reference Sans Serif" panose="020B0604030504040204" pitchFamily="34" charset="0"/>
              </a:rPr>
              <a:t>Length</a:t>
            </a:r>
            <a:r>
              <a:rPr lang="ko-KR" altLang="en-US" dirty="0">
                <a:latin typeface="MS Reference Sans Serif" panose="020B0604030504040204" pitchFamily="34" charset="0"/>
              </a:rPr>
              <a:t> : 4, 6 7 8 9</a:t>
            </a:r>
          </a:p>
        </p:txBody>
      </p:sp>
    </p:spTree>
    <p:extLst>
      <p:ext uri="{BB962C8B-B14F-4D97-AF65-F5344CB8AC3E}">
        <p14:creationId xmlns:p14="http://schemas.microsoft.com/office/powerpoint/2010/main" val="32528963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F030-ECA3-C524-E236-7BE4A5BF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F8BD5-70AB-481E-1A87-3F9E829C51AE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>
                <a:latin typeface="MS Reference Sans Serif" panose="020B0604030504040204" pitchFamily="34" charset="0"/>
              </a:rPr>
              <a:t>RoutineCalendar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 PRD (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실습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3: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월별 일수 관리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)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E29118-3F4C-9A38-0946-202E27FF4B2C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AAA8EE-72F2-4025-96C5-1CAE9E064BF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543949-AFEA-4F0D-DA61-7E63DF6E1368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3: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월별 일수 관리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07DF76-9C2C-6BCD-DB70-C1860D43A65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FABAA0A-8940-21C4-8FBA-EEED31BFB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435095"/>
              </p:ext>
            </p:extLst>
          </p:nvPr>
        </p:nvGraphicFramePr>
        <p:xfrm>
          <a:off x="277711" y="2036858"/>
          <a:ext cx="8588577" cy="453215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19441">
                  <a:extLst>
                    <a:ext uri="{9D8B030D-6E8A-4147-A177-3AD203B41FA5}">
                      <a16:colId xmlns:a16="http://schemas.microsoft.com/office/drawing/2014/main" val="4212163624"/>
                    </a:ext>
                  </a:extLst>
                </a:gridCol>
                <a:gridCol w="4406277">
                  <a:extLst>
                    <a:ext uri="{9D8B030D-6E8A-4147-A177-3AD203B41FA5}">
                      <a16:colId xmlns:a16="http://schemas.microsoft.com/office/drawing/2014/main" val="1662763177"/>
                    </a:ext>
                  </a:extLst>
                </a:gridCol>
                <a:gridCol w="2862859">
                  <a:extLst>
                    <a:ext uri="{9D8B030D-6E8A-4147-A177-3AD203B41FA5}">
                      <a16:colId xmlns:a16="http://schemas.microsoft.com/office/drawing/2014/main" val="910965018"/>
                    </a:ext>
                  </a:extLst>
                </a:gridCol>
              </a:tblGrid>
              <a:tr h="9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구분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항목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설명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716207"/>
                  </a:ext>
                </a:extLst>
              </a:tr>
              <a:tr h="173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프로젝트명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RoutineCalendar</a:t>
                      </a:r>
                      <a:endParaRPr 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월별 일수를 가변 배열로 관리하는 콘솔 프로그램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extLst>
                  <a:ext uri="{0D108BD9-81ED-4DB2-BD59-A6C34878D82A}">
                    <a16:rowId xmlns:a16="http://schemas.microsoft.com/office/drawing/2014/main" val="3704675881"/>
                  </a:ext>
                </a:extLst>
              </a:tr>
              <a:tr h="173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개발 언어 </a:t>
                      </a:r>
                      <a:r>
                        <a:rPr lang="en-US" altLang="ko-KR" sz="1000" b="1"/>
                        <a:t>/ </a:t>
                      </a:r>
                      <a:r>
                        <a:rPr lang="ko-KR" altLang="en-US" sz="1000" b="1"/>
                        <a:t>환경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C#, .NET Console Application</a:t>
                      </a:r>
                      <a:endParaRPr 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Visual Studio </a:t>
                      </a:r>
                      <a:r>
                        <a:rPr lang="ko-KR" altLang="en-US" sz="1000"/>
                        <a:t>또는 </a:t>
                      </a:r>
                      <a:r>
                        <a:rPr lang="en-US" sz="1000"/>
                        <a:t>VS Code </a:t>
                      </a:r>
                      <a:r>
                        <a:rPr lang="ko-KR" altLang="en-US" sz="1000"/>
                        <a:t>환경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extLst>
                  <a:ext uri="{0D108BD9-81ED-4DB2-BD59-A6C34878D82A}">
                    <a16:rowId xmlns:a16="http://schemas.microsoft.com/office/drawing/2014/main" val="2958175782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개발 목적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월별 일수가 서로 다름을 표현하기 위해 **가변 배열</a:t>
                      </a:r>
                      <a:r>
                        <a:rPr lang="en-US" altLang="ko-KR" sz="1000"/>
                        <a:t>(Jagged Array)**</a:t>
                      </a:r>
                      <a:r>
                        <a:rPr lang="ko-KR" altLang="en-US" sz="1000"/>
                        <a:t>을 학습하고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반복문을 통해 각 월의 일수와 전체 일수를 계산하는 기능을 구현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extLst>
                  <a:ext uri="{0D108BD9-81ED-4DB2-BD59-A6C34878D82A}">
                    <a16:rowId xmlns:a16="http://schemas.microsoft.com/office/drawing/2014/main" val="94298721"/>
                  </a:ext>
                </a:extLst>
              </a:tr>
              <a:tr h="247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기능 요약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1️⃣ </a:t>
                      </a:r>
                      <a:r>
                        <a:rPr lang="ko-KR" altLang="en-US" sz="1000" dirty="0"/>
                        <a:t>각 월</a:t>
                      </a:r>
                      <a:r>
                        <a:rPr lang="en-US" altLang="ko-KR" sz="1000" dirty="0"/>
                        <a:t>(1~12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의 일수 출력</a:t>
                      </a:r>
                      <a:endParaRPr lang="en-US" altLang="ko-KR" sz="1000" dirty="0"/>
                    </a:p>
                    <a:p>
                      <a:pPr>
                        <a:buNone/>
                      </a:pPr>
                      <a:r>
                        <a:rPr lang="en-US" altLang="ko-KR" sz="1000" dirty="0"/>
                        <a:t>2️⃣ </a:t>
                      </a:r>
                      <a:r>
                        <a:rPr lang="ko-KR" altLang="en-US" sz="1000" dirty="0"/>
                        <a:t>전체 연간 일수 계산 및 출력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extLst>
                  <a:ext uri="{0D108BD9-81ED-4DB2-BD59-A6C34878D82A}">
                    <a16:rowId xmlns:a16="http://schemas.microsoft.com/office/drawing/2014/main" val="1783590335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입력 데이터 구조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/>
                        <a:t>int[][] calendar</a:t>
                      </a:r>
                      <a:r>
                        <a:rPr lang="ko-KR" altLang="en-US" sz="1000" b="1" dirty="0"/>
                        <a:t> 가변 배열</a:t>
                      </a:r>
                      <a:r>
                        <a:rPr lang="en-US" altLang="ko-KR" sz="1000" b="1" dirty="0"/>
                        <a:t>- </a:t>
                      </a:r>
                      <a:r>
                        <a:rPr lang="ko-KR" altLang="en-US" sz="1000" b="1" dirty="0"/>
                        <a:t>각 요소는 해당 월의 일수를 크기로 가지는 정수 </a:t>
                      </a:r>
                      <a:r>
                        <a:rPr lang="ko-KR" altLang="en-US" sz="1000" b="1" dirty="0" err="1"/>
                        <a:t>배열예</a:t>
                      </a:r>
                      <a:r>
                        <a:rPr lang="en-US" altLang="ko-KR" sz="1000" b="1" dirty="0"/>
                        <a:t>: new int[31]</a:t>
                      </a:r>
                      <a:r>
                        <a:rPr lang="ko-KR" altLang="en-US" sz="1000" b="1" dirty="0"/>
                        <a:t> → </a:t>
                      </a:r>
                      <a:r>
                        <a:rPr lang="en-US" altLang="ko-KR" sz="1000" b="1" dirty="0"/>
                        <a:t>31</a:t>
                      </a:r>
                      <a:r>
                        <a:rPr lang="ko-KR" altLang="en-US" sz="1000" b="1" dirty="0"/>
                        <a:t>일</a:t>
                      </a:r>
                      <a:endParaRPr lang="ko-KR" altLang="en-US" sz="1000" b="1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extLst>
                  <a:ext uri="{0D108BD9-81ED-4DB2-BD59-A6C34878D82A}">
                    <a16:rowId xmlns:a16="http://schemas.microsoft.com/office/drawing/2014/main" val="966423320"/>
                  </a:ext>
                </a:extLst>
              </a:tr>
              <a:tr h="173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출력 데이터 구조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콘솔에 각 월별 일수 및 전체 일수 출력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extLst>
                  <a:ext uri="{0D108BD9-81ED-4DB2-BD59-A6C34878D82A}">
                    <a16:rowId xmlns:a16="http://schemas.microsoft.com/office/drawing/2014/main" val="943051788"/>
                  </a:ext>
                </a:extLst>
              </a:tr>
              <a:tr h="469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주요 처리 로직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1️⃣ for</a:t>
                      </a:r>
                      <a:r>
                        <a:rPr lang="ko-KR" altLang="en-US" sz="1000" dirty="0"/>
                        <a:t>문을 사용해 각 월의 배열 길이</a:t>
                      </a:r>
                      <a:r>
                        <a:rPr lang="en-US" altLang="ko-KR" sz="1000" dirty="0"/>
                        <a:t>(Length)</a:t>
                      </a:r>
                      <a:r>
                        <a:rPr lang="ko-KR" altLang="en-US" sz="1000" dirty="0"/>
                        <a:t>를 이용하여 일수 출력</a:t>
                      </a:r>
                      <a:endParaRPr lang="en-US" altLang="ko-KR" sz="1000" dirty="0"/>
                    </a:p>
                    <a:p>
                      <a:pPr>
                        <a:buNone/>
                      </a:pPr>
                      <a:r>
                        <a:rPr lang="en-US" altLang="ko-KR" sz="1000" dirty="0"/>
                        <a:t>2️⃣ foreach</a:t>
                      </a:r>
                      <a:r>
                        <a:rPr lang="ko-KR" altLang="en-US" sz="1000" dirty="0"/>
                        <a:t>문을 사용해 전체 배열을 순회하며 일수 합산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extLst>
                  <a:ext uri="{0D108BD9-81ED-4DB2-BD59-A6C34878D82A}">
                    <a16:rowId xmlns:a16="http://schemas.microsoft.com/office/drawing/2014/main" val="1499398665"/>
                  </a:ext>
                </a:extLst>
              </a:tr>
              <a:tr h="321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출력 예시 </a:t>
                      </a:r>
                      <a:r>
                        <a:rPr lang="en-US" altLang="ko-KR" sz="1000" b="1"/>
                        <a:t>(</a:t>
                      </a:r>
                      <a:r>
                        <a:rPr lang="en-US" sz="1000" b="1"/>
                        <a:t>Console)</a:t>
                      </a:r>
                      <a:endParaRPr 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=== </a:t>
                      </a:r>
                      <a:r>
                        <a:rPr lang="ko-KR" altLang="en-US" sz="1000" dirty="0"/>
                        <a:t>월별 일수 </a:t>
                      </a:r>
                      <a:r>
                        <a:rPr lang="en-US" altLang="ko-KR" sz="1000" dirty="0"/>
                        <a:t>=== 1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: 31</a:t>
                      </a:r>
                      <a:r>
                        <a:rPr lang="ko-KR" altLang="en-US" sz="1000" dirty="0"/>
                        <a:t>일 </a:t>
                      </a: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: 28</a:t>
                      </a:r>
                      <a:r>
                        <a:rPr lang="ko-KR" altLang="en-US" sz="1000" dirty="0"/>
                        <a:t>일 </a:t>
                      </a:r>
                      <a:r>
                        <a:rPr lang="en-US" altLang="ko-KR" sz="1000" dirty="0"/>
                        <a:t>3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: 31</a:t>
                      </a:r>
                      <a:r>
                        <a:rPr lang="ko-KR" altLang="en-US" sz="1000" dirty="0"/>
                        <a:t>일 </a:t>
                      </a:r>
                      <a:r>
                        <a:rPr lang="en-US" altLang="ko-KR" sz="1000" dirty="0"/>
                        <a:t>... 12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: 31</a:t>
                      </a:r>
                      <a:r>
                        <a:rPr lang="ko-KR" altLang="en-US" sz="1000" dirty="0"/>
                        <a:t>일 총 일수</a:t>
                      </a:r>
                      <a:r>
                        <a:rPr lang="en-US" altLang="ko-KR" sz="1000" dirty="0"/>
                        <a:t>: 365</a:t>
                      </a:r>
                      <a:r>
                        <a:rPr lang="ko-KR" altLang="en-US" sz="1000" dirty="0"/>
                        <a:t>일</a:t>
                      </a: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extLst>
                  <a:ext uri="{0D108BD9-81ED-4DB2-BD59-A6C34878D82A}">
                    <a16:rowId xmlns:a16="http://schemas.microsoft.com/office/drawing/2014/main" val="63263583"/>
                  </a:ext>
                </a:extLst>
              </a:tr>
              <a:tr h="173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예외 처리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없음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윤년 고려하지 않음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기본 </a:t>
                      </a:r>
                      <a:r>
                        <a:rPr lang="en-US" altLang="ko-KR" sz="1000"/>
                        <a:t>365</a:t>
                      </a:r>
                      <a:r>
                        <a:rPr lang="ko-KR" altLang="en-US" sz="1000"/>
                        <a:t>일 기준</a:t>
                      </a:r>
                      <a:r>
                        <a:rPr lang="en-US" altLang="ko-KR" sz="1000"/>
                        <a:t>)</a:t>
                      </a:r>
                      <a:endParaRPr lang="en-US" altLang="ko-KR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extLst>
                  <a:ext uri="{0D108BD9-81ED-4DB2-BD59-A6C34878D82A}">
                    <a16:rowId xmlns:a16="http://schemas.microsoft.com/office/drawing/2014/main" val="1037339116"/>
                  </a:ext>
                </a:extLst>
              </a:tr>
              <a:tr h="469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테스트 케이스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각 월의 배열 크기가 올바른지 확인</a:t>
                      </a:r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전체 합계가 </a:t>
                      </a:r>
                      <a:r>
                        <a:rPr lang="en-US" altLang="ko-KR" sz="1000"/>
                        <a:t>365</a:t>
                      </a:r>
                      <a:r>
                        <a:rPr lang="ko-KR" altLang="en-US" sz="1000"/>
                        <a:t>로 계산되는지 검증</a:t>
                      </a:r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배열 크기 변경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예</a:t>
                      </a:r>
                      <a:r>
                        <a:rPr lang="en-US" altLang="ko-KR" sz="1000"/>
                        <a:t>: 2</a:t>
                      </a:r>
                      <a:r>
                        <a:rPr lang="ko-KR" altLang="en-US" sz="1000"/>
                        <a:t>월 </a:t>
                      </a:r>
                      <a:r>
                        <a:rPr lang="en-US" altLang="ko-KR" sz="1000"/>
                        <a:t>29</a:t>
                      </a:r>
                      <a:r>
                        <a:rPr lang="ko-KR" altLang="en-US" sz="1000"/>
                        <a:t>일</a:t>
                      </a:r>
                      <a:r>
                        <a:rPr lang="en-US" altLang="ko-KR" sz="1000"/>
                        <a:t>) </a:t>
                      </a:r>
                      <a:r>
                        <a:rPr lang="ko-KR" altLang="en-US" sz="1000"/>
                        <a:t>시 총합 자동 반영 확인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extLst>
                  <a:ext uri="{0D108BD9-81ED-4DB2-BD59-A6C34878D82A}">
                    <a16:rowId xmlns:a16="http://schemas.microsoft.com/office/drawing/2014/main" val="294842783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확장 가능성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윤년 여부 입력 시 </a:t>
                      </a:r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월 일수 자동 변경 기능 추가</a:t>
                      </a:r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월별 일정 저장 기능 추가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예</a:t>
                      </a:r>
                      <a:r>
                        <a:rPr lang="en-US" altLang="ko-KR" sz="1000"/>
                        <a:t>: calendar[i][j] = </a:t>
                      </a:r>
                      <a:r>
                        <a:rPr lang="ko-KR" altLang="en-US" sz="1000"/>
                        <a:t>일정 코드</a:t>
                      </a:r>
                      <a:r>
                        <a:rPr lang="en-US" altLang="ko-KR" sz="1000"/>
                        <a:t>)- </a:t>
                      </a:r>
                      <a:r>
                        <a:rPr lang="ko-KR" altLang="en-US" sz="1000"/>
                        <a:t>특정 월의 일수 검색 기능 추가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extLst>
                  <a:ext uri="{0D108BD9-81ED-4DB2-BD59-A6C34878D82A}">
                    <a16:rowId xmlns:a16="http://schemas.microsoft.com/office/drawing/2014/main" val="920393832"/>
                  </a:ext>
                </a:extLst>
              </a:tr>
              <a:tr h="173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작성자 </a:t>
                      </a:r>
                      <a:r>
                        <a:rPr lang="en-US" altLang="ko-KR" sz="1000" b="1"/>
                        <a:t>/ </a:t>
                      </a:r>
                      <a:r>
                        <a:rPr lang="ko-KR" altLang="en-US" sz="1000" b="1"/>
                        <a:t>버전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작성자</a:t>
                      </a:r>
                      <a:r>
                        <a:rPr lang="en-US" altLang="ko-KR" sz="1000"/>
                        <a:t>: </a:t>
                      </a:r>
                      <a:r>
                        <a:rPr lang="ko-KR" altLang="en-US" sz="1000"/>
                        <a:t>김대경버전</a:t>
                      </a:r>
                      <a:r>
                        <a:rPr lang="en-US" altLang="ko-KR" sz="1000"/>
                        <a:t>: v1.0</a:t>
                      </a:r>
                      <a:r>
                        <a:rPr lang="ko-KR" altLang="en-US" sz="1000"/>
                        <a:t>작성일</a:t>
                      </a:r>
                      <a:r>
                        <a:rPr lang="en-US" altLang="ko-KR" sz="1000"/>
                        <a:t>: 2025.11.11</a:t>
                      </a:r>
                      <a:endParaRPr lang="en-US" altLang="ko-KR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extLst>
                  <a:ext uri="{0D108BD9-81ED-4DB2-BD59-A6C34878D82A}">
                    <a16:rowId xmlns:a16="http://schemas.microsoft.com/office/drawing/2014/main" val="2838591278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비고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가변 배열</a:t>
                      </a:r>
                      <a:r>
                        <a:rPr lang="en-US" altLang="ko-KR" sz="1000"/>
                        <a:t>(int[][])</a:t>
                      </a:r>
                      <a:r>
                        <a:rPr lang="ko-KR" altLang="en-US" sz="1000"/>
                        <a:t>과 반복문</a:t>
                      </a:r>
                      <a:r>
                        <a:rPr lang="en-US" altLang="ko-KR" sz="1000"/>
                        <a:t>(for, foreach) </a:t>
                      </a:r>
                      <a:r>
                        <a:rPr lang="ko-KR" altLang="en-US" sz="1000"/>
                        <a:t>학습을 위한 기초 예제</a:t>
                      </a:r>
                      <a:r>
                        <a:rPr lang="en-US" altLang="ko-KR" sz="1000"/>
                        <a:t>. </a:t>
                      </a:r>
                      <a:r>
                        <a:rPr lang="ko-KR" altLang="en-US" sz="1000"/>
                        <a:t>실제 달력 구현의 기본 구조로 확장 가능</a:t>
                      </a:r>
                      <a:r>
                        <a:rPr lang="en-US" altLang="ko-KR" sz="1000"/>
                        <a:t>.</a:t>
                      </a:r>
                      <a:endParaRPr lang="en-US" altLang="ko-KR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4724" marR="24724" marT="12362" marB="12362" anchor="ctr"/>
                </a:tc>
                <a:extLst>
                  <a:ext uri="{0D108BD9-81ED-4DB2-BD59-A6C34878D82A}">
                    <a16:rowId xmlns:a16="http://schemas.microsoft.com/office/drawing/2014/main" val="956562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7389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F030-ECA3-C524-E236-7BE4A5BF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F8BD5-70AB-481E-1A87-3F9E829C51AE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 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RoutineCalendar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E29118-3F4C-9A38-0946-202E27FF4B2C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AAA8EE-72F2-4025-96C5-1CAE9E064BF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543949-AFEA-4F0D-DA61-7E63DF6E1368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3: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월별 일수 관리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07DF76-9C2C-6BCD-DB70-C1860D43A65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1E818F83-0948-2F38-D33C-A90E1D540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2" y="2228790"/>
            <a:ext cx="5677705" cy="369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3959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BF030-ECA3-C524-E236-7BE4A5BF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F8BD5-70AB-481E-1A87-3F9E829C51AE}"/>
              </a:ext>
            </a:extLst>
          </p:cNvPr>
          <p:cNvSpPr txBox="1"/>
          <p:nvPr/>
        </p:nvSpPr>
        <p:spPr>
          <a:xfrm>
            <a:off x="224290" y="1526876"/>
            <a:ext cx="8584488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RoutineCalendar</a:t>
            </a:r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// 12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개월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, 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각 월의 일수가 다름</a:t>
            </a:r>
          </a:p>
          <a:p>
            <a:r>
              <a:rPr lang="ko-KR" altLang="en-US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int[][] calendar =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new int[31],  // 1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월</a:t>
            </a:r>
          </a:p>
          <a:p>
            <a:r>
              <a:rPr lang="ko-KR" altLang="en-US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new int[28],  // 2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월</a:t>
            </a:r>
          </a:p>
          <a:p>
            <a:r>
              <a:rPr lang="ko-KR" altLang="en-US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new int[31],  // 3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월</a:t>
            </a:r>
          </a:p>
          <a:p>
            <a:r>
              <a:rPr lang="ko-KR" altLang="en-US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new int[30],  // 4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월</a:t>
            </a:r>
          </a:p>
          <a:p>
            <a:r>
              <a:rPr lang="ko-KR" altLang="en-US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new int[31],  // 5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월</a:t>
            </a:r>
          </a:p>
          <a:p>
            <a:r>
              <a:rPr lang="ko-KR" altLang="en-US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new int[30],  // 6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월</a:t>
            </a:r>
          </a:p>
          <a:p>
            <a:r>
              <a:rPr lang="ko-KR" altLang="en-US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new int[31],  // 7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월</a:t>
            </a:r>
          </a:p>
          <a:p>
            <a:r>
              <a:rPr lang="ko-KR" altLang="en-US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new int[31],  // 8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월</a:t>
            </a:r>
          </a:p>
          <a:p>
            <a:r>
              <a:rPr lang="ko-KR" altLang="en-US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new int[30],  // 9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월</a:t>
            </a:r>
          </a:p>
          <a:p>
            <a:r>
              <a:rPr lang="ko-KR" altLang="en-US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new int[31],  // 10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월</a:t>
            </a:r>
          </a:p>
          <a:p>
            <a:r>
              <a:rPr lang="ko-KR" altLang="en-US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new int[30],  // 11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월</a:t>
            </a:r>
          </a:p>
          <a:p>
            <a:r>
              <a:rPr lang="ko-KR" altLang="en-US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new int[31]   // 12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월</a:t>
            </a:r>
          </a:p>
          <a:p>
            <a:r>
              <a:rPr lang="ko-KR" altLang="en-US" sz="8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};</a:t>
            </a:r>
          </a:p>
          <a:p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("=== 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월별 일수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===");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for (int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 &lt;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calendar.Length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;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++)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($"{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 + 1}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월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: {calendar[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].Length}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일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}</a:t>
            </a:r>
          </a:p>
          <a:p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// 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전체 일수</a:t>
            </a:r>
          </a:p>
          <a:p>
            <a:r>
              <a:rPr lang="ko-KR" altLang="en-US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int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totalDays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 = 0;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foreach (int[] month in calendar)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totalDays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 +=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month.Length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}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($"\n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총 일수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: {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totalDays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}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일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E29118-3F4C-9A38-0946-202E27FF4B2C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AAA8EE-72F2-4025-96C5-1CAE9E064BF4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543949-AFEA-4F0D-DA61-7E63DF6E1368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3: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월별 일수 관리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07DF76-9C2C-6BCD-DB70-C1860D43A65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7BB07E90-BA90-A165-C88C-5E43FF504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08" y="3877354"/>
            <a:ext cx="3839111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517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D2F43-F73C-3478-CFE7-372585BB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C76AC-3FC4-04BD-B223-C9BEFC9B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A90127-B319-B847-8B90-498ADC5F4B35}"/>
              </a:ext>
            </a:extLst>
          </p:cNvPr>
          <p:cNvSpPr txBox="1"/>
          <p:nvPr/>
        </p:nvSpPr>
        <p:spPr>
          <a:xfrm>
            <a:off x="224290" y="1526876"/>
            <a:ext cx="858448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문제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  <a:p>
            <a:endParaRPr lang="ko-KR" altLang="en-US" sz="1200" b="1" dirty="0">
              <a:latin typeface="MS Reference Sans Serif" panose="020B0604030504040204" pitchFamily="34" charset="0"/>
            </a:endParaRPr>
          </a:p>
          <a:p>
            <a:r>
              <a:rPr lang="ko-KR" altLang="en-US" sz="1200" b="1" dirty="0">
                <a:latin typeface="MS Reference Sans Serif" panose="020B0604030504040204" pitchFamily="34" charset="0"/>
              </a:rPr>
              <a:t>각 과목마다 응시자 수가 다름</a:t>
            </a:r>
          </a:p>
          <a:p>
            <a:r>
              <a:rPr lang="ko-KR" altLang="en-US" sz="1200" b="1" dirty="0">
                <a:latin typeface="MS Reference Sans Serif" panose="020B0604030504040204" pitchFamily="34" charset="0"/>
              </a:rPr>
              <a:t>과목 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0: 5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명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, 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과목 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1: 3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명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, 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과목 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2: 7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명</a:t>
            </a:r>
          </a:p>
          <a:p>
            <a:r>
              <a:rPr lang="ko-KR" altLang="en-US" sz="12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TODO 1: 3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개 과목의 가변 배열 생성</a:t>
            </a:r>
          </a:p>
          <a:p>
            <a:r>
              <a:rPr lang="ko-KR" altLang="en-US" sz="12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int[][] scores = new int[3][];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TODO 2: 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각 과목의 점수 초기화</a:t>
            </a:r>
          </a:p>
          <a:p>
            <a:r>
              <a:rPr lang="ko-KR" altLang="en-US" sz="1200" b="1" dirty="0">
                <a:latin typeface="MS Reference Sans Serif" panose="020B0604030504040204" pitchFamily="34" charset="0"/>
              </a:rPr>
              <a:t>        과목 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0: 85, 90, 78, 92, 88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과목 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1: 95, 87, 91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과목 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2: 82, 79, 88, 85, 90, 86, 84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TODO 3: 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각 과목별 평균 계산 및 출력</a:t>
            </a:r>
          </a:p>
          <a:p>
            <a:r>
              <a:rPr lang="ko-KR" altLang="en-US" sz="12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TODO 4: 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전체 학생 수 계산</a:t>
            </a:r>
          </a:p>
          <a:p>
            <a:r>
              <a:rPr lang="ko-KR" altLang="en-US" sz="12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TODO 5: 80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점 이상인 학생 수 카운트</a:t>
            </a:r>
          </a:p>
          <a:p>
            <a:r>
              <a:rPr lang="ko-KR" altLang="en-US" sz="12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ko-KR" altLang="en-US" sz="1200" b="1" dirty="0">
                <a:latin typeface="MS Reference Sans Serif" panose="020B0604030504040204" pitchFamily="34" charset="0"/>
              </a:rPr>
              <a:t>예상 출력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:</a:t>
            </a:r>
          </a:p>
          <a:p>
            <a:r>
              <a:rPr lang="ko-KR" altLang="en-US" sz="1200" b="1" dirty="0">
                <a:latin typeface="MS Reference Sans Serif" panose="020B0604030504040204" pitchFamily="34" charset="0"/>
              </a:rPr>
              <a:t>과목 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0 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평균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: 86.60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점 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(5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명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ko-KR" altLang="en-US" sz="1200" b="1" dirty="0">
                <a:latin typeface="MS Reference Sans Serif" panose="020B0604030504040204" pitchFamily="34" charset="0"/>
              </a:rPr>
              <a:t>과목 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1 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평균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: 91.00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점 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(3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명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ko-KR" altLang="en-US" sz="1200" b="1" dirty="0">
                <a:latin typeface="MS Reference Sans Serif" panose="020B0604030504040204" pitchFamily="34" charset="0"/>
              </a:rPr>
              <a:t>과목 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2 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평균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: 84.86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점 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(7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명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ko-KR" altLang="en-US" sz="1200" b="1" dirty="0">
                <a:latin typeface="MS Reference Sans Serif" panose="020B0604030504040204" pitchFamily="34" charset="0"/>
              </a:rPr>
              <a:t>전체 학생 수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: 15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명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80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점 이상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: 12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명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A6A6830-3D10-52E3-2E66-A4098D0411C8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F4DF62A-4826-EF5B-A652-973E4B55122B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F20FC9B-146D-ED2D-8BB0-43A0EC3A4B8A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4: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시험 점수 관리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D6D36E4-317D-D62F-64A9-3D6840C7828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766679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D2F43-F73C-3478-CFE7-372585BB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C76AC-3FC4-04BD-B223-C9BEFC9B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A90127-B319-B847-8B90-498ADC5F4B35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시험 점수 관리 프로그램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PRD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A6A6830-3D10-52E3-2E66-A4098D0411C8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F4DF62A-4826-EF5B-A652-973E4B55122B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F20FC9B-146D-ED2D-8BB0-43A0EC3A4B8A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4: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시험 점수 관리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D6D36E4-317D-D62F-64A9-3D6840C7828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4401869-F86C-2A9D-AFCD-0B3CF68EF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750013"/>
              </p:ext>
            </p:extLst>
          </p:nvPr>
        </p:nvGraphicFramePr>
        <p:xfrm>
          <a:off x="198408" y="1947258"/>
          <a:ext cx="8747181" cy="48485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62167">
                  <a:extLst>
                    <a:ext uri="{9D8B030D-6E8A-4147-A177-3AD203B41FA5}">
                      <a16:colId xmlns:a16="http://schemas.microsoft.com/office/drawing/2014/main" val="1373145967"/>
                    </a:ext>
                  </a:extLst>
                </a:gridCol>
                <a:gridCol w="4469287">
                  <a:extLst>
                    <a:ext uri="{9D8B030D-6E8A-4147-A177-3AD203B41FA5}">
                      <a16:colId xmlns:a16="http://schemas.microsoft.com/office/drawing/2014/main" val="21528097"/>
                    </a:ext>
                  </a:extLst>
                </a:gridCol>
                <a:gridCol w="2915727">
                  <a:extLst>
                    <a:ext uri="{9D8B030D-6E8A-4147-A177-3AD203B41FA5}">
                      <a16:colId xmlns:a16="http://schemas.microsoft.com/office/drawing/2014/main" val="2261520632"/>
                    </a:ext>
                  </a:extLst>
                </a:gridCol>
              </a:tblGrid>
              <a:tr h="82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구분</a:t>
                      </a: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항목</a:t>
                      </a: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설명</a:t>
                      </a:r>
                    </a:p>
                  </a:txBody>
                  <a:tcPr marL="20525" marR="20525" marT="10263" marB="10263" anchor="ctr"/>
                </a:tc>
                <a:extLst>
                  <a:ext uri="{0D108BD9-81ED-4DB2-BD59-A6C34878D82A}">
                    <a16:rowId xmlns:a16="http://schemas.microsoft.com/office/drawing/2014/main" val="3306233293"/>
                  </a:ext>
                </a:extLst>
              </a:tr>
              <a:tr h="266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MS Reference Sans Serif" panose="020B0604030504040204" pitchFamily="34" charset="0"/>
                          <a:ea typeface="+mn-ea"/>
                        </a:rPr>
                        <a:t>프로젝트명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MS Reference Sans Serif" panose="020B0604030504040204" pitchFamily="34" charset="0"/>
                          <a:ea typeface="+mn-ea"/>
                        </a:rPr>
                        <a:t>Test Score Management</a:t>
                      </a: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과목별로 응시자 수가 다른 시험 점수를 관리하고 통계를 출력하는 콘솔 프로그램</a:t>
                      </a:r>
                    </a:p>
                  </a:txBody>
                  <a:tcPr marL="20525" marR="20525" marT="10263" marB="10263" anchor="ctr"/>
                </a:tc>
                <a:extLst>
                  <a:ext uri="{0D108BD9-81ED-4DB2-BD59-A6C34878D82A}">
                    <a16:rowId xmlns:a16="http://schemas.microsoft.com/office/drawing/2014/main" val="266271011"/>
                  </a:ext>
                </a:extLst>
              </a:tr>
              <a:tr h="205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MS Reference Sans Serif" panose="020B0604030504040204" pitchFamily="34" charset="0"/>
                          <a:ea typeface="+mn-ea"/>
                        </a:rPr>
                        <a:t>개발 언어 </a:t>
                      </a:r>
                      <a:r>
                        <a:rPr lang="en-US" altLang="ko-KR" sz="1000" b="1">
                          <a:latin typeface="MS Reference Sans Serif" panose="020B0604030504040204" pitchFamily="34" charset="0"/>
                          <a:ea typeface="+mn-ea"/>
                        </a:rPr>
                        <a:t>/ </a:t>
                      </a:r>
                      <a:r>
                        <a:rPr lang="ko-KR" altLang="en-US" sz="1000" b="1">
                          <a:latin typeface="MS Reference Sans Serif" panose="020B0604030504040204" pitchFamily="34" charset="0"/>
                          <a:ea typeface="+mn-ea"/>
                        </a:rPr>
                        <a:t>환경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MS Reference Sans Serif" panose="020B0604030504040204" pitchFamily="34" charset="0"/>
                          <a:ea typeface="+mn-ea"/>
                        </a:rPr>
                        <a:t>C#, .NET Console Application</a:t>
                      </a: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Visual Studio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또는 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VS Code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환경에서 실행 가능</a:t>
                      </a:r>
                    </a:p>
                  </a:txBody>
                  <a:tcPr marL="20525" marR="20525" marT="10263" marB="10263" anchor="ctr"/>
                </a:tc>
                <a:extLst>
                  <a:ext uri="{0D108BD9-81ED-4DB2-BD59-A6C34878D82A}">
                    <a16:rowId xmlns:a16="http://schemas.microsoft.com/office/drawing/2014/main" val="297860747"/>
                  </a:ext>
                </a:extLst>
              </a:tr>
              <a:tr h="45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MS Reference Sans Serif" panose="020B0604030504040204" pitchFamily="34" charset="0"/>
                          <a:ea typeface="+mn-ea"/>
                        </a:rPr>
                        <a:t>개발 목적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과목마다 학생 수가 다른 상황에서 **가변 배열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(Jagged Array)**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을 활용하여 점수를 저장하고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평균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·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총원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·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특정 점수 이상 학생 수를 계산하는 로직을 학습</a:t>
                      </a: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extLst>
                  <a:ext uri="{0D108BD9-81ED-4DB2-BD59-A6C34878D82A}">
                    <a16:rowId xmlns:a16="http://schemas.microsoft.com/office/drawing/2014/main" val="3673962283"/>
                  </a:ext>
                </a:extLst>
              </a:tr>
              <a:tr h="266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MS Reference Sans Serif" panose="020B0604030504040204" pitchFamily="34" charset="0"/>
                          <a:ea typeface="+mn-ea"/>
                        </a:rPr>
                        <a:t>기능 요약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latin typeface="MS Reference Sans Serif" panose="020B0604030504040204" pitchFamily="34" charset="0"/>
                          <a:ea typeface="+mn-ea"/>
                        </a:rPr>
                        <a:t>1️⃣ </a:t>
                      </a:r>
                      <a:r>
                        <a:rPr lang="ko-KR" altLang="en-US" sz="1000" dirty="0">
                          <a:latin typeface="MS Reference Sans Serif" panose="020B0604030504040204" pitchFamily="34" charset="0"/>
                          <a:ea typeface="+mn-ea"/>
                        </a:rPr>
                        <a:t>과목별 평균 점수 계산 및 출력</a:t>
                      </a:r>
                      <a:endParaRPr lang="en-US" altLang="ko-KR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dirty="0">
                          <a:latin typeface="MS Reference Sans Serif" panose="020B0604030504040204" pitchFamily="34" charset="0"/>
                          <a:ea typeface="+mn-ea"/>
                        </a:rPr>
                        <a:t>2️⃣ </a:t>
                      </a:r>
                      <a:r>
                        <a:rPr lang="ko-KR" altLang="en-US" sz="1000" dirty="0">
                          <a:latin typeface="MS Reference Sans Serif" panose="020B0604030504040204" pitchFamily="34" charset="0"/>
                          <a:ea typeface="+mn-ea"/>
                        </a:rPr>
                        <a:t>전체 응시자 수 계산</a:t>
                      </a:r>
                      <a:endParaRPr lang="en-US" altLang="ko-KR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dirty="0">
                          <a:latin typeface="MS Reference Sans Serif" panose="020B0604030504040204" pitchFamily="34" charset="0"/>
                          <a:ea typeface="+mn-ea"/>
                        </a:rPr>
                        <a:t>3️⃣ 80</a:t>
                      </a:r>
                      <a:r>
                        <a:rPr lang="ko-KR" altLang="en-US" sz="1000" dirty="0">
                          <a:latin typeface="MS Reference Sans Serif" panose="020B0604030504040204" pitchFamily="34" charset="0"/>
                          <a:ea typeface="+mn-ea"/>
                        </a:rPr>
                        <a:t>점 이상 학생 수 계산</a:t>
                      </a: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extLst>
                  <a:ext uri="{0D108BD9-81ED-4DB2-BD59-A6C34878D82A}">
                    <a16:rowId xmlns:a16="http://schemas.microsoft.com/office/drawing/2014/main" val="1848768363"/>
                  </a:ext>
                </a:extLst>
              </a:tr>
              <a:tr h="389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MS Reference Sans Serif" panose="020B0604030504040204" pitchFamily="34" charset="0"/>
                          <a:ea typeface="+mn-ea"/>
                        </a:rPr>
                        <a:t>입력 데이터 구조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1" dirty="0">
                          <a:latin typeface="MS Reference Sans Serif" panose="020B0604030504040204" pitchFamily="34" charset="0"/>
                          <a:ea typeface="+mn-ea"/>
                        </a:rPr>
                        <a:t>int[][] scores</a:t>
                      </a:r>
                      <a:r>
                        <a:rPr lang="ko-KR" altLang="en-US" sz="1000" b="1" dirty="0">
                          <a:latin typeface="MS Reference Sans Serif" panose="020B0604030504040204" pitchFamily="34" charset="0"/>
                          <a:ea typeface="+mn-ea"/>
                        </a:rPr>
                        <a:t> 가변 배열</a:t>
                      </a:r>
                      <a:r>
                        <a:rPr lang="en-US" altLang="ko-KR" sz="1000" b="1" dirty="0">
                          <a:latin typeface="MS Reference Sans Serif" panose="020B0604030504040204" pitchFamily="34" charset="0"/>
                          <a:ea typeface="+mn-ea"/>
                        </a:rPr>
                        <a:t>- </a:t>
                      </a:r>
                      <a:r>
                        <a:rPr lang="ko-KR" altLang="en-US" sz="1000" b="1" dirty="0">
                          <a:latin typeface="MS Reference Sans Serif" panose="020B0604030504040204" pitchFamily="34" charset="0"/>
                          <a:ea typeface="+mn-ea"/>
                        </a:rPr>
                        <a:t>과목 </a:t>
                      </a:r>
                      <a:r>
                        <a:rPr lang="en-US" altLang="ko-KR" sz="1000" b="1" dirty="0">
                          <a:latin typeface="MS Reference Sans Serif" panose="020B0604030504040204" pitchFamily="34" charset="0"/>
                          <a:ea typeface="+mn-ea"/>
                        </a:rPr>
                        <a:t>0: 5</a:t>
                      </a:r>
                      <a:r>
                        <a:rPr lang="ko-KR" altLang="en-US" sz="1000" b="1" dirty="0">
                          <a:latin typeface="MS Reference Sans Serif" panose="020B0604030504040204" pitchFamily="34" charset="0"/>
                          <a:ea typeface="+mn-ea"/>
                        </a:rPr>
                        <a:t>명 → </a:t>
                      </a:r>
                      <a:r>
                        <a:rPr lang="en-US" altLang="ko-KR" sz="1000" b="1" dirty="0">
                          <a:latin typeface="MS Reference Sans Serif" panose="020B0604030504040204" pitchFamily="34" charset="0"/>
                          <a:ea typeface="+mn-ea"/>
                        </a:rPr>
                        <a:t>{85, 90, 78, 92, 88}- </a:t>
                      </a:r>
                      <a:r>
                        <a:rPr lang="ko-KR" altLang="en-US" sz="1000" b="1" dirty="0">
                          <a:latin typeface="MS Reference Sans Serif" panose="020B0604030504040204" pitchFamily="34" charset="0"/>
                          <a:ea typeface="+mn-ea"/>
                        </a:rPr>
                        <a:t>과목 </a:t>
                      </a:r>
                      <a:r>
                        <a:rPr lang="en-US" altLang="ko-KR" sz="1000" b="1" dirty="0">
                          <a:latin typeface="MS Reference Sans Serif" panose="020B0604030504040204" pitchFamily="34" charset="0"/>
                          <a:ea typeface="+mn-ea"/>
                        </a:rPr>
                        <a:t>1: 3</a:t>
                      </a:r>
                      <a:r>
                        <a:rPr lang="ko-KR" altLang="en-US" sz="1000" b="1" dirty="0">
                          <a:latin typeface="MS Reference Sans Serif" panose="020B0604030504040204" pitchFamily="34" charset="0"/>
                          <a:ea typeface="+mn-ea"/>
                        </a:rPr>
                        <a:t>명 → </a:t>
                      </a:r>
                      <a:r>
                        <a:rPr lang="en-US" altLang="ko-KR" sz="1000" b="1" dirty="0">
                          <a:latin typeface="MS Reference Sans Serif" panose="020B0604030504040204" pitchFamily="34" charset="0"/>
                          <a:ea typeface="+mn-ea"/>
                        </a:rPr>
                        <a:t>{95, 87, 91}- </a:t>
                      </a:r>
                      <a:r>
                        <a:rPr lang="ko-KR" altLang="en-US" sz="1000" b="1" dirty="0">
                          <a:latin typeface="MS Reference Sans Serif" panose="020B0604030504040204" pitchFamily="34" charset="0"/>
                          <a:ea typeface="+mn-ea"/>
                        </a:rPr>
                        <a:t>과목 </a:t>
                      </a:r>
                      <a:r>
                        <a:rPr lang="en-US" altLang="ko-KR" sz="1000" b="1" dirty="0">
                          <a:latin typeface="MS Reference Sans Serif" panose="020B0604030504040204" pitchFamily="34" charset="0"/>
                          <a:ea typeface="+mn-ea"/>
                        </a:rPr>
                        <a:t>2: 7</a:t>
                      </a:r>
                      <a:r>
                        <a:rPr lang="ko-KR" altLang="en-US" sz="1000" b="1" dirty="0">
                          <a:latin typeface="MS Reference Sans Serif" panose="020B0604030504040204" pitchFamily="34" charset="0"/>
                          <a:ea typeface="+mn-ea"/>
                        </a:rPr>
                        <a:t>명 → </a:t>
                      </a:r>
                      <a:r>
                        <a:rPr lang="en-US" altLang="ko-KR" sz="1000" b="1" dirty="0">
                          <a:latin typeface="MS Reference Sans Serif" panose="020B0604030504040204" pitchFamily="34" charset="0"/>
                          <a:ea typeface="+mn-ea"/>
                        </a:rPr>
                        <a:t>{82, 79, 88, 85, 90, 86, 84}</a:t>
                      </a: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extLst>
                  <a:ext uri="{0D108BD9-81ED-4DB2-BD59-A6C34878D82A}">
                    <a16:rowId xmlns:a16="http://schemas.microsoft.com/office/drawing/2014/main" val="721182727"/>
                  </a:ext>
                </a:extLst>
              </a:tr>
              <a:tr h="205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MS Reference Sans Serif" panose="020B0604030504040204" pitchFamily="34" charset="0"/>
                          <a:ea typeface="+mn-ea"/>
                        </a:rPr>
                        <a:t>출력 데이터 구조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콘솔에 과목별 평균 점수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응시자 수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전체 응시자 수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, 80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점 이상 인원 출력</a:t>
                      </a: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extLst>
                  <a:ext uri="{0D108BD9-81ED-4DB2-BD59-A6C34878D82A}">
                    <a16:rowId xmlns:a16="http://schemas.microsoft.com/office/drawing/2014/main" val="2730969537"/>
                  </a:ext>
                </a:extLst>
              </a:tr>
              <a:tr h="51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MS Reference Sans Serif" panose="020B0604030504040204" pitchFamily="34" charset="0"/>
                          <a:ea typeface="+mn-ea"/>
                        </a:rPr>
                        <a:t>주요 처리 로직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- foreach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문을 사용해 각 과목별 총점 계산 후 평균 산출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- scores[i].Length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로 과목별 학생 수 계산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-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전체 학생 수 합산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-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모든 점수 중 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80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점 이상인 인원 카운트</a:t>
                      </a: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extLst>
                  <a:ext uri="{0D108BD9-81ED-4DB2-BD59-A6C34878D82A}">
                    <a16:rowId xmlns:a16="http://schemas.microsoft.com/office/drawing/2014/main" val="3258912404"/>
                  </a:ext>
                </a:extLst>
              </a:tr>
              <a:tr h="389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MS Reference Sans Serif" panose="020B0604030504040204" pitchFamily="34" charset="0"/>
                          <a:ea typeface="+mn-ea"/>
                        </a:rPr>
                        <a:t>출력 예시 </a:t>
                      </a:r>
                      <a:r>
                        <a:rPr lang="en-US" altLang="ko-KR" sz="1000" b="1">
                          <a:latin typeface="MS Reference Sans Serif" panose="020B0604030504040204" pitchFamily="34" charset="0"/>
                          <a:ea typeface="+mn-ea"/>
                        </a:rPr>
                        <a:t>(</a:t>
                      </a:r>
                      <a:r>
                        <a:rPr lang="en-US" sz="1000" b="1">
                          <a:latin typeface="MS Reference Sans Serif" panose="020B0604030504040204" pitchFamily="34" charset="0"/>
                          <a:ea typeface="+mn-ea"/>
                        </a:rPr>
                        <a:t>Console)</a:t>
                      </a:r>
                      <a:endParaRPr 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국어 평균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: 86.60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점 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(5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명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)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영어 평균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: 91.00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점 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(3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명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)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수학 평균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: 84.86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점 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(7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명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)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총 응시자 수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: 15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명 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80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점 이상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: 12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명</a:t>
                      </a: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extLst>
                  <a:ext uri="{0D108BD9-81ED-4DB2-BD59-A6C34878D82A}">
                    <a16:rowId xmlns:a16="http://schemas.microsoft.com/office/drawing/2014/main" val="4086505645"/>
                  </a:ext>
                </a:extLst>
              </a:tr>
              <a:tr h="143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MS Reference Sans Serif" panose="020B0604030504040204" pitchFamily="34" charset="0"/>
                          <a:ea typeface="+mn-ea"/>
                        </a:rPr>
                        <a:t>예외 처리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없음 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(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모든 점수가 유효하다고 가정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)</a:t>
                      </a: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extLst>
                  <a:ext uri="{0D108BD9-81ED-4DB2-BD59-A6C34878D82A}">
                    <a16:rowId xmlns:a16="http://schemas.microsoft.com/office/drawing/2014/main" val="3150095327"/>
                  </a:ext>
                </a:extLst>
              </a:tr>
              <a:tr h="45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MS Reference Sans Serif" panose="020B0604030504040204" pitchFamily="34" charset="0"/>
                          <a:ea typeface="+mn-ea"/>
                        </a:rPr>
                        <a:t>테스트 케이스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-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각 과목 평균 계산이 정확한지 확인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-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전체 응시자 수가 모든 과목 합과 일치하는지 검증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- 80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점 이상 학생 수 정확성 확인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-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과목 및 학생 수 변경 시 결과 자동 반영 확인</a:t>
                      </a: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extLst>
                  <a:ext uri="{0D108BD9-81ED-4DB2-BD59-A6C34878D82A}">
                    <a16:rowId xmlns:a16="http://schemas.microsoft.com/office/drawing/2014/main" val="3691607145"/>
                  </a:ext>
                </a:extLst>
              </a:tr>
              <a:tr h="45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MS Reference Sans Serif" panose="020B0604030504040204" pitchFamily="34" charset="0"/>
                          <a:ea typeface="+mn-ea"/>
                        </a:rPr>
                        <a:t>확장 가능성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-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사용자 입력을 통한 실시간 점수 등록 기능 추가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-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최고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/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최저 점수 및 표준편차 계산 기능 추가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-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파일 입출력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(CSV, JSON)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기능 추가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-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시각화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(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과목별 그래프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)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기능 확장</a:t>
                      </a: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extLst>
                  <a:ext uri="{0D108BD9-81ED-4DB2-BD59-A6C34878D82A}">
                    <a16:rowId xmlns:a16="http://schemas.microsoft.com/office/drawing/2014/main" val="409991276"/>
                  </a:ext>
                </a:extLst>
              </a:tr>
              <a:tr h="143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MS Reference Sans Serif" panose="020B0604030504040204" pitchFamily="34" charset="0"/>
                          <a:ea typeface="+mn-ea"/>
                        </a:rPr>
                        <a:t>작성자 </a:t>
                      </a:r>
                      <a:r>
                        <a:rPr lang="en-US" altLang="ko-KR" sz="1000" b="1">
                          <a:latin typeface="MS Reference Sans Serif" panose="020B0604030504040204" pitchFamily="34" charset="0"/>
                          <a:ea typeface="+mn-ea"/>
                        </a:rPr>
                        <a:t>/ </a:t>
                      </a:r>
                      <a:r>
                        <a:rPr lang="ko-KR" altLang="en-US" sz="1000" b="1">
                          <a:latin typeface="MS Reference Sans Serif" panose="020B0604030504040204" pitchFamily="34" charset="0"/>
                          <a:ea typeface="+mn-ea"/>
                        </a:rPr>
                        <a:t>버전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작성자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: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김대경버전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: v1.0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작성일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: 2025.11.11</a:t>
                      </a: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extLst>
                  <a:ext uri="{0D108BD9-81ED-4DB2-BD59-A6C34878D82A}">
                    <a16:rowId xmlns:a16="http://schemas.microsoft.com/office/drawing/2014/main" val="584351885"/>
                  </a:ext>
                </a:extLst>
              </a:tr>
              <a:tr h="389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MS Reference Sans Serif" panose="020B0604030504040204" pitchFamily="34" charset="0"/>
                          <a:ea typeface="+mn-ea"/>
                        </a:rPr>
                        <a:t>비고</a:t>
                      </a:r>
                      <a:endParaRPr lang="ko-KR" altLang="en-US" sz="10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가변 배열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(int[][]),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반복문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(for, foreach),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조건문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(if)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을 종합적으로 학습하기 좋은 예제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. </a:t>
                      </a:r>
                      <a:r>
                        <a:rPr lang="ko-KR" altLang="en-US" sz="1000">
                          <a:latin typeface="MS Reference Sans Serif" panose="020B0604030504040204" pitchFamily="34" charset="0"/>
                          <a:ea typeface="+mn-ea"/>
                        </a:rPr>
                        <a:t>데이터 통계 처리의 기본 구조를 이해하는 데 적합</a:t>
                      </a:r>
                      <a:r>
                        <a:rPr lang="en-US" altLang="ko-KR" sz="1000">
                          <a:latin typeface="MS Reference Sans Serif" panose="020B0604030504040204" pitchFamily="34" charset="0"/>
                          <a:ea typeface="+mn-ea"/>
                        </a:rPr>
                        <a:t>.</a:t>
                      </a:r>
                    </a:p>
                  </a:txBody>
                  <a:tcPr marL="20525" marR="20525" marT="10263" marB="10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20525" marR="20525" marT="10263" marB="10263" anchor="ctr"/>
                </a:tc>
                <a:extLst>
                  <a:ext uri="{0D108BD9-81ED-4DB2-BD59-A6C34878D82A}">
                    <a16:rowId xmlns:a16="http://schemas.microsoft.com/office/drawing/2014/main" val="1983795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55825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D2F43-F73C-3478-CFE7-372585BB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C76AC-3FC4-04BD-B223-C9BEFC9B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A90127-B319-B847-8B90-498ADC5F4B35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 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TestLog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A6A6830-3D10-52E3-2E66-A4098D0411C8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F4DF62A-4826-EF5B-A652-973E4B55122B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F20FC9B-146D-ED2D-8BB0-43A0EC3A4B8A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4: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시험 점수 관리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D6D36E4-317D-D62F-64A9-3D6840C7828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C4182D4B-AC12-C7F6-C497-124C82752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2" y="2094160"/>
            <a:ext cx="5677705" cy="373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238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D2F43-F73C-3478-CFE7-372585BB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C76AC-3FC4-04BD-B223-C9BEFC9B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A90127-B319-B847-8B90-498ADC5F4B35}"/>
              </a:ext>
            </a:extLst>
          </p:cNvPr>
          <p:cNvSpPr txBox="1"/>
          <p:nvPr/>
        </p:nvSpPr>
        <p:spPr>
          <a:xfrm>
            <a:off x="224290" y="1526876"/>
            <a:ext cx="8584488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TestLog</a:t>
            </a:r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//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가변 배열 생성 및 초기화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int[][] scores =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new int[] { 85, 90, 78, 92, 88 },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new int[] { 95, 87, 91 },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new int[] { 82, 79, 88, 85, 90, 86, 84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string[] subjects = { 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국어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영어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수학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 };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//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각 과목별 평균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for (int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&lt;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scores.Length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++)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int sum = 0;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foreach (int score in scores[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])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sum += score;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double average = (double)sum / scores[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].Length;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($"{subjects[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]}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평균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{average:F2}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점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({scores[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].Length}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명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}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A6A6830-3D10-52E3-2E66-A4098D0411C8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F4DF62A-4826-EF5B-A652-973E4B55122B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F20FC9B-146D-ED2D-8BB0-43A0EC3A4B8A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4: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시험 점수 관리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D6D36E4-317D-D62F-64A9-3D6840C7828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14347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D2F43-F73C-3478-CFE7-372585BB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C76AC-3FC4-04BD-B223-C9BEFC9B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A90127-B319-B847-8B90-498ADC5F4B35}"/>
              </a:ext>
            </a:extLst>
          </p:cNvPr>
          <p:cNvSpPr txBox="1"/>
          <p:nvPr/>
        </p:nvSpPr>
        <p:spPr>
          <a:xfrm>
            <a:off x="224290" y="1526876"/>
            <a:ext cx="858448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//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전체 학생 수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int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totalStudents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= 0;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foreach (int[] subject in scores)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totalStudents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+=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subject.Length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($"\n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전체 학생 수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totalStudents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}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명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// 80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점 이상 학생 수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int count80Plus = 0;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foreach (int[] subject in scores)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foreach (int score in subject)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if (score &gt;= 80)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count80Plus++;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($"80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점 이상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{count80Plus}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명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A6A6830-3D10-52E3-2E66-A4098D0411C8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F4DF62A-4826-EF5B-A652-973E4B55122B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F20FC9B-146D-ED2D-8BB0-43A0EC3A4B8A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4: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시험 점수 관리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D6D36E4-317D-D62F-64A9-3D6840C7828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FED4B76E-ED66-B5BA-05B3-A5A0A27CC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571" y="3660387"/>
            <a:ext cx="2686425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79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9471-332B-70D2-2566-7B4F3F6EB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12365-C7C3-920E-6868-16D24B74A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88C02-3C49-D57F-5CF5-A92B0B049A3A}"/>
              </a:ext>
            </a:extLst>
          </p:cNvPr>
          <p:cNvSpPr txBox="1"/>
          <p:nvPr/>
        </p:nvSpPr>
        <p:spPr>
          <a:xfrm>
            <a:off x="224290" y="1526876"/>
            <a:ext cx="858448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문제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  <a:p>
            <a:endParaRPr lang="ko-KR" altLang="en-US" sz="1200" b="1" dirty="0">
              <a:latin typeface="MS Reference Sans Serif" panose="020B0604030504040204" pitchFamily="34" charset="0"/>
            </a:endParaRP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회사 조직도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각 부서마다 팀 수가 다르고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,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각 팀마다 직원 수가 다름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TODO: 3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차원 가변 배열 구조 만들기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[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부서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][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팀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][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직원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]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string[][][] company = new string[3][][];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TODO 1: IT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부서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(3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개 팀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-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개발팀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5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명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-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디자인팀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3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명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- QA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팀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4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명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TODO 2: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영업부서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(2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개 팀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-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국내영업팀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6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명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-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해외영업팀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4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명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TODO 3: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경영지원부서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(4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개 팀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-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인사팀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3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명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-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총무팀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2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명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- </a:t>
            </a:r>
            <a:r>
              <a:rPr lang="ko-KR" altLang="en-US" sz="1000" b="1" dirty="0" err="1">
                <a:latin typeface="MS Reference Sans Serif" panose="020B0604030504040204" pitchFamily="34" charset="0"/>
              </a:rPr>
              <a:t>재무팀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3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명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-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법무팀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2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명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TODO 4: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전체 조직도 출력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부서별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,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팀별로 직원 수 표시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TODO 5: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전체 직원 수 계산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6906D52-67B9-F3D2-AB21-AD2558D5A17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A002C86-5F6A-E1BB-2A88-6EFDC5A5FCB8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FCD5FFA-1901-5EBD-2874-0A80020A259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5: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조직도 관리 시스템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TeamStructure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EE6B9E5-182A-1C4D-5ED6-81F8C2208B8B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509313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9471-332B-70D2-2566-7B4F3F6EB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12365-C7C3-920E-6868-16D24B74A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88C02-3C49-D57F-5CF5-A92B0B049A3A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조직도 관리 시스템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PRD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6906D52-67B9-F3D2-AB21-AD2558D5A17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A002C86-5F6A-E1BB-2A88-6EFDC5A5FCB8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FCD5FFA-1901-5EBD-2874-0A80020A259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5: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조직도 관리 시스템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TeamStructure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EE6B9E5-182A-1C4D-5ED6-81F8C2208B8B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F87D7F4-FD8E-E6C7-81DE-1AAF6FEF8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907277"/>
              </p:ext>
            </p:extLst>
          </p:nvPr>
        </p:nvGraphicFramePr>
        <p:xfrm>
          <a:off x="281801" y="1988541"/>
          <a:ext cx="8747184" cy="461952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67096">
                  <a:extLst>
                    <a:ext uri="{9D8B030D-6E8A-4147-A177-3AD203B41FA5}">
                      <a16:colId xmlns:a16="http://schemas.microsoft.com/office/drawing/2014/main" val="4176560916"/>
                    </a:ext>
                  </a:extLst>
                </a:gridCol>
                <a:gridCol w="4664360">
                  <a:extLst>
                    <a:ext uri="{9D8B030D-6E8A-4147-A177-3AD203B41FA5}">
                      <a16:colId xmlns:a16="http://schemas.microsoft.com/office/drawing/2014/main" val="208655863"/>
                    </a:ext>
                  </a:extLst>
                </a:gridCol>
                <a:gridCol w="2915728">
                  <a:extLst>
                    <a:ext uri="{9D8B030D-6E8A-4147-A177-3AD203B41FA5}">
                      <a16:colId xmlns:a16="http://schemas.microsoft.com/office/drawing/2014/main" val="3915045346"/>
                    </a:ext>
                  </a:extLst>
                </a:gridCol>
              </a:tblGrid>
              <a:tr h="156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dirty="0"/>
                        <a:t>구분</a:t>
                      </a:r>
                      <a:endParaRPr lang="ko-KR" altLang="en-US" sz="9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dirty="0"/>
                        <a:t>항목</a:t>
                      </a:r>
                      <a:endParaRPr lang="ko-KR" altLang="en-US" sz="9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dirty="0"/>
                        <a:t>설명</a:t>
                      </a:r>
                      <a:endParaRPr lang="ko-KR" altLang="en-US" sz="9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066910"/>
                  </a:ext>
                </a:extLst>
              </a:tr>
              <a:tr h="298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프로젝트명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TeamStructure</a:t>
                      </a:r>
                      <a:endParaRPr 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/>
                        <a:t>부서별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팀별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직원별로 구성된 </a:t>
                      </a:r>
                      <a:r>
                        <a:rPr lang="en-US" altLang="ko-KR" sz="900"/>
                        <a:t>3</a:t>
                      </a:r>
                      <a:r>
                        <a:rPr lang="ko-KR" altLang="en-US" sz="900"/>
                        <a:t>차원 가변 배열 구조의 조직도 관리 시스템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extLst>
                  <a:ext uri="{0D108BD9-81ED-4DB2-BD59-A6C34878D82A}">
                    <a16:rowId xmlns:a16="http://schemas.microsoft.com/office/drawing/2014/main" val="3294569791"/>
                  </a:ext>
                </a:extLst>
              </a:tr>
              <a:tr h="156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개발 언어 </a:t>
                      </a:r>
                      <a:r>
                        <a:rPr lang="en-US" altLang="ko-KR" sz="900" b="1"/>
                        <a:t>/ </a:t>
                      </a:r>
                      <a:r>
                        <a:rPr lang="ko-KR" altLang="en-US" sz="900" b="1"/>
                        <a:t>환경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C#, .NET Console Application</a:t>
                      </a:r>
                      <a:endParaRPr 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Visual Studio </a:t>
                      </a:r>
                      <a:r>
                        <a:rPr lang="ko-KR" altLang="en-US" sz="900"/>
                        <a:t>또는 </a:t>
                      </a:r>
                      <a:r>
                        <a:rPr lang="en-US" altLang="ko-KR" sz="900"/>
                        <a:t>VS Code </a:t>
                      </a:r>
                      <a:r>
                        <a:rPr lang="ko-KR" altLang="en-US" sz="900"/>
                        <a:t>환경에서 실행 가능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extLst>
                  <a:ext uri="{0D108BD9-81ED-4DB2-BD59-A6C34878D82A}">
                    <a16:rowId xmlns:a16="http://schemas.microsoft.com/office/drawing/2014/main" val="3866410846"/>
                  </a:ext>
                </a:extLst>
              </a:tr>
              <a:tr h="440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개발 목적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/>
                        <a:t>부서</a:t>
                      </a:r>
                      <a:r>
                        <a:rPr lang="en-US" altLang="ko-KR" sz="900"/>
                        <a:t>(Department) → </a:t>
                      </a:r>
                      <a:r>
                        <a:rPr lang="ko-KR" altLang="en-US" sz="900"/>
                        <a:t>팀</a:t>
                      </a:r>
                      <a:r>
                        <a:rPr lang="en-US" altLang="ko-KR" sz="900"/>
                        <a:t>(Team) → </a:t>
                      </a:r>
                      <a:r>
                        <a:rPr lang="ko-KR" altLang="en-US" sz="900"/>
                        <a:t>직원</a:t>
                      </a:r>
                      <a:r>
                        <a:rPr lang="en-US" altLang="ko-KR" sz="900"/>
                        <a:t>(Employee)</a:t>
                      </a:r>
                      <a:r>
                        <a:rPr lang="ko-KR" altLang="en-US" sz="900"/>
                        <a:t>의 계층 구조를 **</a:t>
                      </a:r>
                      <a:r>
                        <a:rPr lang="en-US" altLang="ko-KR" sz="900"/>
                        <a:t>3</a:t>
                      </a:r>
                      <a:r>
                        <a:rPr lang="ko-KR" altLang="en-US" sz="900"/>
                        <a:t>차원 가변 배열</a:t>
                      </a:r>
                      <a:r>
                        <a:rPr lang="en-US" altLang="ko-KR" sz="900"/>
                        <a:t>(string[][][])**</a:t>
                      </a:r>
                      <a:r>
                        <a:rPr lang="ko-KR" altLang="en-US" sz="900"/>
                        <a:t>로 표현하고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이를 반복문을 통해 조직도를 출력하며 총 직원 수를 계산하는 프로그램을 구현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extLst>
                  <a:ext uri="{0D108BD9-81ED-4DB2-BD59-A6C34878D82A}">
                    <a16:rowId xmlns:a16="http://schemas.microsoft.com/office/drawing/2014/main" val="4030219603"/>
                  </a:ext>
                </a:extLst>
              </a:tr>
              <a:tr h="298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기능 요약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1️⃣ </a:t>
                      </a:r>
                      <a:r>
                        <a:rPr lang="ko-KR" altLang="en-US" sz="900"/>
                        <a:t>부서별 팀 구성 및 직원 목록 초기화</a:t>
                      </a:r>
                      <a:r>
                        <a:rPr lang="en-US" altLang="ko-KR" sz="900"/>
                        <a:t>2️⃣ </a:t>
                      </a:r>
                      <a:r>
                        <a:rPr lang="ko-KR" altLang="en-US" sz="900"/>
                        <a:t>각 부서의 팀 수 및 팀별 직원 수 출력</a:t>
                      </a:r>
                      <a:r>
                        <a:rPr lang="en-US" altLang="ko-KR" sz="900"/>
                        <a:t>3️⃣ </a:t>
                      </a:r>
                      <a:r>
                        <a:rPr lang="ko-KR" altLang="en-US" sz="900"/>
                        <a:t>조직 전체의 총 직원 수 계산 및 출력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extLst>
                  <a:ext uri="{0D108BD9-81ED-4DB2-BD59-A6C34878D82A}">
                    <a16:rowId xmlns:a16="http://schemas.microsoft.com/office/drawing/2014/main" val="398222671"/>
                  </a:ext>
                </a:extLst>
              </a:tr>
              <a:tr h="298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입력 데이터 구조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string[][][] company 3</a:t>
                      </a:r>
                      <a:r>
                        <a:rPr lang="ko-KR" altLang="en-US" sz="900" b="1" dirty="0"/>
                        <a:t>차원 가변 배열 구조</a:t>
                      </a:r>
                      <a:r>
                        <a:rPr lang="en-US" altLang="ko-KR" sz="900" b="1" dirty="0"/>
                        <a:t>- 1</a:t>
                      </a:r>
                      <a:r>
                        <a:rPr lang="ko-KR" altLang="en-US" sz="900" b="1" dirty="0"/>
                        <a:t>차원</a:t>
                      </a:r>
                      <a:r>
                        <a:rPr lang="en-US" altLang="ko-KR" sz="900" b="1" dirty="0"/>
                        <a:t>: </a:t>
                      </a:r>
                      <a:r>
                        <a:rPr lang="ko-KR" altLang="en-US" sz="900" b="1" dirty="0"/>
                        <a:t>부서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en-US" sz="900" b="1" dirty="0"/>
                        <a:t>Department)- 2</a:t>
                      </a:r>
                      <a:r>
                        <a:rPr lang="ko-KR" altLang="en-US" sz="900" b="1" dirty="0"/>
                        <a:t>차원</a:t>
                      </a:r>
                      <a:r>
                        <a:rPr lang="en-US" altLang="ko-KR" sz="900" b="1" dirty="0"/>
                        <a:t>: </a:t>
                      </a:r>
                      <a:r>
                        <a:rPr lang="ko-KR" altLang="en-US" sz="900" b="1" dirty="0"/>
                        <a:t>팀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en-US" sz="900" b="1" dirty="0"/>
                        <a:t>Team)- 3</a:t>
                      </a:r>
                      <a:r>
                        <a:rPr lang="ko-KR" altLang="en-US" sz="900" b="1" dirty="0"/>
                        <a:t>차원</a:t>
                      </a:r>
                      <a:r>
                        <a:rPr lang="en-US" altLang="ko-KR" sz="900" b="1" dirty="0"/>
                        <a:t>: </a:t>
                      </a:r>
                      <a:r>
                        <a:rPr lang="ko-KR" altLang="en-US" sz="900" b="1" dirty="0"/>
                        <a:t>직원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en-US" sz="900" b="1" dirty="0"/>
                        <a:t>Employee)</a:t>
                      </a:r>
                      <a:endParaRPr lang="en-US" sz="900" b="1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extLst>
                  <a:ext uri="{0D108BD9-81ED-4DB2-BD59-A6C34878D82A}">
                    <a16:rowId xmlns:a16="http://schemas.microsoft.com/office/drawing/2014/main" val="729267883"/>
                  </a:ext>
                </a:extLst>
              </a:tr>
              <a:tr h="347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부서 및 팀 구성 예시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① </a:t>
                      </a:r>
                      <a:r>
                        <a:rPr lang="en-US" altLang="ko-KR" sz="900" b="1"/>
                        <a:t>IT </a:t>
                      </a:r>
                      <a:r>
                        <a:rPr lang="ko-KR" altLang="en-US" sz="900" b="1"/>
                        <a:t>부서 </a:t>
                      </a:r>
                      <a:r>
                        <a:rPr lang="en-US" altLang="ko-KR" sz="900" b="1"/>
                        <a:t>(3</a:t>
                      </a:r>
                      <a:r>
                        <a:rPr lang="ko-KR" altLang="en-US" sz="900" b="1"/>
                        <a:t>팀</a:t>
                      </a:r>
                      <a:r>
                        <a:rPr lang="en-US" altLang="ko-KR" sz="900" b="1"/>
                        <a:t>)</a:t>
                      </a:r>
                      <a:r>
                        <a:rPr lang="ko-KR" altLang="en-US" sz="900"/>
                        <a:t> 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개발팀</a:t>
                      </a:r>
                      <a:r>
                        <a:rPr lang="en-US" altLang="ko-KR" sz="900"/>
                        <a:t>: 5</a:t>
                      </a:r>
                      <a:r>
                        <a:rPr lang="ko-KR" altLang="en-US" sz="900"/>
                        <a:t>명 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디자인팀</a:t>
                      </a:r>
                      <a:r>
                        <a:rPr lang="en-US" altLang="ko-KR" sz="900"/>
                        <a:t>: 3</a:t>
                      </a:r>
                      <a:r>
                        <a:rPr lang="ko-KR" altLang="en-US" sz="900"/>
                        <a:t>명 </a:t>
                      </a:r>
                      <a:r>
                        <a:rPr lang="en-US" altLang="ko-KR" sz="900"/>
                        <a:t>- QA</a:t>
                      </a:r>
                      <a:r>
                        <a:rPr lang="ko-KR" altLang="en-US" sz="900"/>
                        <a:t>팀</a:t>
                      </a:r>
                      <a:r>
                        <a:rPr lang="en-US" altLang="ko-KR" sz="900"/>
                        <a:t>: 4</a:t>
                      </a:r>
                      <a:r>
                        <a:rPr lang="ko-KR" altLang="en-US" sz="900"/>
                        <a:t>명</a:t>
                      </a:r>
                      <a:r>
                        <a:rPr lang="ko-KR" altLang="en-US" sz="900" b="1"/>
                        <a:t>② 영업 부서 </a:t>
                      </a:r>
                      <a:r>
                        <a:rPr lang="en-US" altLang="ko-KR" sz="900" b="1"/>
                        <a:t>(2</a:t>
                      </a:r>
                      <a:r>
                        <a:rPr lang="ko-KR" altLang="en-US" sz="900" b="1"/>
                        <a:t>팀</a:t>
                      </a:r>
                      <a:r>
                        <a:rPr lang="en-US" altLang="ko-KR" sz="900" b="1"/>
                        <a:t>)</a:t>
                      </a:r>
                      <a:r>
                        <a:rPr lang="ko-KR" altLang="en-US" sz="900"/>
                        <a:t> 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국내영업팀</a:t>
                      </a:r>
                      <a:r>
                        <a:rPr lang="en-US" altLang="ko-KR" sz="900"/>
                        <a:t>: 6</a:t>
                      </a:r>
                      <a:r>
                        <a:rPr lang="ko-KR" altLang="en-US" sz="900"/>
                        <a:t>명 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해외영업팀</a:t>
                      </a:r>
                      <a:r>
                        <a:rPr lang="en-US" altLang="ko-KR" sz="900"/>
                        <a:t>: 4</a:t>
                      </a:r>
                      <a:r>
                        <a:rPr lang="ko-KR" altLang="en-US" sz="900"/>
                        <a:t>명</a:t>
                      </a:r>
                      <a:r>
                        <a:rPr lang="ko-KR" altLang="en-US" sz="900" b="1"/>
                        <a:t>③ 경영지원 부서 </a:t>
                      </a:r>
                      <a:r>
                        <a:rPr lang="en-US" altLang="ko-KR" sz="900" b="1"/>
                        <a:t>(4</a:t>
                      </a:r>
                      <a:r>
                        <a:rPr lang="ko-KR" altLang="en-US" sz="900" b="1"/>
                        <a:t>팀</a:t>
                      </a:r>
                      <a:r>
                        <a:rPr lang="en-US" altLang="ko-KR" sz="900" b="1"/>
                        <a:t>)</a:t>
                      </a:r>
                      <a:r>
                        <a:rPr lang="ko-KR" altLang="en-US" sz="900"/>
                        <a:t> 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인사팀</a:t>
                      </a:r>
                      <a:r>
                        <a:rPr lang="en-US" altLang="ko-KR" sz="900"/>
                        <a:t>: 3</a:t>
                      </a:r>
                      <a:r>
                        <a:rPr lang="ko-KR" altLang="en-US" sz="900"/>
                        <a:t>명 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총무팀</a:t>
                      </a:r>
                      <a:r>
                        <a:rPr lang="en-US" altLang="ko-KR" sz="900"/>
                        <a:t>: 2</a:t>
                      </a:r>
                      <a:r>
                        <a:rPr lang="ko-KR" altLang="en-US" sz="900"/>
                        <a:t>명 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재무팀</a:t>
                      </a:r>
                      <a:r>
                        <a:rPr lang="en-US" altLang="ko-KR" sz="900"/>
                        <a:t>: 3</a:t>
                      </a:r>
                      <a:r>
                        <a:rPr lang="ko-KR" altLang="en-US" sz="900"/>
                        <a:t>명 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법무팀</a:t>
                      </a:r>
                      <a:r>
                        <a:rPr lang="en-US" altLang="ko-KR" sz="900"/>
                        <a:t>: 2</a:t>
                      </a:r>
                      <a:r>
                        <a:rPr lang="ko-KR" altLang="en-US" sz="900"/>
                        <a:t>명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extLst>
                  <a:ext uri="{0D108BD9-81ED-4DB2-BD59-A6C34878D82A}">
                    <a16:rowId xmlns:a16="http://schemas.microsoft.com/office/drawing/2014/main" val="3751154503"/>
                  </a:ext>
                </a:extLst>
              </a:tr>
              <a:tr h="298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출력 데이터 구조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/>
                        <a:t>콘솔에 전체 조직도 출력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부서명 및 팀 수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팀명과 소속 직원 수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각 직원 이름 나열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전체 직원 수 출력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extLst>
                  <a:ext uri="{0D108BD9-81ED-4DB2-BD59-A6C34878D82A}">
                    <a16:rowId xmlns:a16="http://schemas.microsoft.com/office/drawing/2014/main" val="173190115"/>
                  </a:ext>
                </a:extLst>
              </a:tr>
              <a:tr h="347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주요 처리 로직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- 3</a:t>
                      </a:r>
                      <a:r>
                        <a:rPr lang="ko-KR" altLang="en-US" sz="900"/>
                        <a:t>중 </a:t>
                      </a:r>
                      <a:r>
                        <a:rPr lang="en-US" altLang="ko-KR" sz="900"/>
                        <a:t>for</a:t>
                      </a:r>
                      <a:r>
                        <a:rPr lang="ko-KR" altLang="en-US" sz="900"/>
                        <a:t>문을 사용하여 </a:t>
                      </a:r>
                      <a:r>
                        <a:rPr lang="en-US" altLang="ko-KR" sz="900"/>
                        <a:t>[</a:t>
                      </a:r>
                      <a:r>
                        <a:rPr lang="ko-KR" altLang="en-US" sz="900"/>
                        <a:t>부서</a:t>
                      </a:r>
                      <a:r>
                        <a:rPr lang="en-US" altLang="ko-KR" sz="900"/>
                        <a:t>][</a:t>
                      </a:r>
                      <a:r>
                        <a:rPr lang="ko-KR" altLang="en-US" sz="900"/>
                        <a:t>팀</a:t>
                      </a:r>
                      <a:r>
                        <a:rPr lang="en-US" altLang="ko-KR" sz="900"/>
                        <a:t>][</a:t>
                      </a:r>
                      <a:r>
                        <a:rPr lang="ko-KR" altLang="en-US" sz="900"/>
                        <a:t>직원</a:t>
                      </a:r>
                      <a:r>
                        <a:rPr lang="en-US" altLang="ko-KR" sz="900"/>
                        <a:t>] </a:t>
                      </a:r>
                      <a:r>
                        <a:rPr lang="ko-KR" altLang="en-US" sz="900"/>
                        <a:t>구조 순회</a:t>
                      </a:r>
                      <a:r>
                        <a:rPr lang="en-US" altLang="ko-KR" sz="900"/>
                        <a:t>- departments[], teamNames[][]</a:t>
                      </a:r>
                      <a:r>
                        <a:rPr lang="ko-KR" altLang="en-US" sz="900"/>
                        <a:t> 배열을 통해 이름 매칭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각 팀의 직원 수 및 부서별 구성 출력</a:t>
                      </a:r>
                      <a:r>
                        <a:rPr lang="en-US" altLang="ko-KR" sz="900"/>
                        <a:t>- totalEmployees</a:t>
                      </a:r>
                      <a:r>
                        <a:rPr lang="ko-KR" altLang="en-US" sz="900"/>
                        <a:t> 변수로 전체 직원 수 합산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extLst>
                  <a:ext uri="{0D108BD9-81ED-4DB2-BD59-A6C34878D82A}">
                    <a16:rowId xmlns:a16="http://schemas.microsoft.com/office/drawing/2014/main" val="1326341687"/>
                  </a:ext>
                </a:extLst>
              </a:tr>
              <a:tr h="582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출력 예시 </a:t>
                      </a:r>
                      <a:r>
                        <a:rPr lang="en-US" altLang="ko-KR" sz="900" b="1"/>
                        <a:t>(</a:t>
                      </a:r>
                      <a:r>
                        <a:rPr lang="en-US" sz="900" b="1"/>
                        <a:t>Console)</a:t>
                      </a:r>
                      <a:endParaRPr 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=== Company Organization Chart === IT Department (3 teams) ├─ Development Team (5 people) │ - Kim Development │ - Ecode │ - Park Pro │ - Choi Berg │ - Jeong Test ├─ Design Team (3 people) │ - Hong Design │ - Yoon UI │ - Jang UX ├─ QA Team (4 people) │ - Seo QA │ - Kwon Tester │ - Back Verification │ - Door Quality ... Total Number of Employees: 34</a:t>
                      </a:r>
                      <a:endParaRPr 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extLst>
                  <a:ext uri="{0D108BD9-81ED-4DB2-BD59-A6C34878D82A}">
                    <a16:rowId xmlns:a16="http://schemas.microsoft.com/office/drawing/2014/main" val="4150794564"/>
                  </a:ext>
                </a:extLst>
              </a:tr>
              <a:tr h="156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예외 처리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/>
                        <a:t>없음 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모든 배열 크기 및 데이터가 정상 입력된다고 가정</a:t>
                      </a:r>
                      <a:r>
                        <a:rPr lang="en-US" altLang="ko-KR" sz="900"/>
                        <a:t>)</a:t>
                      </a:r>
                      <a:endParaRPr lang="en-US" altLang="ko-KR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extLst>
                  <a:ext uri="{0D108BD9-81ED-4DB2-BD59-A6C34878D82A}">
                    <a16:rowId xmlns:a16="http://schemas.microsoft.com/office/drawing/2014/main" val="2968327785"/>
                  </a:ext>
                </a:extLst>
              </a:tr>
              <a:tr h="347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테스트 케이스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부서 수 변경 시 전체 구조 출력이 정상 동작하는지 확인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팀 추가</a:t>
                      </a:r>
                      <a:r>
                        <a:rPr lang="en-US" altLang="ko-KR" sz="900"/>
                        <a:t>/</a:t>
                      </a:r>
                      <a:r>
                        <a:rPr lang="ko-KR" altLang="en-US" sz="900"/>
                        <a:t>삭제 시 출력 결과 검증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직원 수 변경 시 총 직원 수 정확성 확인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특정 부서나 팀의 직원 이름이 정확히 출력되는지 확인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extLst>
                  <a:ext uri="{0D108BD9-81ED-4DB2-BD59-A6C34878D82A}">
                    <a16:rowId xmlns:a16="http://schemas.microsoft.com/office/drawing/2014/main" val="1727757909"/>
                  </a:ext>
                </a:extLst>
              </a:tr>
              <a:tr h="440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확장 가능성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사용자 입력 기반 부서</a:t>
                      </a:r>
                      <a:r>
                        <a:rPr lang="en-US" altLang="ko-KR" sz="900"/>
                        <a:t>·</a:t>
                      </a:r>
                      <a:r>
                        <a:rPr lang="ko-KR" altLang="en-US" sz="900"/>
                        <a:t>팀</a:t>
                      </a:r>
                      <a:r>
                        <a:rPr lang="en-US" altLang="ko-KR" sz="900"/>
                        <a:t>·</a:t>
                      </a:r>
                      <a:r>
                        <a:rPr lang="ko-KR" altLang="en-US" sz="900"/>
                        <a:t>직원 추가 기능 구현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조직 구조를 </a:t>
                      </a:r>
                      <a:r>
                        <a:rPr lang="en-US" altLang="ko-KR" sz="900"/>
                        <a:t>JSON </a:t>
                      </a:r>
                      <a:r>
                        <a:rPr lang="ko-KR" altLang="en-US" sz="900"/>
                        <a:t>또는 </a:t>
                      </a:r>
                      <a:r>
                        <a:rPr lang="en-US" altLang="ko-KR" sz="900"/>
                        <a:t>XML</a:t>
                      </a:r>
                      <a:r>
                        <a:rPr lang="ko-KR" altLang="en-US" sz="900"/>
                        <a:t>로 내보내기</a:t>
                      </a:r>
                      <a:r>
                        <a:rPr lang="en-US" altLang="ko-KR" sz="900"/>
                        <a:t>/</a:t>
                      </a:r>
                      <a:r>
                        <a:rPr lang="ko-KR" altLang="en-US" sz="900"/>
                        <a:t>불러오기 기능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팀별 인원 통계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평균 인원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최대</a:t>
                      </a:r>
                      <a:r>
                        <a:rPr lang="en-US" altLang="ko-KR" sz="900"/>
                        <a:t>/</a:t>
                      </a:r>
                      <a:r>
                        <a:rPr lang="ko-KR" altLang="en-US" sz="900"/>
                        <a:t>최소 인원</a:t>
                      </a:r>
                      <a:r>
                        <a:rPr lang="en-US" altLang="ko-KR" sz="900"/>
                        <a:t>) </a:t>
                      </a:r>
                      <a:r>
                        <a:rPr lang="ko-KR" altLang="en-US" sz="900"/>
                        <a:t>기능 추가</a:t>
                      </a:r>
                      <a:r>
                        <a:rPr lang="en-US" altLang="ko-KR" sz="900"/>
                        <a:t>- GUI(</a:t>
                      </a:r>
                      <a:r>
                        <a:rPr lang="ko-KR" altLang="en-US" sz="900"/>
                        <a:t>그래픽 조직도</a:t>
                      </a:r>
                      <a:r>
                        <a:rPr lang="en-US" altLang="ko-KR" sz="900"/>
                        <a:t>) </a:t>
                      </a:r>
                      <a:r>
                        <a:rPr lang="ko-KR" altLang="en-US" sz="900"/>
                        <a:t>형태로 시각화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extLst>
                  <a:ext uri="{0D108BD9-81ED-4DB2-BD59-A6C34878D82A}">
                    <a16:rowId xmlns:a16="http://schemas.microsoft.com/office/drawing/2014/main" val="4048670954"/>
                  </a:ext>
                </a:extLst>
              </a:tr>
              <a:tr h="156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작성자 </a:t>
                      </a:r>
                      <a:r>
                        <a:rPr lang="en-US" altLang="ko-KR" sz="900" b="1"/>
                        <a:t>/ </a:t>
                      </a:r>
                      <a:r>
                        <a:rPr lang="ko-KR" altLang="en-US" sz="900" b="1"/>
                        <a:t>버전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/>
                        <a:t>작성자</a:t>
                      </a:r>
                      <a:r>
                        <a:rPr lang="en-US" altLang="ko-KR" sz="900"/>
                        <a:t>: </a:t>
                      </a:r>
                      <a:r>
                        <a:rPr lang="ko-KR" altLang="en-US" sz="900"/>
                        <a:t>김대경버전</a:t>
                      </a:r>
                      <a:r>
                        <a:rPr lang="en-US" altLang="ko-KR" sz="900"/>
                        <a:t>: v1.0</a:t>
                      </a:r>
                      <a:r>
                        <a:rPr lang="ko-KR" altLang="en-US" sz="900"/>
                        <a:t>작성일</a:t>
                      </a:r>
                      <a:r>
                        <a:rPr lang="en-US" altLang="ko-KR" sz="900"/>
                        <a:t>: 2025.11.11</a:t>
                      </a:r>
                      <a:endParaRPr lang="en-US" altLang="ko-KR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extLst>
                  <a:ext uri="{0D108BD9-81ED-4DB2-BD59-A6C34878D82A}">
                    <a16:rowId xmlns:a16="http://schemas.microsoft.com/office/drawing/2014/main" val="2682230702"/>
                  </a:ext>
                </a:extLst>
              </a:tr>
              <a:tr h="298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비고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/>
                        <a:t>다차원 배열</a:t>
                      </a:r>
                      <a:r>
                        <a:rPr lang="en-US" altLang="ko-KR" sz="900"/>
                        <a:t>(string[][][])</a:t>
                      </a:r>
                      <a:r>
                        <a:rPr lang="ko-KR" altLang="en-US" sz="900"/>
                        <a:t>과 중첩 반복문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문자열 배열을 활용한 구조적 데이터 처리 실습 예제</a:t>
                      </a:r>
                      <a:r>
                        <a:rPr lang="en-US" altLang="ko-KR" sz="900"/>
                        <a:t>. </a:t>
                      </a:r>
                      <a:r>
                        <a:rPr lang="ko-KR" altLang="en-US" sz="900"/>
                        <a:t>실제 인사관리 시스템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부서 조직도 시각화 등으로 확장 가능</a:t>
                      </a:r>
                      <a:r>
                        <a:rPr lang="en-US" altLang="ko-KR" sz="900"/>
                        <a:t>.</a:t>
                      </a:r>
                      <a:endParaRPr lang="en-US" altLang="ko-KR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814" marR="13814" marT="6907" marB="6907" anchor="ctr"/>
                </a:tc>
                <a:extLst>
                  <a:ext uri="{0D108BD9-81ED-4DB2-BD59-A6C34878D82A}">
                    <a16:rowId xmlns:a16="http://schemas.microsoft.com/office/drawing/2014/main" val="1030561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30847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9471-332B-70D2-2566-7B4F3F6EB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12365-C7C3-920E-6868-16D24B74A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88C02-3C49-D57F-5CF5-A92B0B049A3A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6906D52-67B9-F3D2-AB21-AD2558D5A17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A002C86-5F6A-E1BB-2A88-6EFDC5A5FCB8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FCD5FFA-1901-5EBD-2874-0A80020A259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5: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조직도 관리 시스템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TeamStructure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EE6B9E5-182A-1C4D-5ED6-81F8C2208B8B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11F5FDFC-0D54-1DBB-E807-49AB2B3F2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2" y="2221524"/>
            <a:ext cx="5677705" cy="372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12471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9471-332B-70D2-2566-7B4F3F6EB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12365-C7C3-920E-6868-16D24B74A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88C02-3C49-D57F-5CF5-A92B0B049A3A}"/>
              </a:ext>
            </a:extLst>
          </p:cNvPr>
          <p:cNvSpPr txBox="1"/>
          <p:nvPr/>
        </p:nvSpPr>
        <p:spPr>
          <a:xfrm>
            <a:off x="224290" y="1526876"/>
            <a:ext cx="858448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TeamStructure</a:t>
            </a:r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// 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조직도 구조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string[][][] company = new string[3][][];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// IT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부서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company[0] = new string[3][];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company[0][0] = new string[] {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김개발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이코드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박프로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최버그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정테스트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 };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company[0][1] = new string[] { 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홍디자인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윤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UI", 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장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UX" };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company[0][2] = new string[] { 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서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QA",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권테스터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백검증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문품질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 };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// 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영업부서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company[1] = new string[2][];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company[1][0] = new string[] {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강영업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노세일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도마케팅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라영업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마세일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바고객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 };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company[1][1] = new string[] {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사해외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아글로벌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자수출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차무역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 };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// 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경영지원부서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company[2] = new string[4][];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company[2][0] = new string[] {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카인사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타채용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파교육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 };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company[2][1] = new string[] {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하총무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거관리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 };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company[2][2] = new string[] {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너재무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더회계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러자금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 };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company[2][3] = new string[] {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머법무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버계약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 };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string[] departments = { "IT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부서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영업부서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경영지원부서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 };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string[][]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teamNames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 =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new string[] { 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개발팀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디자인팀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"QA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팀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 },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new string[] { 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국내영업팀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해외영업팀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 },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new string[] { 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인사팀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총무팀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재무팀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", 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법무팀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 }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};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6906D52-67B9-F3D2-AB21-AD2558D5A17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A002C86-5F6A-E1BB-2A88-6EFDC5A5FCB8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FCD5FFA-1901-5EBD-2874-0A80020A259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5: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조직도 관리 시스템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TeamStructure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EE6B9E5-182A-1C4D-5ED6-81F8C2208B8B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37162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9471-332B-70D2-2566-7B4F3F6EB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12365-C7C3-920E-6868-16D24B74A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가변배열</a:t>
            </a:r>
            <a:r>
              <a:rPr lang="en-US" altLang="ko-KR" dirty="0"/>
              <a:t>(Jagged Array)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88C02-3C49-D57F-5CF5-A92B0B049A3A}"/>
              </a:ext>
            </a:extLst>
          </p:cNvPr>
          <p:cNvSpPr txBox="1"/>
          <p:nvPr/>
        </p:nvSpPr>
        <p:spPr>
          <a:xfrm>
            <a:off x="224290" y="1526876"/>
            <a:ext cx="85844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("=== 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회사 조직도 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===\n");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int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totalEmployees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 = 0;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for (int dept = 0; dept &lt;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company.Length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; dept++)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($"{departments[dept]} ({company[dept].Length}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개 팀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)");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for (int team = 0; team &lt; company[dept].Length; team++)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($"  ├─ {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teamNames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[dept][team]} ({company[dept][team].Length}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명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)");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    foreach (string employee in company[dept][team])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    {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($"  │    - {employee}");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totalEmployees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++;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    }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}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}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($"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총 직원 수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: {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totalEmployees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}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명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6906D52-67B9-F3D2-AB21-AD2558D5A171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A002C86-5F6A-E1BB-2A88-6EFDC5A5FCB8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FCD5FFA-1901-5EBD-2874-0A80020A259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실습 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5: </a:t>
              </a: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조직도 관리 시스템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TeamStructure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EE6B9E5-182A-1C4D-5ED6-81F8C2208B8B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1215343A-741C-DCDC-823F-EB437749E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886" y="1598082"/>
            <a:ext cx="1755818" cy="46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0688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32A92-24D9-CBDD-EC01-C908CD29B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sp>
        <p:nvSpPr>
          <p:cNvPr id="6" name="Google Shape;100;p14">
            <a:extLst>
              <a:ext uri="{FF2B5EF4-FFF2-40B4-BE49-F238E27FC236}">
                <a16:creationId xmlns:a16="http://schemas.microsoft.com/office/drawing/2014/main" id="{4D78B6F0-7D80-4D66-A24E-64B032C561B3}"/>
              </a:ext>
            </a:extLst>
          </p:cNvPr>
          <p:cNvSpPr txBox="1">
            <a:spLocks/>
          </p:cNvSpPr>
          <p:nvPr/>
        </p:nvSpPr>
        <p:spPr>
          <a:xfrm>
            <a:off x="585217" y="1062839"/>
            <a:ext cx="7791774" cy="2104414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같은 성격을 띄는 데이터의 모음을 다루는 자료 구조</a:t>
            </a:r>
          </a:p>
          <a:p>
            <a:r>
              <a:rPr lang="ko-KR" altLang="en-US" sz="24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배열</a:t>
            </a:r>
            <a:r>
              <a:rPr lang="en-US" altLang="ko-KR" sz="24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(</a:t>
            </a:r>
            <a:r>
              <a:rPr lang="en-US" altLang="ko-KR" sz="2400" dirty="0" err="1">
                <a:solidFill>
                  <a:srgbClr val="000000"/>
                </a:solidFill>
                <a:latin typeface="MS Reference Sans Serif" panose="020B0604030504040204" pitchFamily="34" charset="0"/>
              </a:rPr>
              <a:t>System.Array</a:t>
            </a:r>
            <a:r>
              <a:rPr lang="en-US" altLang="ko-KR" sz="24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)</a:t>
            </a:r>
            <a:r>
              <a:rPr lang="ko-KR" altLang="en-US" sz="24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도 </a:t>
            </a:r>
            <a:r>
              <a:rPr lang="en-US" altLang="ko-KR" sz="24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.NET </a:t>
            </a:r>
            <a:r>
              <a:rPr lang="ko-KR" altLang="en-US" sz="24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이 제공하는 컬렉션 자료구조 중 하나</a:t>
            </a:r>
            <a:endParaRPr lang="en-US" altLang="ko-KR" sz="24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r>
              <a:rPr lang="ko-KR" altLang="en-US" sz="24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이 책에서 다루는 컬렉션</a:t>
            </a:r>
            <a:r>
              <a:rPr lang="en-US" altLang="ko-KR" sz="24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(</a:t>
            </a:r>
            <a:r>
              <a:rPr lang="ko-KR" altLang="en-US" sz="24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배열 제외</a:t>
            </a:r>
            <a:r>
              <a:rPr lang="en-US" altLang="ko-KR" sz="24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)</a:t>
            </a:r>
          </a:p>
          <a:p>
            <a:pPr lvl="1"/>
            <a:r>
              <a:rPr lang="en-US" altLang="ko-KR" sz="2000" dirty="0" err="1">
                <a:solidFill>
                  <a:srgbClr val="000000"/>
                </a:solidFill>
                <a:latin typeface="MS Reference Sans Serif" panose="020B0604030504040204" pitchFamily="34" charset="0"/>
              </a:rPr>
              <a:t>ArrayList</a:t>
            </a:r>
            <a:endParaRPr lang="en-US" altLang="ko-KR" sz="20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pPr lvl="1"/>
            <a:r>
              <a:rPr lang="en-US" altLang="ko-KR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Queue</a:t>
            </a:r>
          </a:p>
          <a:p>
            <a:pPr lvl="1"/>
            <a:r>
              <a:rPr lang="en-US" altLang="ko-KR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Stack</a:t>
            </a:r>
          </a:p>
          <a:p>
            <a:pPr lvl="1"/>
            <a:r>
              <a:rPr lang="en-US" altLang="ko-KR" sz="2000" dirty="0" err="1">
                <a:solidFill>
                  <a:srgbClr val="000000"/>
                </a:solidFill>
                <a:latin typeface="MS Reference Sans Serif" panose="020B0604030504040204" pitchFamily="34" charset="0"/>
              </a:rPr>
              <a:t>Hashtable</a:t>
            </a:r>
            <a:endParaRPr lang="en-US" altLang="ko-KR" sz="20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pPr lvl="1"/>
            <a:endParaRPr lang="en-US" altLang="ko-KR" sz="20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endParaRPr lang="en-US" altLang="ko-KR" sz="24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79887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044A03D-8D10-C5B0-3DB6-06F1DD66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sp>
        <p:nvSpPr>
          <p:cNvPr id="6" name="Google Shape;100;p14">
            <a:extLst>
              <a:ext uri="{FF2B5EF4-FFF2-40B4-BE49-F238E27FC236}">
                <a16:creationId xmlns:a16="http://schemas.microsoft.com/office/drawing/2014/main" id="{4D78B6F0-7D80-4D66-A24E-64B032C561B3}"/>
              </a:ext>
            </a:extLst>
          </p:cNvPr>
          <p:cNvSpPr txBox="1">
            <a:spLocks/>
          </p:cNvSpPr>
          <p:nvPr/>
        </p:nvSpPr>
        <p:spPr>
          <a:xfrm>
            <a:off x="885826" y="1684631"/>
            <a:ext cx="7190555" cy="2104414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배열과 같이 </a:t>
            </a:r>
            <a:r>
              <a:rPr lang="ko-KR" altLang="en-US" sz="200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인덱스를 이용하여 요소에 접근</a:t>
            </a:r>
            <a:r>
              <a:rPr lang="ko-KR" altLang="en-US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가능</a:t>
            </a:r>
            <a:endParaRPr lang="en-US" altLang="ko-KR" sz="20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r>
              <a:rPr lang="ko-KR" altLang="en-US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필요에 따라 </a:t>
            </a:r>
            <a:r>
              <a:rPr lang="ko-KR" altLang="en-US" sz="200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동적으로 크기가 증가</a:t>
            </a:r>
            <a:endParaRPr lang="en-US" altLang="ko-KR" sz="2000" dirty="0">
              <a:solidFill>
                <a:srgbClr val="000000"/>
              </a:solidFill>
              <a:highlight>
                <a:srgbClr val="FFCD00"/>
              </a:highlight>
              <a:latin typeface="MS Reference Sans Serif" panose="020B0604030504040204" pitchFamily="34" charset="0"/>
            </a:endParaRPr>
          </a:p>
          <a:p>
            <a:r>
              <a:rPr lang="ko-KR" altLang="en-US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요소를 추가하는 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Add()</a:t>
            </a:r>
            <a:r>
              <a:rPr lang="en-US" altLang="ko-KR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삭제하는</a:t>
            </a:r>
            <a:r>
              <a:rPr lang="en-US" altLang="ko-KR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 </a:t>
            </a:r>
            <a:r>
              <a:rPr lang="en-US" altLang="ko-KR" sz="2000" dirty="0" err="1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RemoveAt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()</a:t>
            </a:r>
            <a:r>
              <a:rPr lang="en-US" altLang="ko-KR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삽입하는 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Insert()</a:t>
            </a:r>
            <a:r>
              <a:rPr lang="en-US" altLang="ko-KR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메소드 등을 제공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6F9E06-940B-4889-A020-C659AEA964C6}"/>
              </a:ext>
            </a:extLst>
          </p:cNvPr>
          <p:cNvSpPr/>
          <p:nvPr/>
        </p:nvSpPr>
        <p:spPr>
          <a:xfrm>
            <a:off x="885825" y="3739102"/>
            <a:ext cx="6866697" cy="24622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ArrayList</a:t>
            </a:r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list = new </a:t>
            </a:r>
            <a:r>
              <a:rPr lang="en-US" altLang="ko-KR" sz="140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ArrayList</a:t>
            </a:r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();</a:t>
            </a:r>
            <a:endParaRPr lang="ko-KR" altLang="ko-KR" sz="140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40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list.</a:t>
            </a:r>
            <a:r>
              <a:rPr lang="en-US" altLang="ko-KR" sz="1400" dirty="0" err="1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Add</a:t>
            </a:r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( 10 );</a:t>
            </a:r>
            <a:endParaRPr lang="ko-KR" altLang="ko-KR" sz="140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40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list.</a:t>
            </a:r>
            <a:r>
              <a:rPr lang="en-US" altLang="ko-KR" sz="1400" dirty="0" err="1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Add</a:t>
            </a:r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( 20 );</a:t>
            </a:r>
            <a:endParaRPr lang="ko-KR" altLang="ko-KR" sz="140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40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list.</a:t>
            </a:r>
            <a:r>
              <a:rPr lang="en-US" altLang="ko-KR" sz="1400" dirty="0" err="1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Add</a:t>
            </a:r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( 30 );</a:t>
            </a:r>
            <a:endParaRPr lang="ko-KR" altLang="ko-KR" sz="140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 </a:t>
            </a:r>
            <a:endParaRPr lang="ko-KR" altLang="ko-KR" sz="140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40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list.</a:t>
            </a:r>
            <a:r>
              <a:rPr lang="en-US" altLang="ko-KR" sz="1400" dirty="0" err="1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RemoveAt</a:t>
            </a:r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( 1 ); // 20</a:t>
            </a:r>
            <a:r>
              <a:rPr lang="ko-KR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을 삭제</a:t>
            </a:r>
          </a:p>
          <a:p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 </a:t>
            </a:r>
            <a:endParaRPr lang="ko-KR" altLang="ko-KR" sz="140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40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list.</a:t>
            </a:r>
            <a:r>
              <a:rPr lang="en-US" altLang="ko-KR" sz="1400" dirty="0" err="1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Insert</a:t>
            </a:r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( 25, 1 ); // 25</a:t>
            </a:r>
            <a:r>
              <a:rPr lang="ko-KR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를</a:t>
            </a:r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1</a:t>
            </a:r>
            <a:r>
              <a:rPr lang="ko-KR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번 인덱스에 삽입</a:t>
            </a:r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. </a:t>
            </a:r>
            <a:r>
              <a:rPr lang="ko-KR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즉</a:t>
            </a:r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, 10 </a:t>
            </a:r>
            <a:r>
              <a:rPr lang="ko-KR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과</a:t>
            </a:r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30 </a:t>
            </a:r>
            <a:r>
              <a:rPr lang="ko-KR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사이에</a:t>
            </a:r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25</a:t>
            </a:r>
            <a:r>
              <a:rPr lang="ko-KR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를 삽입</a:t>
            </a:r>
            <a:endParaRPr lang="en-US" altLang="ko-KR" sz="140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endParaRPr lang="en-US" altLang="ko-KR" sz="140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list</a:t>
            </a:r>
            <a:r>
              <a:rPr lang="en-US" altLang="ko-KR" sz="140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[0]</a:t>
            </a:r>
            <a:r>
              <a:rPr lang="ko-KR" altLang="en-US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ko-KR" altLang="en-US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11;</a:t>
            </a:r>
          </a:p>
          <a:p>
            <a:r>
              <a:rPr lang="en-US" altLang="ko-KR" sz="140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Console.WriteLine</a:t>
            </a:r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(list</a:t>
            </a:r>
            <a:r>
              <a:rPr lang="en-US" altLang="ko-KR" sz="140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[0]</a:t>
            </a:r>
            <a:r>
              <a:rPr lang="en-US" altLang="ko-KR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); // 11 </a:t>
            </a:r>
            <a:r>
              <a:rPr lang="ko-KR" altLang="en-US" sz="140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출력</a:t>
            </a:r>
            <a:endParaRPr lang="en-US" altLang="ko-KR" sz="140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13CBF4A-70BE-E944-8EC9-70C4E519B7A8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E7AB305-7EBF-E64B-4D95-3EE193A998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9443501-5FBB-E51A-9669-A2029DA91F8A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ArrayList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7C61436-1B25-D26E-3819-4D6C8793CC68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837699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044A03D-8D10-C5B0-3DB6-06F1DD66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13CBF4A-70BE-E944-8EC9-70C4E519B7A8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E7AB305-7EBF-E64B-4D95-3EE193A998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9443501-5FBB-E51A-9669-A2029DA91F8A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ArrayList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7C61436-1B25-D26E-3819-4D6C8793CC68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BCA5D68-603E-D5B2-90DC-F69A7EDE0DC3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UsingList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8B56F9B-72B5-44AE-7B94-91B0E066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2" y="2089979"/>
            <a:ext cx="5677705" cy="374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67697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044A03D-8D10-C5B0-3DB6-06F1DD66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13CBF4A-70BE-E944-8EC9-70C4E519B7A8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E7AB305-7EBF-E64B-4D95-3EE193A998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9443501-5FBB-E51A-9669-A2029DA91F8A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ArrayList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7C61436-1B25-D26E-3819-4D6C8793CC68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BCA5D68-603E-D5B2-90DC-F69A7EDE0DC3}"/>
              </a:ext>
            </a:extLst>
          </p:cNvPr>
          <p:cNvSpPr txBox="1"/>
          <p:nvPr/>
        </p:nvSpPr>
        <p:spPr>
          <a:xfrm>
            <a:off x="224290" y="1526876"/>
            <a:ext cx="85844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MS Reference Sans Serif" panose="020B0604030504040204" pitchFamily="34" charset="0"/>
              </a:rPr>
              <a:t>using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System.Collections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UsingList</a:t>
            </a:r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 list = new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for (int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 &lt; 5;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++)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list.Add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);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foreach (object obj in list)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($"{obj} ");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list.RemoveAt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(2);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foreach (object obj in list)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($"{obj} ");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list.Insert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(2, 2);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foreach (object obj in list)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($"{obj} ");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list.Add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("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abc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list.Add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("def");</a:t>
            </a:r>
          </a:p>
          <a:p>
            <a:endParaRPr lang="en-US" altLang="ko-KR" sz="900" b="1" dirty="0">
              <a:latin typeface="MS Reference Sans Serif" panose="020B0604030504040204" pitchFamily="34" charset="0"/>
            </a:endParaRP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for (int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 &lt;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list.Count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;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++)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($"{list[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]} ");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9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900" b="1" dirty="0">
                <a:latin typeface="MS Reference Sans Serif" panose="020B0604030504040204" pitchFamily="34" charset="0"/>
              </a:rPr>
              <a:t>}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900816-6A0F-DA21-6889-9D5ADFCA6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759" y="5099839"/>
            <a:ext cx="1638529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4324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044A03D-8D10-C5B0-3DB6-06F1DD66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13CBF4A-70BE-E944-8EC9-70C4E519B7A8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E7AB305-7EBF-E64B-4D95-3EE193A998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9443501-5FBB-E51A-9669-A2029DA91F8A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ArrayList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7C61436-1B25-D26E-3819-4D6C8793CC68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BCA5D68-603E-D5B2-90DC-F69A7EDE0DC3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코드 단계별 실행 과정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E5D738-5C38-803F-D885-081512E349A5}"/>
              </a:ext>
            </a:extLst>
          </p:cNvPr>
          <p:cNvSpPr txBox="1"/>
          <p:nvPr/>
        </p:nvSpPr>
        <p:spPr>
          <a:xfrm>
            <a:off x="335222" y="2050096"/>
            <a:ext cx="805287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latin typeface="MS Reference Sans Serif" panose="020B0604030504040204" pitchFamily="34" charset="0"/>
              </a:rPr>
              <a:t>(1) 0~4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까지 추가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for (int 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600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600" dirty="0">
                <a:latin typeface="MS Reference Sans Serif" panose="020B0604030504040204" pitchFamily="34" charset="0"/>
              </a:rPr>
              <a:t> &lt; 5; 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600" dirty="0">
                <a:latin typeface="MS Reference Sans Serif" panose="020B0604030504040204" pitchFamily="34" charset="0"/>
              </a:rPr>
              <a:t>++)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    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list.Add</a:t>
            </a:r>
            <a:r>
              <a:rPr lang="en-US" altLang="ko-KR" sz="1600" dirty="0">
                <a:latin typeface="MS Reference Sans Serif" panose="020B0604030504040204" pitchFamily="34" charset="0"/>
              </a:rPr>
              <a:t>(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600" dirty="0">
                <a:latin typeface="MS Reference Sans Serif" panose="020B0604030504040204" pitchFamily="34" charset="0"/>
              </a:rPr>
              <a:t>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MS Reference Sans Serif" panose="020B0604030504040204" pitchFamily="34" charset="0"/>
              </a:rPr>
              <a:t>list </a:t>
            </a:r>
            <a:r>
              <a:rPr lang="ko-KR" altLang="en-US" sz="1600" dirty="0">
                <a:latin typeface="MS Reference Sans Serif" panose="020B0604030504040204" pitchFamily="34" charset="0"/>
              </a:rPr>
              <a:t>내용 → </a:t>
            </a:r>
            <a:r>
              <a:rPr lang="en-US" altLang="ko-KR" sz="1600" dirty="0">
                <a:latin typeface="MS Reference Sans Serif" panose="020B0604030504040204" pitchFamily="34" charset="0"/>
              </a:rPr>
              <a:t>[0, 1, 2, 3, 4]</a:t>
            </a:r>
            <a:endParaRPr lang="ko-KR" altLang="en-US" sz="1600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foreach (object obj in list)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    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600" dirty="0">
                <a:latin typeface="MS Reference Sans Serif" panose="020B0604030504040204" pitchFamily="34" charset="0"/>
              </a:rPr>
              <a:t>($"{obj} ");</a:t>
            </a:r>
          </a:p>
          <a:p>
            <a:pPr>
              <a:buNone/>
            </a:pPr>
            <a:r>
              <a:rPr lang="ko-KR" altLang="en-US" sz="1600" b="1" dirty="0">
                <a:latin typeface="MS Reference Sans Serif" panose="020B0604030504040204" pitchFamily="34" charset="0"/>
              </a:rPr>
              <a:t>출력</a:t>
            </a:r>
            <a:endParaRPr lang="ko-KR" altLang="en-US" sz="1600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0 1 2 3 4</a:t>
            </a:r>
          </a:p>
          <a:p>
            <a:pPr>
              <a:buNone/>
            </a:pPr>
            <a:br>
              <a:rPr lang="ko-KR" altLang="en-US" sz="1600" dirty="0">
                <a:latin typeface="MS Reference Sans Serif" panose="020B0604030504040204" pitchFamily="34" charset="0"/>
              </a:rPr>
            </a:br>
            <a:endParaRPr lang="ko-KR" altLang="en-US" sz="1600" dirty="0">
              <a:latin typeface="MS Reference Sans Serif" panose="020B0604030504040204" pitchFamily="34" charset="0"/>
            </a:endParaRPr>
          </a:p>
          <a:p>
            <a:pPr>
              <a:buNone/>
            </a:pPr>
            <a:r>
              <a:rPr lang="en-US" altLang="ko-KR" sz="1600" b="1" dirty="0">
                <a:latin typeface="MS Reference Sans Serif" panose="020B0604030504040204" pitchFamily="34" charset="0"/>
              </a:rPr>
              <a:t>(2)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인덱스 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2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의 요소 삭제</a:t>
            </a:r>
          </a:p>
          <a:p>
            <a:pPr rtl="0">
              <a:buNone/>
            </a:pPr>
            <a:r>
              <a:rPr lang="en-US" altLang="ko-KR" sz="1600" dirty="0" err="1">
                <a:latin typeface="MS Reference Sans Serif" panose="020B0604030504040204" pitchFamily="34" charset="0"/>
              </a:rPr>
              <a:t>list.RemoveAt</a:t>
            </a:r>
            <a:r>
              <a:rPr lang="en-US" altLang="ko-KR" sz="1600" dirty="0">
                <a:latin typeface="MS Reference Sans Serif" panose="020B0604030504040204" pitchFamily="34" charset="0"/>
              </a:rPr>
              <a:t>(2);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MS Reference Sans Serif" panose="020B0604030504040204" pitchFamily="34" charset="0"/>
              </a:rPr>
              <a:t>인덱스 </a:t>
            </a:r>
            <a:r>
              <a:rPr lang="en-US" altLang="ko-KR" sz="1600" dirty="0">
                <a:latin typeface="MS Reference Sans Serif" panose="020B0604030504040204" pitchFamily="34" charset="0"/>
              </a:rPr>
              <a:t>2</a:t>
            </a:r>
            <a:r>
              <a:rPr lang="ko-KR" altLang="en-US" sz="1600" dirty="0">
                <a:latin typeface="MS Reference Sans Serif" panose="020B0604030504040204" pitchFamily="34" charset="0"/>
              </a:rPr>
              <a:t>의 값</a:t>
            </a:r>
            <a:r>
              <a:rPr lang="en-US" altLang="ko-KR" sz="1600" dirty="0">
                <a:latin typeface="MS Reference Sans Serif" panose="020B0604030504040204" pitchFamily="34" charset="0"/>
              </a:rPr>
              <a:t>(2)</a:t>
            </a:r>
            <a:r>
              <a:rPr lang="ko-KR" altLang="en-US" sz="1600" dirty="0">
                <a:latin typeface="MS Reference Sans Serif" panose="020B0604030504040204" pitchFamily="34" charset="0"/>
              </a:rPr>
              <a:t>이 삭제됨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MS Reference Sans Serif" panose="020B0604030504040204" pitchFamily="34" charset="0"/>
              </a:rPr>
              <a:t>남은 데이터 → </a:t>
            </a:r>
            <a:r>
              <a:rPr lang="en-US" altLang="ko-KR" sz="1600" dirty="0">
                <a:latin typeface="MS Reference Sans Serif" panose="020B0604030504040204" pitchFamily="34" charset="0"/>
              </a:rPr>
              <a:t>[0, 1, 3, 4]</a:t>
            </a:r>
            <a:endParaRPr lang="ko-KR" altLang="en-US" sz="1600" dirty="0">
              <a:latin typeface="MS Reference Sans Serif" panose="020B0604030504040204" pitchFamily="34" charset="0"/>
            </a:endParaRPr>
          </a:p>
          <a:p>
            <a:pPr>
              <a:buNone/>
            </a:pPr>
            <a:r>
              <a:rPr lang="ko-KR" altLang="en-US" sz="1600" b="1" dirty="0">
                <a:latin typeface="MS Reference Sans Serif" panose="020B0604030504040204" pitchFamily="34" charset="0"/>
              </a:rPr>
              <a:t>출력</a:t>
            </a:r>
            <a:endParaRPr lang="ko-KR" altLang="en-US" sz="1600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0 1 3 4</a:t>
            </a:r>
          </a:p>
        </p:txBody>
      </p:sp>
    </p:spTree>
    <p:extLst>
      <p:ext uri="{BB962C8B-B14F-4D97-AF65-F5344CB8AC3E}">
        <p14:creationId xmlns:p14="http://schemas.microsoft.com/office/powerpoint/2010/main" val="248942208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044A03D-8D10-C5B0-3DB6-06F1DD66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13CBF4A-70BE-E944-8EC9-70C4E519B7A8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E7AB305-7EBF-E64B-4D95-3EE193A99829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9443501-5FBB-E51A-9669-A2029DA91F8A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ArrayList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7C61436-1B25-D26E-3819-4D6C8793CC68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BCA5D68-603E-D5B2-90DC-F69A7EDE0DC3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코드 단계별 실행 과정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0ADB8D-0BF2-15F4-FA3C-921C7121CB34}"/>
              </a:ext>
            </a:extLst>
          </p:cNvPr>
          <p:cNvSpPr txBox="1"/>
          <p:nvPr/>
        </p:nvSpPr>
        <p:spPr>
          <a:xfrm>
            <a:off x="198408" y="2056686"/>
            <a:ext cx="8747184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latin typeface="MS Reference Sans Serif" panose="020B0604030504040204" pitchFamily="34" charset="0"/>
              </a:rPr>
              <a:t>(3)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인덱스 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2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에 다시 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2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삽입</a:t>
            </a:r>
          </a:p>
          <a:p>
            <a:pPr rtl="0">
              <a:buNone/>
            </a:pPr>
            <a:r>
              <a:rPr lang="en-US" altLang="ko-KR" sz="1600" dirty="0" err="1">
                <a:latin typeface="MS Reference Sans Serif" panose="020B0604030504040204" pitchFamily="34" charset="0"/>
              </a:rPr>
              <a:t>list.Insert</a:t>
            </a:r>
            <a:r>
              <a:rPr lang="en-US" altLang="ko-KR" sz="1600" dirty="0">
                <a:latin typeface="MS Reference Sans Serif" panose="020B0604030504040204" pitchFamily="34" charset="0"/>
              </a:rPr>
              <a:t>(2, 2);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MS Reference Sans Serif" panose="020B0604030504040204" pitchFamily="34" charset="0"/>
              </a:rPr>
              <a:t>인덱스 </a:t>
            </a:r>
            <a:r>
              <a:rPr lang="en-US" altLang="ko-KR" sz="1600" dirty="0">
                <a:latin typeface="MS Reference Sans Serif" panose="020B0604030504040204" pitchFamily="34" charset="0"/>
              </a:rPr>
              <a:t>2 </a:t>
            </a:r>
            <a:r>
              <a:rPr lang="ko-KR" altLang="en-US" sz="1600" dirty="0">
                <a:latin typeface="MS Reference Sans Serif" panose="020B0604030504040204" pitchFamily="34" charset="0"/>
              </a:rPr>
              <a:t>위치에 </a:t>
            </a:r>
            <a:r>
              <a:rPr lang="en-US" altLang="ko-KR" sz="1600" dirty="0">
                <a:latin typeface="MS Reference Sans Serif" panose="020B0604030504040204" pitchFamily="34" charset="0"/>
              </a:rPr>
              <a:t>2</a:t>
            </a:r>
            <a:r>
              <a:rPr lang="ko-KR" altLang="en-US" sz="1600" dirty="0">
                <a:latin typeface="MS Reference Sans Serif" panose="020B0604030504040204" pitchFamily="34" charset="0"/>
              </a:rPr>
              <a:t>를 다시 넣음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MS Reference Sans Serif" panose="020B0604030504040204" pitchFamily="34" charset="0"/>
              </a:rPr>
              <a:t>결과 → </a:t>
            </a:r>
            <a:r>
              <a:rPr lang="en-US" altLang="ko-KR" sz="1600" dirty="0">
                <a:latin typeface="MS Reference Sans Serif" panose="020B0604030504040204" pitchFamily="34" charset="0"/>
              </a:rPr>
              <a:t>[0, 1, 2, 3, 4]</a:t>
            </a:r>
            <a:endParaRPr lang="ko-KR" altLang="en-US" sz="1600" dirty="0">
              <a:latin typeface="MS Reference Sans Serif" panose="020B0604030504040204" pitchFamily="34" charset="0"/>
            </a:endParaRPr>
          </a:p>
          <a:p>
            <a:pPr>
              <a:buNone/>
            </a:pPr>
            <a:r>
              <a:rPr lang="ko-KR" altLang="en-US" sz="1600" b="1" dirty="0">
                <a:latin typeface="MS Reference Sans Serif" panose="020B0604030504040204" pitchFamily="34" charset="0"/>
              </a:rPr>
              <a:t>출력</a:t>
            </a:r>
            <a:endParaRPr lang="ko-KR" altLang="en-US" sz="1600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0 1 2 3 4</a:t>
            </a:r>
          </a:p>
          <a:p>
            <a:pPr>
              <a:buNone/>
            </a:pPr>
            <a:br>
              <a:rPr lang="ko-KR" altLang="en-US" sz="1600" dirty="0">
                <a:latin typeface="MS Reference Sans Serif" panose="020B0604030504040204" pitchFamily="34" charset="0"/>
              </a:rPr>
            </a:br>
            <a:endParaRPr lang="ko-KR" altLang="en-US" sz="1600" dirty="0">
              <a:latin typeface="MS Reference Sans Serif" panose="020B0604030504040204" pitchFamily="34" charset="0"/>
            </a:endParaRPr>
          </a:p>
          <a:p>
            <a:pPr>
              <a:buNone/>
            </a:pPr>
            <a:r>
              <a:rPr lang="en-US" altLang="ko-KR" sz="1600" b="1" dirty="0">
                <a:latin typeface="MS Reference Sans Serif" panose="020B0604030504040204" pitchFamily="34" charset="0"/>
              </a:rPr>
              <a:t>(4)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문자열 추가</a:t>
            </a:r>
          </a:p>
          <a:p>
            <a:pPr rtl="0">
              <a:buNone/>
            </a:pPr>
            <a:r>
              <a:rPr lang="en-US" altLang="ko-KR" sz="1600" dirty="0" err="1">
                <a:latin typeface="MS Reference Sans Serif" panose="020B0604030504040204" pitchFamily="34" charset="0"/>
              </a:rPr>
              <a:t>list.Add</a:t>
            </a:r>
            <a:r>
              <a:rPr lang="en-US" altLang="ko-KR" sz="1600" dirty="0">
                <a:latin typeface="MS Reference Sans Serif" panose="020B0604030504040204" pitchFamily="34" charset="0"/>
              </a:rPr>
              <a:t>("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abc</a:t>
            </a:r>
            <a:r>
              <a:rPr lang="en-US" altLang="ko-KR" sz="1600" dirty="0">
                <a:latin typeface="MS Reference Sans Serif" panose="020B0604030504040204" pitchFamily="34" charset="0"/>
              </a:rPr>
              <a:t>");</a:t>
            </a:r>
          </a:p>
          <a:p>
            <a:pPr rtl="0">
              <a:buNone/>
            </a:pPr>
            <a:r>
              <a:rPr lang="en-US" altLang="ko-KR" sz="1600" dirty="0" err="1">
                <a:latin typeface="MS Reference Sans Serif" panose="020B0604030504040204" pitchFamily="34" charset="0"/>
              </a:rPr>
              <a:t>list.Add</a:t>
            </a:r>
            <a:r>
              <a:rPr lang="en-US" altLang="ko-KR" sz="1600" dirty="0">
                <a:latin typeface="MS Reference Sans Serif" panose="020B0604030504040204" pitchFamily="34" charset="0"/>
              </a:rPr>
              <a:t>("def");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MS Reference Sans Serif" panose="020B0604030504040204" pitchFamily="34" charset="0"/>
              </a:rPr>
              <a:t>숫자 뒤에 문자열도 추가 가능 </a:t>
            </a:r>
            <a:r>
              <a:rPr lang="en-US" altLang="ko-KR" sz="1600" dirty="0">
                <a:latin typeface="MS Reference Sans Serif" panose="020B0604030504040204" pitchFamily="34" charset="0"/>
              </a:rPr>
              <a:t>(</a:t>
            </a:r>
            <a:r>
              <a:rPr lang="ko-KR" altLang="en-US" sz="1600" dirty="0" err="1">
                <a:latin typeface="MS Reference Sans Serif" panose="020B0604030504040204" pitchFamily="34" charset="0"/>
              </a:rPr>
              <a:t>비제네릭이라</a:t>
            </a:r>
            <a:r>
              <a:rPr lang="ko-KR" altLang="en-US" sz="1600" dirty="0">
                <a:latin typeface="MS Reference Sans Serif" panose="020B0604030504040204" pitchFamily="34" charset="0"/>
              </a:rPr>
              <a:t> 가능</a:t>
            </a:r>
            <a:r>
              <a:rPr lang="en-US" altLang="ko-KR" sz="1600" dirty="0">
                <a:latin typeface="MS Reference Sans Serif" panose="020B060403050404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MS Reference Sans Serif" panose="020B0604030504040204" pitchFamily="34" charset="0"/>
              </a:rPr>
              <a:t>결과 → </a:t>
            </a:r>
            <a:r>
              <a:rPr lang="en-US" altLang="ko-KR" sz="1600" dirty="0">
                <a:latin typeface="MS Reference Sans Serif" panose="020B0604030504040204" pitchFamily="34" charset="0"/>
              </a:rPr>
              <a:t>[0, 1, 2, 3, 4, "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abc</a:t>
            </a:r>
            <a:r>
              <a:rPr lang="en-US" altLang="ko-KR" sz="1600" dirty="0">
                <a:latin typeface="MS Reference Sans Serif" panose="020B0604030504040204" pitchFamily="34" charset="0"/>
              </a:rPr>
              <a:t>", "def"]</a:t>
            </a:r>
            <a:endParaRPr lang="ko-KR" altLang="en-US" sz="1600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for (int 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600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600" dirty="0">
                <a:latin typeface="MS Reference Sans Serif" panose="020B0604030504040204" pitchFamily="34" charset="0"/>
              </a:rPr>
              <a:t> &lt; 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list.Count</a:t>
            </a:r>
            <a:r>
              <a:rPr lang="en-US" altLang="ko-KR" sz="1600" dirty="0">
                <a:latin typeface="MS Reference Sans Serif" panose="020B0604030504040204" pitchFamily="34" charset="0"/>
              </a:rPr>
              <a:t>; 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600" dirty="0">
                <a:latin typeface="MS Reference Sans Serif" panose="020B0604030504040204" pitchFamily="34" charset="0"/>
              </a:rPr>
              <a:t>++)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    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600" dirty="0">
                <a:latin typeface="MS Reference Sans Serif" panose="020B0604030504040204" pitchFamily="34" charset="0"/>
              </a:rPr>
              <a:t>($"{list[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600" dirty="0">
                <a:latin typeface="MS Reference Sans Serif" panose="020B0604030504040204" pitchFamily="34" charset="0"/>
              </a:rPr>
              <a:t>]} ");</a:t>
            </a:r>
          </a:p>
          <a:p>
            <a:pPr>
              <a:buNone/>
            </a:pPr>
            <a:r>
              <a:rPr lang="ko-KR" altLang="en-US" sz="1600" b="1" dirty="0">
                <a:latin typeface="MS Reference Sans Serif" panose="020B0604030504040204" pitchFamily="34" charset="0"/>
              </a:rPr>
              <a:t>출력</a:t>
            </a:r>
            <a:endParaRPr lang="ko-KR" altLang="en-US" sz="1600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0 1 2 3 4 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abc</a:t>
            </a:r>
            <a:r>
              <a:rPr lang="en-US" altLang="ko-KR" sz="1600" dirty="0">
                <a:latin typeface="MS Reference Sans Serif" panose="020B0604030504040204" pitchFamily="34" charset="0"/>
              </a:rPr>
              <a:t> def</a:t>
            </a:r>
          </a:p>
        </p:txBody>
      </p:sp>
    </p:spTree>
    <p:extLst>
      <p:ext uri="{BB962C8B-B14F-4D97-AF65-F5344CB8AC3E}">
        <p14:creationId xmlns:p14="http://schemas.microsoft.com/office/powerpoint/2010/main" val="354481364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0;p14">
            <a:extLst>
              <a:ext uri="{FF2B5EF4-FFF2-40B4-BE49-F238E27FC236}">
                <a16:creationId xmlns:a16="http://schemas.microsoft.com/office/drawing/2014/main" id="{4D78B6F0-7D80-4D66-A24E-64B032C561B3}"/>
              </a:ext>
            </a:extLst>
          </p:cNvPr>
          <p:cNvSpPr txBox="1">
            <a:spLocks/>
          </p:cNvSpPr>
          <p:nvPr/>
        </p:nvSpPr>
        <p:spPr>
          <a:xfrm>
            <a:off x="885826" y="1684631"/>
            <a:ext cx="7190555" cy="2104414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400" dirty="0">
              <a:solidFill>
                <a:schemeClr val="dk1"/>
              </a:solidFill>
              <a:latin typeface="MS Reference Sans Serif" panose="020B0604030504040204" pitchFamily="34" charset="0"/>
            </a:endParaRPr>
          </a:p>
          <a:p>
            <a:r>
              <a:rPr lang="ko-KR" altLang="en-US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선입선출</a:t>
            </a:r>
            <a:r>
              <a:rPr lang="en-US" altLang="ko-KR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(FIFO : First In First Out)</a:t>
            </a:r>
            <a:r>
              <a:rPr lang="ko-KR" altLang="en-US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 구조의 자료구조</a:t>
            </a:r>
            <a:endParaRPr lang="en-US" altLang="ko-KR" sz="18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r>
              <a:rPr lang="ko-KR" altLang="en-US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데이터를 입력하는 </a:t>
            </a:r>
            <a:r>
              <a:rPr lang="en-US" altLang="ko-KR" sz="180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Enqueue()</a:t>
            </a:r>
            <a:r>
              <a:rPr lang="en-US" altLang="ko-KR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, </a:t>
            </a:r>
            <a:r>
              <a:rPr lang="ko-KR" altLang="en-US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출력하는 </a:t>
            </a:r>
            <a:r>
              <a:rPr lang="en-US" altLang="ko-KR" sz="180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Dequeue()</a:t>
            </a:r>
            <a:r>
              <a:rPr lang="en-US" altLang="ko-KR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메소드 제공</a:t>
            </a:r>
            <a:endParaRPr lang="en-US" altLang="ko-KR" sz="18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6F9E06-940B-4889-A020-C659AEA964C6}"/>
              </a:ext>
            </a:extLst>
          </p:cNvPr>
          <p:cNvSpPr/>
          <p:nvPr/>
        </p:nvSpPr>
        <p:spPr>
          <a:xfrm>
            <a:off x="885825" y="3269671"/>
            <a:ext cx="4052980" cy="22494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Queue que = new Queue();</a:t>
            </a:r>
          </a:p>
          <a:p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que.</a:t>
            </a:r>
            <a:r>
              <a:rPr lang="en-US" altLang="ko-KR" sz="1050" dirty="0" err="1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Enqueue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( 1 );</a:t>
            </a:r>
          </a:p>
          <a:p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que.</a:t>
            </a:r>
            <a:r>
              <a:rPr lang="en-US" altLang="ko-KR" sz="1050" dirty="0" err="1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Enqueue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( 2 );</a:t>
            </a:r>
          </a:p>
          <a:p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que.</a:t>
            </a:r>
            <a:r>
              <a:rPr lang="en-US" altLang="ko-KR" sz="1050" dirty="0" err="1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Enqueue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( 3 );</a:t>
            </a:r>
          </a:p>
          <a:p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que.</a:t>
            </a:r>
            <a:r>
              <a:rPr lang="en-US" altLang="ko-KR" sz="1050" dirty="0" err="1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Enqueue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( 4 );</a:t>
            </a:r>
          </a:p>
          <a:p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que.</a:t>
            </a:r>
            <a:r>
              <a:rPr lang="en-US" altLang="ko-KR" sz="1050" dirty="0" err="1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Enqueue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( 5 );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361782B-529A-40D9-8489-E8A3C0393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844" y="3546486"/>
            <a:ext cx="2035961" cy="169584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A4B64A-917E-4087-BF95-CAEFF61B83BC}"/>
              </a:ext>
            </a:extLst>
          </p:cNvPr>
          <p:cNvSpPr/>
          <p:nvPr/>
        </p:nvSpPr>
        <p:spPr>
          <a:xfrm>
            <a:off x="5092421" y="3269670"/>
            <a:ext cx="3753761" cy="22494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int a = </a:t>
            </a:r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que.</a:t>
            </a:r>
            <a:r>
              <a:rPr lang="en-US" altLang="ko-KR" sz="1050" dirty="0" err="1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Dequeue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 );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B20D7F2-ACF2-4213-BF7A-B2C2A90C1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365" y="3546486"/>
            <a:ext cx="1608290" cy="1695847"/>
          </a:xfrm>
          <a:prstGeom prst="rect">
            <a:avLst/>
          </a:prstGeom>
        </p:spPr>
      </p:pic>
      <p:sp>
        <p:nvSpPr>
          <p:cNvPr id="15" name="제목 2">
            <a:extLst>
              <a:ext uri="{FF2B5EF4-FFF2-40B4-BE49-F238E27FC236}">
                <a16:creationId xmlns:a16="http://schemas.microsoft.com/office/drawing/2014/main" id="{A4DA19C6-2DE5-EC5F-B4A7-187F6CAC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23C9AAD-5B5F-D02F-8F08-8BAB910DD59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C54907F-7A9F-99D5-34F7-3C1A24EB9D97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3070AFD-6585-2942-EBAF-27297932E6E4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Queue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A9D6550-821D-8810-4237-71B6BA418729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493093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2">
            <a:extLst>
              <a:ext uri="{FF2B5EF4-FFF2-40B4-BE49-F238E27FC236}">
                <a16:creationId xmlns:a16="http://schemas.microsoft.com/office/drawing/2014/main" id="{A4DA19C6-2DE5-EC5F-B4A7-187F6CAC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23C9AAD-5B5F-D02F-8F08-8BAB910DD59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C54907F-7A9F-99D5-34F7-3C1A24EB9D97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3070AFD-6585-2942-EBAF-27297932E6E4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Queue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A9D6550-821D-8810-4237-71B6BA418729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4B30C7B-48A2-80AB-CEEF-3F900D427743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MS Reference Sans Serif" panose="020B0604030504040204" pitchFamily="34" charset="0"/>
              </a:rPr>
              <a:t>Queue&lt;T&gt;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주요 메서드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3A7567F-34FD-7388-3A1F-8D938F135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235462"/>
              </p:ext>
            </p:extLst>
          </p:nvPr>
        </p:nvGraphicFramePr>
        <p:xfrm>
          <a:off x="445770" y="2266982"/>
          <a:ext cx="7886700" cy="2133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763518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981433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22683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메서드</a:t>
                      </a:r>
                      <a:endParaRPr lang="ko-KR" altLang="en-US" sz="14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설명</a:t>
                      </a:r>
                      <a:endParaRPr lang="ko-KR" altLang="en-US" sz="14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예시</a:t>
                      </a:r>
                      <a:endParaRPr lang="ko-KR" altLang="en-US" sz="14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812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Enqueue(T)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큐 끝에 요소 추가</a:t>
                      </a:r>
                      <a:endParaRPr lang="ko-KR" alt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queue.Enqueue(10);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6964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Dequeue()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큐 앞의 요소 제거 및 반환</a:t>
                      </a:r>
                      <a:endParaRPr lang="ko-KR" alt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int item = queue.Dequeue();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2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Peek()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큐 앞의 요소 확인 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제거 </a:t>
                      </a:r>
                      <a:r>
                        <a:rPr lang="en-US" altLang="ko-KR" sz="1400"/>
                        <a:t>X)</a:t>
                      </a:r>
                      <a:endParaRPr lang="en-US" altLang="ko-KR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int item = queue.Peek();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750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Contains(T)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특정 요소 포함 여부</a:t>
                      </a:r>
                      <a:endParaRPr lang="ko-KR" alt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bool has = queue.Contains(10);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804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Clear()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모든 요소 제거</a:t>
                      </a:r>
                      <a:endParaRPr lang="ko-KR" alt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queue.Clear();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456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Count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요소 개수 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속성</a:t>
                      </a:r>
                      <a:r>
                        <a:rPr lang="en-US" altLang="ko-KR" sz="1400"/>
                        <a:t>)</a:t>
                      </a:r>
                      <a:endParaRPr lang="en-US" altLang="ko-KR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int count = </a:t>
                      </a:r>
                      <a:r>
                        <a:rPr lang="en-US" sz="1400" dirty="0" err="1"/>
                        <a:t>queue.Count</a:t>
                      </a:r>
                      <a:r>
                        <a:rPr lang="en-US" sz="1400" dirty="0"/>
                        <a:t>;</a:t>
                      </a:r>
                      <a:endParaRPr lang="en-US" sz="14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0279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7421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2">
            <a:extLst>
              <a:ext uri="{FF2B5EF4-FFF2-40B4-BE49-F238E27FC236}">
                <a16:creationId xmlns:a16="http://schemas.microsoft.com/office/drawing/2014/main" id="{A4DA19C6-2DE5-EC5F-B4A7-187F6CAC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23C9AAD-5B5F-D02F-8F08-8BAB910DD59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C54907F-7A9F-99D5-34F7-3C1A24EB9D97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3070AFD-6585-2942-EBAF-27297932E6E4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Queue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A9D6550-821D-8810-4237-71B6BA418729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5A86BD9-34F1-62DA-3A6E-B055C39FA624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UsingQueue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6C1156-B1E2-E3FF-2543-0A4BBC01D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2" y="2171070"/>
            <a:ext cx="5161550" cy="341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5836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2">
            <a:extLst>
              <a:ext uri="{FF2B5EF4-FFF2-40B4-BE49-F238E27FC236}">
                <a16:creationId xmlns:a16="http://schemas.microsoft.com/office/drawing/2014/main" id="{A4DA19C6-2DE5-EC5F-B4A7-187F6CAC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23C9AAD-5B5F-D02F-8F08-8BAB910DD59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C54907F-7A9F-99D5-34F7-3C1A24EB9D97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3070AFD-6585-2942-EBAF-27297932E6E4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Queue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A9D6550-821D-8810-4237-71B6BA418729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5A86BD9-34F1-62DA-3A6E-B055C39FA624}"/>
              </a:ext>
            </a:extLst>
          </p:cNvPr>
          <p:cNvSpPr txBox="1"/>
          <p:nvPr/>
        </p:nvSpPr>
        <p:spPr>
          <a:xfrm>
            <a:off x="224290" y="1526876"/>
            <a:ext cx="858448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MS Reference Sans Serif" panose="020B0604030504040204" pitchFamily="34" charset="0"/>
              </a:rPr>
              <a:t>using System;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using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System.Collections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UsingQueue</a:t>
            </a:r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    Queue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que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= new Queue();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que.Enqueue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(1);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que.Enqueue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(2);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que.Enqueue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(3);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que.Enqueue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(4);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que.Enqueue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(5);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    while (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que.Count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&gt; 0)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que.Dequeue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());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7828AC-4D82-A3E1-7CA8-A0B7E5AD1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706" y="3728776"/>
            <a:ext cx="476316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99457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DF34C-C889-74F6-C196-FE63F1869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2">
            <a:extLst>
              <a:ext uri="{FF2B5EF4-FFF2-40B4-BE49-F238E27FC236}">
                <a16:creationId xmlns:a16="http://schemas.microsoft.com/office/drawing/2014/main" id="{9647EE1D-F9DB-2553-26EB-6410A96FE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1062528-6D7F-AFD8-B874-319CE32557C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00ED828-D8B8-212A-D686-3256C2D387AC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8286D08-9E90-9154-74E8-A396FB9343D7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Queue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3E63B5D-989A-D1D1-A641-EE7B74229231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5AAC746-1DEA-59EA-C9E1-826957DAAACD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고객 </a:t>
            </a:r>
            <a:r>
              <a:rPr lang="ko-KR" altLang="en-US" sz="2400" b="1" dirty="0" err="1">
                <a:latin typeface="MS Reference Sans Serif" panose="020B0604030504040204" pitchFamily="34" charset="0"/>
              </a:rPr>
              <a:t>대기열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 시스템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PRD (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WaitingON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)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7A52365-6836-5FDB-8452-803297E73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474982"/>
              </p:ext>
            </p:extLst>
          </p:nvPr>
        </p:nvGraphicFramePr>
        <p:xfrm>
          <a:off x="198409" y="2008530"/>
          <a:ext cx="8747181" cy="46689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44497">
                  <a:extLst>
                    <a:ext uri="{9D8B030D-6E8A-4147-A177-3AD203B41FA5}">
                      <a16:colId xmlns:a16="http://schemas.microsoft.com/office/drawing/2014/main" val="4039791691"/>
                    </a:ext>
                  </a:extLst>
                </a:gridCol>
                <a:gridCol w="4586957">
                  <a:extLst>
                    <a:ext uri="{9D8B030D-6E8A-4147-A177-3AD203B41FA5}">
                      <a16:colId xmlns:a16="http://schemas.microsoft.com/office/drawing/2014/main" val="3171431279"/>
                    </a:ext>
                  </a:extLst>
                </a:gridCol>
                <a:gridCol w="2915727">
                  <a:extLst>
                    <a:ext uri="{9D8B030D-6E8A-4147-A177-3AD203B41FA5}">
                      <a16:colId xmlns:a16="http://schemas.microsoft.com/office/drawing/2014/main" val="2893274707"/>
                    </a:ext>
                  </a:extLst>
                </a:gridCol>
              </a:tblGrid>
              <a:tr h="52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dirty="0"/>
                        <a:t>구분</a:t>
                      </a:r>
                      <a:endParaRPr lang="ko-KR" altLang="en-US" sz="8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dirty="0"/>
                        <a:t>항목</a:t>
                      </a:r>
                      <a:endParaRPr lang="ko-KR" altLang="en-US" sz="8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dirty="0"/>
                        <a:t>설명</a:t>
                      </a:r>
                      <a:endParaRPr lang="ko-KR" altLang="en-US" sz="8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433578"/>
                  </a:ext>
                </a:extLst>
              </a:tr>
              <a:tr h="169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/>
                        <a:t>프로젝트명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WaitingON</a:t>
                      </a:r>
                      <a:endParaRPr 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/>
                        <a:t>Queue&lt;T&gt;</a:t>
                      </a:r>
                      <a:r>
                        <a:rPr lang="ko-KR" altLang="en-US" sz="800"/>
                        <a:t>를 사용하여 고객 대기열을 관리하고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/>
                        <a:t>순차적으로 서비스를 처리하는 콘솔 프로그램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extLst>
                  <a:ext uri="{0D108BD9-81ED-4DB2-BD59-A6C34878D82A}">
                    <a16:rowId xmlns:a16="http://schemas.microsoft.com/office/drawing/2014/main" val="849456566"/>
                  </a:ext>
                </a:extLst>
              </a:tr>
              <a:tr h="130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/>
                        <a:t>개발 언어 </a:t>
                      </a:r>
                      <a:r>
                        <a:rPr lang="en-US" altLang="ko-KR" sz="800" b="1"/>
                        <a:t>/ </a:t>
                      </a:r>
                      <a:r>
                        <a:rPr lang="ko-KR" altLang="en-US" sz="800" b="1"/>
                        <a:t>환경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C#, .NET Console Application</a:t>
                      </a:r>
                      <a:endParaRPr 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/>
                        <a:t>Visual Studio </a:t>
                      </a:r>
                      <a:r>
                        <a:rPr lang="ko-KR" altLang="en-US" sz="800"/>
                        <a:t>또는 </a:t>
                      </a:r>
                      <a:r>
                        <a:rPr lang="en-US" altLang="ko-KR" sz="800"/>
                        <a:t>VS Code </a:t>
                      </a:r>
                      <a:r>
                        <a:rPr lang="ko-KR" altLang="en-US" sz="800"/>
                        <a:t>환경에서 실행 가능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extLst>
                  <a:ext uri="{0D108BD9-81ED-4DB2-BD59-A6C34878D82A}">
                    <a16:rowId xmlns:a16="http://schemas.microsoft.com/office/drawing/2014/main" val="2207079740"/>
                  </a:ext>
                </a:extLst>
              </a:tr>
              <a:tr h="326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/>
                        <a:t>개발 목적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**</a:t>
                      </a:r>
                      <a:r>
                        <a:rPr lang="en-US" altLang="ko-KR" sz="800"/>
                        <a:t>Queue(</a:t>
                      </a:r>
                      <a:r>
                        <a:rPr lang="ko-KR" altLang="en-US" sz="800"/>
                        <a:t>큐</a:t>
                      </a:r>
                      <a:r>
                        <a:rPr lang="en-US" altLang="ko-KR" sz="800"/>
                        <a:t>)**</a:t>
                      </a:r>
                      <a:r>
                        <a:rPr lang="ko-KR" altLang="en-US" sz="800"/>
                        <a:t>의 선입선출</a:t>
                      </a:r>
                      <a:r>
                        <a:rPr lang="en-US" altLang="ko-KR" sz="800"/>
                        <a:t>(FIFO: First-In-First-Out) </a:t>
                      </a:r>
                      <a:r>
                        <a:rPr lang="ko-KR" altLang="en-US" sz="800"/>
                        <a:t>구조를 학습하고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/>
                        <a:t>실제 업무 시나리오</a:t>
                      </a:r>
                      <a:r>
                        <a:rPr lang="en-US" altLang="ko-KR" sz="800"/>
                        <a:t>(</a:t>
                      </a:r>
                      <a:r>
                        <a:rPr lang="ko-KR" altLang="en-US" sz="800"/>
                        <a:t>고객 서비스 대기열 관리</a:t>
                      </a:r>
                      <a:r>
                        <a:rPr lang="en-US" altLang="ko-KR" sz="800"/>
                        <a:t>)</a:t>
                      </a:r>
                      <a:r>
                        <a:rPr lang="ko-KR" altLang="en-US" sz="800"/>
                        <a:t>에 적용해보는 연습을 통해 </a:t>
                      </a:r>
                      <a:r>
                        <a:rPr lang="ko-KR" altLang="en-US" sz="800" b="1"/>
                        <a:t>컬렉션 자료구조의 활용 능력</a:t>
                      </a:r>
                      <a:r>
                        <a:rPr lang="ko-KR" altLang="en-US" sz="800"/>
                        <a:t>을 강화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extLst>
                  <a:ext uri="{0D108BD9-81ED-4DB2-BD59-A6C34878D82A}">
                    <a16:rowId xmlns:a16="http://schemas.microsoft.com/office/drawing/2014/main" val="4246877037"/>
                  </a:ext>
                </a:extLst>
              </a:tr>
              <a:tr h="287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/>
                        <a:t>핵심 학습 개념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🔹 </a:t>
                      </a:r>
                      <a:r>
                        <a:rPr lang="en-US" altLang="ko-KR" sz="800"/>
                        <a:t>Queue&lt;T&gt;</a:t>
                      </a:r>
                      <a:r>
                        <a:rPr lang="ko-KR" altLang="en-US" sz="800"/>
                        <a:t>의 기본 메서드</a:t>
                      </a:r>
                      <a:r>
                        <a:rPr lang="en-US" altLang="ko-KR" sz="800"/>
                        <a:t>(Enqueue, Dequeue, Count)</a:t>
                      </a:r>
                      <a:r>
                        <a:rPr lang="ko-KR" altLang="en-US" sz="800"/>
                        <a:t>🔹 반복문</a:t>
                      </a:r>
                      <a:r>
                        <a:rPr lang="en-US" altLang="ko-KR" sz="800"/>
                        <a:t>(while)</a:t>
                      </a:r>
                      <a:r>
                        <a:rPr lang="ko-KR" altLang="en-US" sz="800"/>
                        <a:t>을 통한 큐 처리 흐름 제어🔹 실무형 시나리오</a:t>
                      </a:r>
                      <a:r>
                        <a:rPr lang="en-US" altLang="ko-KR" sz="800"/>
                        <a:t>(</a:t>
                      </a:r>
                      <a:r>
                        <a:rPr lang="ko-KR" altLang="en-US" sz="800"/>
                        <a:t>고객 서비스 시스템</a:t>
                      </a:r>
                      <a:r>
                        <a:rPr lang="en-US" altLang="ko-KR" sz="800"/>
                        <a:t>) </a:t>
                      </a:r>
                      <a:r>
                        <a:rPr lang="ko-KR" altLang="en-US" sz="800"/>
                        <a:t>적용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extLst>
                  <a:ext uri="{0D108BD9-81ED-4DB2-BD59-A6C34878D82A}">
                    <a16:rowId xmlns:a16="http://schemas.microsoft.com/office/drawing/2014/main" val="3817457685"/>
                  </a:ext>
                </a:extLst>
              </a:tr>
              <a:tr h="365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/>
                        <a:t>기능 요약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/>
                        <a:t>1️⃣ </a:t>
                      </a:r>
                      <a:r>
                        <a:rPr lang="ko-KR" altLang="en-US" sz="800"/>
                        <a:t>고객 도착 시 대기열</a:t>
                      </a:r>
                      <a:r>
                        <a:rPr lang="en-US" altLang="ko-KR" sz="800"/>
                        <a:t>(Queue)</a:t>
                      </a:r>
                      <a:r>
                        <a:rPr lang="ko-KR" altLang="en-US" sz="800"/>
                        <a:t>에 등록 </a:t>
                      </a:r>
                      <a:r>
                        <a:rPr lang="en-US" altLang="ko-KR" sz="800"/>
                        <a:t>(Enqueue)2️⃣ </a:t>
                      </a:r>
                      <a:r>
                        <a:rPr lang="ko-KR" altLang="en-US" sz="800"/>
                        <a:t>대기 중 고객 수 출력</a:t>
                      </a:r>
                      <a:r>
                        <a:rPr lang="en-US" altLang="ko-KR" sz="800"/>
                        <a:t>3️⃣ </a:t>
                      </a:r>
                      <a:r>
                        <a:rPr lang="ko-KR" altLang="en-US" sz="800"/>
                        <a:t>고객을 순서대로 처리 </a:t>
                      </a:r>
                      <a:r>
                        <a:rPr lang="en-US" altLang="ko-KR" sz="800"/>
                        <a:t>(Dequeue)4️⃣ </a:t>
                      </a:r>
                      <a:r>
                        <a:rPr lang="ko-KR" altLang="en-US" sz="800"/>
                        <a:t>처리 후 남은 고객 수 표시</a:t>
                      </a:r>
                      <a:r>
                        <a:rPr lang="en-US" altLang="ko-KR" sz="800"/>
                        <a:t>5️⃣ </a:t>
                      </a:r>
                      <a:r>
                        <a:rPr lang="ko-KR" altLang="en-US" sz="800"/>
                        <a:t>모든 고객 처리 완료 메시지 출력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extLst>
                  <a:ext uri="{0D108BD9-81ED-4DB2-BD59-A6C34878D82A}">
                    <a16:rowId xmlns:a16="http://schemas.microsoft.com/office/drawing/2014/main" val="121119861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/>
                        <a:t>입력 데이터 구조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1" dirty="0"/>
                        <a:t>Queue&lt;string&gt; </a:t>
                      </a:r>
                      <a:r>
                        <a:rPr lang="en-US" altLang="ko-KR" sz="800" b="1" dirty="0" err="1"/>
                        <a:t>waitingLine</a:t>
                      </a:r>
                      <a:r>
                        <a:rPr lang="en-US" altLang="ko-KR" sz="800" b="1" dirty="0"/>
                        <a:t>• </a:t>
                      </a:r>
                      <a:r>
                        <a:rPr lang="ko-KR" altLang="en-US" sz="800" b="1" dirty="0"/>
                        <a:t>큐에 고객 이름</a:t>
                      </a:r>
                      <a:r>
                        <a:rPr lang="en-US" altLang="ko-KR" sz="800" b="1" dirty="0"/>
                        <a:t>(</a:t>
                      </a:r>
                      <a:r>
                        <a:rPr lang="ko-KR" altLang="en-US" sz="800" b="1" dirty="0"/>
                        <a:t>고객</a:t>
                      </a:r>
                      <a:r>
                        <a:rPr lang="en-US" altLang="ko-KR" sz="800" b="1" dirty="0"/>
                        <a:t>1, </a:t>
                      </a:r>
                      <a:r>
                        <a:rPr lang="ko-KR" altLang="en-US" sz="800" b="1" dirty="0"/>
                        <a:t>고객</a:t>
                      </a:r>
                      <a:r>
                        <a:rPr lang="en-US" altLang="ko-KR" sz="800" b="1" dirty="0"/>
                        <a:t>2, </a:t>
                      </a:r>
                      <a:r>
                        <a:rPr lang="ko-KR" altLang="en-US" sz="800" b="1" dirty="0"/>
                        <a:t>고객</a:t>
                      </a:r>
                      <a:r>
                        <a:rPr lang="en-US" altLang="ko-KR" sz="800" b="1" dirty="0"/>
                        <a:t>3)</a:t>
                      </a:r>
                      <a:r>
                        <a:rPr lang="ko-KR" altLang="en-US" sz="800" b="1" dirty="0"/>
                        <a:t>을 순서대로 추가</a:t>
                      </a:r>
                      <a:r>
                        <a:rPr lang="en-US" altLang="ko-KR" sz="800" b="1" dirty="0"/>
                        <a:t>• Enqueue()</a:t>
                      </a:r>
                      <a:r>
                        <a:rPr lang="ko-KR" altLang="en-US" sz="800" b="1" dirty="0"/>
                        <a:t>로 삽입</a:t>
                      </a:r>
                      <a:r>
                        <a:rPr lang="en-US" altLang="ko-KR" sz="800" b="1" dirty="0"/>
                        <a:t>, Dequeue()</a:t>
                      </a:r>
                      <a:r>
                        <a:rPr lang="ko-KR" altLang="en-US" sz="800" b="1" dirty="0"/>
                        <a:t>로 제거</a:t>
                      </a:r>
                      <a:endParaRPr lang="ko-KR" altLang="en-US" sz="800" b="1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extLst>
                  <a:ext uri="{0D108BD9-81ED-4DB2-BD59-A6C34878D82A}">
                    <a16:rowId xmlns:a16="http://schemas.microsoft.com/office/drawing/2014/main" val="214353250"/>
                  </a:ext>
                </a:extLst>
              </a:tr>
              <a:tr h="52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/>
                        <a:t>출력 데이터 구조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콘솔 출력 문자열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extLst>
                  <a:ext uri="{0D108BD9-81ED-4DB2-BD59-A6C34878D82A}">
                    <a16:rowId xmlns:a16="http://schemas.microsoft.com/office/drawing/2014/main" val="2316527752"/>
                  </a:ext>
                </a:extLst>
              </a:tr>
              <a:tr h="953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/>
                        <a:t>주요 처리 로직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/>
                        <a:t>① 대기열 생성</a:t>
                      </a:r>
                      <a:r>
                        <a:rPr lang="en-US" altLang="ko-KR" sz="800"/>
                        <a:t>Queue&lt;string&gt; waitingLine = new Queue&lt;string&gt;();</a:t>
                      </a:r>
                      <a:r>
                        <a:rPr lang="ko-KR" altLang="en-US" sz="800" b="1"/>
                        <a:t>② 고객 도착 처리</a:t>
                      </a:r>
                      <a:r>
                        <a:rPr lang="en-US" altLang="ko-KR" sz="800"/>
                        <a:t>• Enqueue("</a:t>
                      </a:r>
                      <a:r>
                        <a:rPr lang="ko-KR" altLang="en-US" sz="800"/>
                        <a:t>고객</a:t>
                      </a:r>
                      <a:r>
                        <a:rPr lang="en-US" altLang="ko-KR" sz="800"/>
                        <a:t>1"), Enqueue("</a:t>
                      </a:r>
                      <a:r>
                        <a:rPr lang="ko-KR" altLang="en-US" sz="800"/>
                        <a:t>고객</a:t>
                      </a:r>
                      <a:r>
                        <a:rPr lang="en-US" altLang="ko-KR" sz="800"/>
                        <a:t>2"), Enqueue("</a:t>
                      </a:r>
                      <a:r>
                        <a:rPr lang="ko-KR" altLang="en-US" sz="800"/>
                        <a:t>고객</a:t>
                      </a:r>
                      <a:r>
                        <a:rPr lang="en-US" altLang="ko-KR" sz="800"/>
                        <a:t>3")</a:t>
                      </a:r>
                      <a:r>
                        <a:rPr lang="ko-KR" altLang="en-US" sz="800"/>
                        <a:t> 호출</a:t>
                      </a:r>
                      <a:r>
                        <a:rPr lang="en-US" altLang="ko-KR" sz="800"/>
                        <a:t>• </a:t>
                      </a:r>
                      <a:r>
                        <a:rPr lang="ko-KR" altLang="en-US" sz="800"/>
                        <a:t>큐에 고객이 순서대로 등록</a:t>
                      </a:r>
                      <a:r>
                        <a:rPr lang="ko-KR" altLang="en-US" sz="800" b="1"/>
                        <a:t>③ 현재 대기 인원 표시</a:t>
                      </a:r>
                      <a:r>
                        <a:rPr lang="en-US" altLang="ko-KR" sz="800"/>
                        <a:t>Console.WriteLine($"</a:t>
                      </a:r>
                      <a:r>
                        <a:rPr lang="ko-KR" altLang="en-US" sz="800"/>
                        <a:t>대기 중인 고객</a:t>
                      </a:r>
                      <a:r>
                        <a:rPr lang="en-US" altLang="ko-KR" sz="800"/>
                        <a:t>: {waitingLine.Count}</a:t>
                      </a:r>
                      <a:r>
                        <a:rPr lang="ko-KR" altLang="en-US" sz="800"/>
                        <a:t>명</a:t>
                      </a:r>
                      <a:r>
                        <a:rPr lang="en-US" altLang="ko-KR" sz="800"/>
                        <a:t>");</a:t>
                      </a:r>
                      <a:r>
                        <a:rPr lang="ko-KR" altLang="en-US" sz="800" b="1"/>
                        <a:t>④ 서비스 처리 루프</a:t>
                      </a:r>
                      <a:r>
                        <a:rPr lang="en-US" altLang="ko-KR" sz="800"/>
                        <a:t>while (waitingLine.Count &gt; 0)‣ Dequeue()</a:t>
                      </a:r>
                      <a:r>
                        <a:rPr lang="ko-KR" altLang="en-US" sz="800"/>
                        <a:t>로 첫 번째 고객 호출</a:t>
                      </a:r>
                      <a:r>
                        <a:rPr lang="en-US" altLang="ko-KR" sz="800"/>
                        <a:t>‣ </a:t>
                      </a:r>
                      <a:r>
                        <a:rPr lang="ko-KR" altLang="en-US" sz="800"/>
                        <a:t>서비스 처리 메시지 출력</a:t>
                      </a:r>
                      <a:r>
                        <a:rPr lang="en-US" altLang="ko-KR" sz="800"/>
                        <a:t>‣ </a:t>
                      </a:r>
                      <a:r>
                        <a:rPr lang="ko-KR" altLang="en-US" sz="800"/>
                        <a:t>남은 대기 인원 수 표시</a:t>
                      </a:r>
                      <a:r>
                        <a:rPr lang="ko-KR" altLang="en-US" sz="800" b="1"/>
                        <a:t>⑤ 완료 메시지 출력</a:t>
                      </a:r>
                      <a:r>
                        <a:rPr lang="ko-KR" altLang="en-US" sz="800"/>
                        <a:t>모든 고객이 처리되면 </a:t>
                      </a:r>
                      <a:r>
                        <a:rPr lang="en-US" altLang="ko-KR" sz="800"/>
                        <a:t>"</a:t>
                      </a:r>
                      <a:r>
                        <a:rPr lang="ko-KR" altLang="en-US" sz="800"/>
                        <a:t>모든 고객 서비스 완료</a:t>
                      </a:r>
                      <a:r>
                        <a:rPr lang="en-US" altLang="ko-KR" sz="800"/>
                        <a:t>!"</a:t>
                      </a:r>
                      <a:r>
                        <a:rPr lang="ko-KR" altLang="en-US" sz="800"/>
                        <a:t> 출력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extLst>
                  <a:ext uri="{0D108BD9-81ED-4DB2-BD59-A6C34878D82A}">
                    <a16:rowId xmlns:a16="http://schemas.microsoft.com/office/drawing/2014/main" val="1571153775"/>
                  </a:ext>
                </a:extLst>
              </a:tr>
              <a:tr h="326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/>
                        <a:t>출력 예시 </a:t>
                      </a:r>
                      <a:r>
                        <a:rPr lang="en-US" altLang="ko-KR" sz="800" b="1"/>
                        <a:t>(</a:t>
                      </a:r>
                      <a:r>
                        <a:rPr lang="en-US" sz="800" b="1"/>
                        <a:t>Console)</a:t>
                      </a:r>
                      <a:endParaRPr 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대기 중인 고객</a:t>
                      </a:r>
                      <a:r>
                        <a:rPr lang="en-US" altLang="ko-KR" sz="800"/>
                        <a:t>: 3</a:t>
                      </a:r>
                      <a:r>
                        <a:rPr lang="ko-KR" altLang="en-US" sz="800"/>
                        <a:t>명 고객</a:t>
                      </a:r>
                      <a:r>
                        <a:rPr lang="en-US" altLang="ko-KR" sz="800"/>
                        <a:t>1 </a:t>
                      </a:r>
                      <a:r>
                        <a:rPr lang="ko-KR" altLang="en-US" sz="800"/>
                        <a:t>서비스 중</a:t>
                      </a:r>
                      <a:r>
                        <a:rPr lang="en-US" altLang="ko-KR" sz="800"/>
                        <a:t>... </a:t>
                      </a:r>
                      <a:r>
                        <a:rPr lang="ko-KR" altLang="en-US" sz="800"/>
                        <a:t>남은 대기</a:t>
                      </a:r>
                      <a:r>
                        <a:rPr lang="en-US" altLang="ko-KR" sz="800"/>
                        <a:t>: 2</a:t>
                      </a:r>
                      <a:r>
                        <a:rPr lang="ko-KR" altLang="en-US" sz="800"/>
                        <a:t>명 고객</a:t>
                      </a:r>
                      <a:r>
                        <a:rPr lang="en-US" altLang="ko-KR" sz="800"/>
                        <a:t>2 </a:t>
                      </a:r>
                      <a:r>
                        <a:rPr lang="ko-KR" altLang="en-US" sz="800"/>
                        <a:t>서비스 중</a:t>
                      </a:r>
                      <a:r>
                        <a:rPr lang="en-US" altLang="ko-KR" sz="800"/>
                        <a:t>... </a:t>
                      </a:r>
                      <a:r>
                        <a:rPr lang="ko-KR" altLang="en-US" sz="800"/>
                        <a:t>남은 대기</a:t>
                      </a:r>
                      <a:r>
                        <a:rPr lang="en-US" altLang="ko-KR" sz="800"/>
                        <a:t>: 1</a:t>
                      </a:r>
                      <a:r>
                        <a:rPr lang="ko-KR" altLang="en-US" sz="800"/>
                        <a:t>명 고객</a:t>
                      </a:r>
                      <a:r>
                        <a:rPr lang="en-US" altLang="ko-KR" sz="800"/>
                        <a:t>3 </a:t>
                      </a:r>
                      <a:r>
                        <a:rPr lang="ko-KR" altLang="en-US" sz="800"/>
                        <a:t>서비스 중</a:t>
                      </a:r>
                      <a:r>
                        <a:rPr lang="en-US" altLang="ko-KR" sz="800"/>
                        <a:t>... </a:t>
                      </a:r>
                      <a:r>
                        <a:rPr lang="ko-KR" altLang="en-US" sz="800"/>
                        <a:t>남은 대기</a:t>
                      </a:r>
                      <a:r>
                        <a:rPr lang="en-US" altLang="ko-KR" sz="800"/>
                        <a:t>: 0</a:t>
                      </a:r>
                      <a:r>
                        <a:rPr lang="ko-KR" altLang="en-US" sz="800"/>
                        <a:t>명 모든 고객 서비스 완료</a:t>
                      </a:r>
                      <a:r>
                        <a:rPr lang="en-US" altLang="ko-KR" sz="800"/>
                        <a:t>!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extLst>
                  <a:ext uri="{0D108BD9-81ED-4DB2-BD59-A6C34878D82A}">
                    <a16:rowId xmlns:a16="http://schemas.microsoft.com/office/drawing/2014/main" val="60891129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/>
                        <a:t>예외 처리 </a:t>
                      </a:r>
                      <a:r>
                        <a:rPr lang="en-US" altLang="ko-KR" sz="800" b="1"/>
                        <a:t>/ </a:t>
                      </a:r>
                      <a:r>
                        <a:rPr lang="ko-KR" altLang="en-US" sz="800" b="1"/>
                        <a:t>안정성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/>
                        <a:t>- Queue.Count</a:t>
                      </a:r>
                      <a:r>
                        <a:rPr lang="ko-KR" altLang="en-US" sz="800"/>
                        <a:t>로 안전한 반복 제어</a:t>
                      </a:r>
                      <a:r>
                        <a:rPr lang="en-US" altLang="ko-KR" sz="800"/>
                        <a:t>- </a:t>
                      </a:r>
                      <a:r>
                        <a:rPr lang="ko-KR" altLang="en-US" sz="800"/>
                        <a:t>비어 있는 큐에서 </a:t>
                      </a:r>
                      <a:r>
                        <a:rPr lang="en-US" altLang="ko-KR" sz="800"/>
                        <a:t>Dequeue()</a:t>
                      </a:r>
                      <a:r>
                        <a:rPr lang="ko-KR" altLang="en-US" sz="800"/>
                        <a:t> 시도하지 않음</a:t>
                      </a:r>
                      <a:r>
                        <a:rPr lang="en-US" altLang="ko-KR" sz="800"/>
                        <a:t>- </a:t>
                      </a:r>
                      <a:r>
                        <a:rPr lang="ko-KR" altLang="en-US" sz="800"/>
                        <a:t>프로그램 종료 시 정상 완료 메시지 출력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extLst>
                  <a:ext uri="{0D108BD9-81ED-4DB2-BD59-A6C34878D82A}">
                    <a16:rowId xmlns:a16="http://schemas.microsoft.com/office/drawing/2014/main" val="961040004"/>
                  </a:ext>
                </a:extLst>
              </a:tr>
              <a:tr h="326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/>
                        <a:t>테스트 케이스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✅ 고객이 </a:t>
                      </a:r>
                      <a:r>
                        <a:rPr lang="en-US" altLang="ko-KR" sz="800"/>
                        <a:t>3</a:t>
                      </a:r>
                      <a:r>
                        <a:rPr lang="ko-KR" altLang="en-US" sz="800"/>
                        <a:t>명인 경우 → 순차적으로 </a:t>
                      </a:r>
                      <a:r>
                        <a:rPr lang="en-US" altLang="ko-KR" sz="800"/>
                        <a:t>3</a:t>
                      </a:r>
                      <a:r>
                        <a:rPr lang="ko-KR" altLang="en-US" sz="800"/>
                        <a:t>회 서비스 처리✅ 고객이 </a:t>
                      </a:r>
                      <a:r>
                        <a:rPr lang="en-US" altLang="ko-KR" sz="800"/>
                        <a:t>0</a:t>
                      </a:r>
                      <a:r>
                        <a:rPr lang="ko-KR" altLang="en-US" sz="800"/>
                        <a:t>명인 경우 → “모든 고객 서비스 완료</a:t>
                      </a:r>
                      <a:r>
                        <a:rPr lang="en-US" altLang="ko-KR" sz="800"/>
                        <a:t>!” </a:t>
                      </a:r>
                      <a:r>
                        <a:rPr lang="ko-KR" altLang="en-US" sz="800"/>
                        <a:t>즉시 출력✅ 고객이 추가로 들어오는 경우 → </a:t>
                      </a:r>
                      <a:r>
                        <a:rPr lang="en-US" altLang="ko-KR" sz="800"/>
                        <a:t>Enqueue()</a:t>
                      </a:r>
                      <a:r>
                        <a:rPr lang="ko-KR" altLang="en-US" sz="800"/>
                        <a:t>로 유연히 확장 가능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extLst>
                  <a:ext uri="{0D108BD9-81ED-4DB2-BD59-A6C34878D82A}">
                    <a16:rowId xmlns:a16="http://schemas.microsoft.com/office/drawing/2014/main" val="3593847629"/>
                  </a:ext>
                </a:extLst>
              </a:tr>
              <a:tr h="405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/>
                        <a:t>확장 가능성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/>
                        <a:t>- </a:t>
                      </a:r>
                      <a:r>
                        <a:rPr lang="ko-KR" altLang="en-US" sz="800"/>
                        <a:t>실시간 고객 등록</a:t>
                      </a:r>
                      <a:r>
                        <a:rPr lang="en-US" altLang="ko-KR" sz="800"/>
                        <a:t>(</a:t>
                      </a:r>
                      <a:r>
                        <a:rPr lang="ko-KR" altLang="en-US" sz="800"/>
                        <a:t>사용자 입력 기반 </a:t>
                      </a:r>
                      <a:r>
                        <a:rPr lang="en-US" altLang="ko-KR" sz="800"/>
                        <a:t>Enqueue())- </a:t>
                      </a:r>
                      <a:r>
                        <a:rPr lang="ko-KR" altLang="en-US" sz="800"/>
                        <a:t>서비스 완료 후 고객 기록 보관</a:t>
                      </a:r>
                      <a:r>
                        <a:rPr lang="en-US" altLang="ko-KR" sz="800"/>
                        <a:t>(List</a:t>
                      </a:r>
                      <a:r>
                        <a:rPr lang="ko-KR" altLang="en-US" sz="800"/>
                        <a:t>에 저장</a:t>
                      </a:r>
                      <a:r>
                        <a:rPr lang="en-US" altLang="ko-KR" sz="800"/>
                        <a:t>)- Peek()</a:t>
                      </a:r>
                      <a:r>
                        <a:rPr lang="ko-KR" altLang="en-US" sz="800"/>
                        <a:t> 메서드로 다음 대기 고객 미리보기 기능 추가</a:t>
                      </a:r>
                      <a:r>
                        <a:rPr lang="en-US" altLang="ko-KR" sz="800"/>
                        <a:t>- </a:t>
                      </a:r>
                      <a:r>
                        <a:rPr lang="ko-KR" altLang="en-US" sz="800"/>
                        <a:t>대기 시간 계산 기능 추가</a:t>
                      </a:r>
                      <a:r>
                        <a:rPr lang="en-US" altLang="ko-KR" sz="800"/>
                        <a:t>- </a:t>
                      </a:r>
                      <a:r>
                        <a:rPr lang="ko-KR" altLang="en-US" sz="800"/>
                        <a:t>다중 창구 시스템</a:t>
                      </a:r>
                      <a:r>
                        <a:rPr lang="en-US" altLang="ko-KR" sz="800"/>
                        <a:t>(</a:t>
                      </a:r>
                      <a:r>
                        <a:rPr lang="ko-KR" altLang="en-US" sz="800"/>
                        <a:t>멀티 큐</a:t>
                      </a:r>
                      <a:r>
                        <a:rPr lang="en-US" altLang="ko-KR" sz="800"/>
                        <a:t>)</a:t>
                      </a:r>
                      <a:r>
                        <a:rPr lang="ko-KR" altLang="en-US" sz="800"/>
                        <a:t>으로 확장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extLst>
                  <a:ext uri="{0D108BD9-81ED-4DB2-BD59-A6C34878D82A}">
                    <a16:rowId xmlns:a16="http://schemas.microsoft.com/office/drawing/2014/main" val="2861440671"/>
                  </a:ext>
                </a:extLst>
              </a:tr>
              <a:tr h="91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/>
                        <a:t>작성자 </a:t>
                      </a:r>
                      <a:r>
                        <a:rPr lang="en-US" altLang="ko-KR" sz="800" b="1"/>
                        <a:t>/ </a:t>
                      </a:r>
                      <a:r>
                        <a:rPr lang="ko-KR" altLang="en-US" sz="800" b="1"/>
                        <a:t>버전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작성자</a:t>
                      </a:r>
                      <a:r>
                        <a:rPr lang="en-US" altLang="ko-KR" sz="800"/>
                        <a:t>: </a:t>
                      </a:r>
                      <a:r>
                        <a:rPr lang="ko-KR" altLang="en-US" sz="800"/>
                        <a:t>김대경버전</a:t>
                      </a:r>
                      <a:r>
                        <a:rPr lang="en-US" altLang="ko-KR" sz="800"/>
                        <a:t>: v1.0</a:t>
                      </a:r>
                      <a:r>
                        <a:rPr lang="ko-KR" altLang="en-US" sz="800"/>
                        <a:t>작성일</a:t>
                      </a:r>
                      <a:r>
                        <a:rPr lang="en-US" altLang="ko-KR" sz="800"/>
                        <a:t>: 2025.11.11</a:t>
                      </a:r>
                      <a:endParaRPr lang="en-US" altLang="ko-KR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extLst>
                  <a:ext uri="{0D108BD9-81ED-4DB2-BD59-A6C34878D82A}">
                    <a16:rowId xmlns:a16="http://schemas.microsoft.com/office/drawing/2014/main" val="2353449154"/>
                  </a:ext>
                </a:extLst>
              </a:tr>
              <a:tr h="365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/>
                        <a:t>비고</a:t>
                      </a:r>
                      <a:endParaRPr lang="ko-KR" altLang="en-US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본 실습은 </a:t>
                      </a:r>
                      <a:r>
                        <a:rPr lang="en-US" altLang="ko-KR" sz="800" b="1"/>
                        <a:t>Queue&lt;T&gt;</a:t>
                      </a:r>
                      <a:r>
                        <a:rPr lang="ko-KR" altLang="en-US" sz="800" b="1"/>
                        <a:t> 컬렉션의 선입선출</a:t>
                      </a:r>
                      <a:r>
                        <a:rPr lang="en-US" altLang="ko-KR" sz="800" b="1"/>
                        <a:t>(FIFO)</a:t>
                      </a:r>
                      <a:r>
                        <a:rPr lang="ko-KR" altLang="en-US" sz="800"/>
                        <a:t> 구조를 실무형으로 이해하기 위한 예제로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 b="1"/>
                        <a:t>은행 창구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 b="1"/>
                        <a:t>콜센터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 b="1"/>
                        <a:t>티켓 발권 시스템</a:t>
                      </a:r>
                      <a:r>
                        <a:rPr lang="ko-KR" altLang="en-US" sz="800"/>
                        <a:t> 등 실제 서비스 시나리오의 기본 구조를 구현할 수 있는 기초 학습용 예제</a:t>
                      </a:r>
                      <a:r>
                        <a:rPr lang="en-US" altLang="ko-KR" sz="800"/>
                        <a:t>.</a:t>
                      </a:r>
                      <a:endParaRPr lang="en-US" altLang="ko-KR" sz="8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3067" marR="13067" marT="6534" marB="6534" anchor="ctr"/>
                </a:tc>
                <a:extLst>
                  <a:ext uri="{0D108BD9-81ED-4DB2-BD59-A6C34878D82A}">
                    <a16:rowId xmlns:a16="http://schemas.microsoft.com/office/drawing/2014/main" val="3939895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92656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DF34C-C889-74F6-C196-FE63F1869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2">
            <a:extLst>
              <a:ext uri="{FF2B5EF4-FFF2-40B4-BE49-F238E27FC236}">
                <a16:creationId xmlns:a16="http://schemas.microsoft.com/office/drawing/2014/main" id="{9647EE1D-F9DB-2553-26EB-6410A96FE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1062528-6D7F-AFD8-B874-319CE32557C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00ED828-D8B8-212A-D686-3256C2D387AC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8286D08-9E90-9154-74E8-A396FB9343D7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Queue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3E63B5D-989A-D1D1-A641-EE7B74229231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5AAC746-1DEA-59EA-C9E1-826957DAAACD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실습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6: Queue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활용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고객 </a:t>
            </a:r>
            <a:r>
              <a:rPr lang="ko-KR" altLang="en-US" sz="2400" b="1" dirty="0" err="1">
                <a:latin typeface="MS Reference Sans Serif" panose="020B0604030504040204" pitchFamily="34" charset="0"/>
              </a:rPr>
              <a:t>대기열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WaitingON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7D8349D-3DB2-E20E-8642-8DF45D88E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2" y="2069469"/>
            <a:ext cx="5677705" cy="376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93810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DF34C-C889-74F6-C196-FE63F1869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2">
            <a:extLst>
              <a:ext uri="{FF2B5EF4-FFF2-40B4-BE49-F238E27FC236}">
                <a16:creationId xmlns:a16="http://schemas.microsoft.com/office/drawing/2014/main" id="{9647EE1D-F9DB-2553-26EB-6410A96FE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1062528-6D7F-AFD8-B874-319CE32557C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00ED828-D8B8-212A-D686-3256C2D387AC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8286D08-9E90-9154-74E8-A396FB9343D7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Queue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3E63B5D-989A-D1D1-A641-EE7B74229231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5AAC746-1DEA-59EA-C9E1-826957DAAACD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실습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6: Queue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활용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고객 </a:t>
            </a:r>
            <a:r>
              <a:rPr lang="ko-KR" altLang="en-US" sz="2400" b="1" dirty="0" err="1">
                <a:latin typeface="MS Reference Sans Serif" panose="020B0604030504040204" pitchFamily="34" charset="0"/>
              </a:rPr>
              <a:t>대기열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WaitingON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A8A91-03E7-3D5B-2748-57E9C08F2FAE}"/>
              </a:ext>
            </a:extLst>
          </p:cNvPr>
          <p:cNvSpPr txBox="1"/>
          <p:nvPr/>
        </p:nvSpPr>
        <p:spPr>
          <a:xfrm>
            <a:off x="281800" y="2063292"/>
            <a:ext cx="831355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 err="1">
                <a:latin typeface="MS Reference Sans Serif" panose="020B0604030504040204" pitchFamily="34" charset="0"/>
              </a:rPr>
              <a:t>using</a:t>
            </a:r>
            <a:r>
              <a:rPr lang="ko-KR" altLang="en-US" sz="1000" dirty="0">
                <a:latin typeface="MS Reference Sans Serif" panose="020B0604030504040204" pitchFamily="34" charset="0"/>
              </a:rPr>
              <a:t>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System.Collections.Generic</a:t>
            </a:r>
            <a:r>
              <a:rPr lang="ko-KR" altLang="en-US" sz="1000" dirty="0">
                <a:latin typeface="MS Reference Sans Serif" panose="020B0604030504040204" pitchFamily="34" charset="0"/>
              </a:rPr>
              <a:t>;</a:t>
            </a:r>
          </a:p>
          <a:p>
            <a:r>
              <a:rPr lang="ko-KR" altLang="en-US" sz="1000" dirty="0" err="1">
                <a:latin typeface="MS Reference Sans Serif" panose="020B0604030504040204" pitchFamily="34" charset="0"/>
              </a:rPr>
              <a:t>using</a:t>
            </a:r>
            <a:r>
              <a:rPr lang="ko-KR" altLang="en-US" sz="1000" dirty="0">
                <a:latin typeface="MS Reference Sans Serif" panose="020B0604030504040204" pitchFamily="34" charset="0"/>
              </a:rPr>
              <a:t> System;</a:t>
            </a:r>
          </a:p>
          <a:p>
            <a:endParaRPr lang="ko-KR" altLang="en-US" sz="1000" dirty="0">
              <a:latin typeface="MS Reference Sans Serif" panose="020B0604030504040204" pitchFamily="34" charset="0"/>
            </a:endParaRPr>
          </a:p>
          <a:p>
            <a:r>
              <a:rPr lang="ko-KR" altLang="en-US" sz="1000" dirty="0" err="1">
                <a:latin typeface="MS Reference Sans Serif" panose="020B0604030504040204" pitchFamily="34" charset="0"/>
              </a:rPr>
              <a:t>namespace</a:t>
            </a:r>
            <a:r>
              <a:rPr lang="ko-KR" altLang="en-US" sz="1000" dirty="0">
                <a:latin typeface="MS Reference Sans Serif" panose="020B0604030504040204" pitchFamily="34" charset="0"/>
              </a:rPr>
              <a:t>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WaitingON</a:t>
            </a:r>
            <a:endParaRPr lang="ko-KR" altLang="en-US" sz="1000" dirty="0">
              <a:latin typeface="MS Reference Sans Serif" panose="020B0604030504040204" pitchFamily="34" charset="0"/>
            </a:endParaRP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internal</a:t>
            </a:r>
            <a:r>
              <a:rPr lang="ko-KR" altLang="en-US" sz="1000" dirty="0">
                <a:latin typeface="MS Reference Sans Serif" panose="020B0604030504040204" pitchFamily="34" charset="0"/>
              </a:rPr>
              <a:t>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class</a:t>
            </a:r>
            <a:r>
              <a:rPr lang="ko-KR" altLang="en-US" sz="1000" dirty="0">
                <a:latin typeface="MS Reference Sans Serif" panose="020B0604030504040204" pitchFamily="34" charset="0"/>
              </a:rPr>
              <a:t>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MainApp</a:t>
            </a:r>
            <a:endParaRPr lang="ko-KR" altLang="en-US" sz="1000" dirty="0">
              <a:latin typeface="MS Reference Sans Serif" panose="020B0604030504040204" pitchFamily="34" charset="0"/>
            </a:endParaRP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static</a:t>
            </a:r>
            <a:r>
              <a:rPr lang="ko-KR" altLang="en-US" sz="1000" dirty="0">
                <a:latin typeface="MS Reference Sans Serif" panose="020B0604030504040204" pitchFamily="34" charset="0"/>
              </a:rPr>
              <a:t>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void</a:t>
            </a:r>
            <a:r>
              <a:rPr lang="ko-KR" altLang="en-US" sz="1000" dirty="0">
                <a:latin typeface="MS Reference Sans Serif" panose="020B0604030504040204" pitchFamily="34" charset="0"/>
              </a:rPr>
              <a:t>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Main</a:t>
            </a:r>
            <a:r>
              <a:rPr lang="ko-KR" altLang="en-US" sz="1000" dirty="0">
                <a:latin typeface="MS Reference Sans Serif" panose="020B0604030504040204" pitchFamily="34" charset="0"/>
              </a:rPr>
              <a:t>(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string</a:t>
            </a:r>
            <a:r>
              <a:rPr lang="ko-KR" altLang="en-US" sz="1000" dirty="0">
                <a:latin typeface="MS Reference Sans Serif" panose="020B0604030504040204" pitchFamily="34" charset="0"/>
              </a:rPr>
              <a:t>[]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args</a:t>
            </a:r>
            <a:r>
              <a:rPr lang="ko-KR" altLang="en-US" sz="1000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Queue</a:t>
            </a:r>
            <a:r>
              <a:rPr lang="ko-KR" altLang="en-US" sz="1000" dirty="0">
                <a:latin typeface="MS Reference Sans Serif" panose="020B0604030504040204" pitchFamily="34" charset="0"/>
              </a:rPr>
              <a:t>&lt;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string</a:t>
            </a:r>
            <a:r>
              <a:rPr lang="ko-KR" altLang="en-US" sz="1000" dirty="0">
                <a:latin typeface="MS Reference Sans Serif" panose="020B0604030504040204" pitchFamily="34" charset="0"/>
              </a:rPr>
              <a:t>&gt;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waitingLine</a:t>
            </a:r>
            <a:r>
              <a:rPr lang="ko-KR" altLang="en-US" sz="1000" dirty="0">
                <a:latin typeface="MS Reference Sans Serif" panose="020B0604030504040204" pitchFamily="34" charset="0"/>
              </a:rPr>
              <a:t> =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new</a:t>
            </a:r>
            <a:r>
              <a:rPr lang="ko-KR" altLang="en-US" sz="1000" dirty="0">
                <a:latin typeface="MS Reference Sans Serif" panose="020B0604030504040204" pitchFamily="34" charset="0"/>
              </a:rPr>
              <a:t>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Queue</a:t>
            </a:r>
            <a:r>
              <a:rPr lang="ko-KR" altLang="en-US" sz="1000" dirty="0">
                <a:latin typeface="MS Reference Sans Serif" panose="020B0604030504040204" pitchFamily="34" charset="0"/>
              </a:rPr>
              <a:t>&lt;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string</a:t>
            </a:r>
            <a:r>
              <a:rPr lang="ko-KR" altLang="en-US" sz="1000" dirty="0">
                <a:latin typeface="MS Reference Sans Serif" panose="020B0604030504040204" pitchFamily="34" charset="0"/>
              </a:rPr>
              <a:t>&gt;();</a:t>
            </a:r>
          </a:p>
          <a:p>
            <a:endParaRPr lang="ko-KR" altLang="en-US" sz="1000" dirty="0">
              <a:latin typeface="MS Reference Sans Serif" panose="020B0604030504040204" pitchFamily="34" charset="0"/>
            </a:endParaRP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    // 고객 도착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waitingLine.Enqueue</a:t>
            </a:r>
            <a:r>
              <a:rPr lang="ko-KR" altLang="en-US" sz="1000" dirty="0">
                <a:latin typeface="MS Reference Sans Serif" panose="020B0604030504040204" pitchFamily="34" charset="0"/>
              </a:rPr>
              <a:t>("고객1");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waitingLine.Enqueue</a:t>
            </a:r>
            <a:r>
              <a:rPr lang="ko-KR" altLang="en-US" sz="1000" dirty="0">
                <a:latin typeface="MS Reference Sans Serif" panose="020B0604030504040204" pitchFamily="34" charset="0"/>
              </a:rPr>
              <a:t>("고객2");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waitingLine.Enqueue</a:t>
            </a:r>
            <a:r>
              <a:rPr lang="ko-KR" altLang="en-US" sz="1000" dirty="0">
                <a:latin typeface="MS Reference Sans Serif" panose="020B0604030504040204" pitchFamily="34" charset="0"/>
              </a:rPr>
              <a:t>("고객3");</a:t>
            </a:r>
          </a:p>
          <a:p>
            <a:endParaRPr lang="ko-KR" altLang="en-US" sz="1000" dirty="0">
              <a:latin typeface="MS Reference Sans Serif" panose="020B0604030504040204" pitchFamily="34" charset="0"/>
            </a:endParaRP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Console.WriteLine</a:t>
            </a:r>
            <a:r>
              <a:rPr lang="ko-KR" altLang="en-US" sz="1000" dirty="0">
                <a:latin typeface="MS Reference Sans Serif" panose="020B0604030504040204" pitchFamily="34" charset="0"/>
              </a:rPr>
              <a:t>($"대기 중인 고객: {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waitingLine.Count</a:t>
            </a:r>
            <a:r>
              <a:rPr lang="ko-KR" altLang="en-US" sz="1000" dirty="0">
                <a:latin typeface="MS Reference Sans Serif" panose="020B0604030504040204" pitchFamily="34" charset="0"/>
              </a:rPr>
              <a:t>}명\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n</a:t>
            </a:r>
            <a:r>
              <a:rPr lang="ko-KR" altLang="en-US" sz="1000" dirty="0">
                <a:latin typeface="MS Reference Sans Serif" panose="020B0604030504040204" pitchFamily="34" charset="0"/>
              </a:rPr>
              <a:t>");</a:t>
            </a:r>
          </a:p>
          <a:p>
            <a:endParaRPr lang="ko-KR" altLang="en-US" sz="1000" dirty="0">
              <a:latin typeface="MS Reference Sans Serif" panose="020B0604030504040204" pitchFamily="34" charset="0"/>
            </a:endParaRP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    // 고객 서비스 처리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while</a:t>
            </a:r>
            <a:r>
              <a:rPr lang="ko-KR" altLang="en-US" sz="1000" dirty="0">
                <a:latin typeface="MS Reference Sans Serif" panose="020B0604030504040204" pitchFamily="34" charset="0"/>
              </a:rPr>
              <a:t> (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waitingLine.Count</a:t>
            </a:r>
            <a:r>
              <a:rPr lang="ko-KR" altLang="en-US" sz="1000" dirty="0">
                <a:latin typeface="MS Reference Sans Serif" panose="020B0604030504040204" pitchFamily="34" charset="0"/>
              </a:rPr>
              <a:t> &gt; 0)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       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string</a:t>
            </a:r>
            <a:r>
              <a:rPr lang="ko-KR" altLang="en-US" sz="1000" dirty="0">
                <a:latin typeface="MS Reference Sans Serif" panose="020B0604030504040204" pitchFamily="34" charset="0"/>
              </a:rPr>
              <a:t>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customer</a:t>
            </a:r>
            <a:r>
              <a:rPr lang="ko-KR" altLang="en-US" sz="1000" dirty="0">
                <a:latin typeface="MS Reference Sans Serif" panose="020B0604030504040204" pitchFamily="34" charset="0"/>
              </a:rPr>
              <a:t> =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waitingLine.Dequeue</a:t>
            </a:r>
            <a:r>
              <a:rPr lang="ko-KR" altLang="en-US" sz="1000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       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Console.WriteLine</a:t>
            </a:r>
            <a:r>
              <a:rPr lang="ko-KR" altLang="en-US" sz="1000" dirty="0">
                <a:latin typeface="MS Reference Sans Serif" panose="020B0604030504040204" pitchFamily="34" charset="0"/>
              </a:rPr>
              <a:t>($"{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customer</a:t>
            </a:r>
            <a:r>
              <a:rPr lang="ko-KR" altLang="en-US" sz="1000" dirty="0">
                <a:latin typeface="MS Reference Sans Serif" panose="020B0604030504040204" pitchFamily="34" charset="0"/>
              </a:rPr>
              <a:t>} 서비스 중...");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       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Console.WriteLine</a:t>
            </a:r>
            <a:r>
              <a:rPr lang="ko-KR" altLang="en-US" sz="1000" dirty="0">
                <a:latin typeface="MS Reference Sans Serif" panose="020B0604030504040204" pitchFamily="34" charset="0"/>
              </a:rPr>
              <a:t>($"남은 대기: {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waitingLine.Count</a:t>
            </a:r>
            <a:r>
              <a:rPr lang="ko-KR" altLang="en-US" sz="1000" dirty="0">
                <a:latin typeface="MS Reference Sans Serif" panose="020B0604030504040204" pitchFamily="34" charset="0"/>
              </a:rPr>
              <a:t>}명\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n</a:t>
            </a:r>
            <a:r>
              <a:rPr lang="ko-KR" altLang="en-US" sz="1000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    }</a:t>
            </a:r>
          </a:p>
          <a:p>
            <a:endParaRPr lang="ko-KR" altLang="en-US" sz="1000" dirty="0">
              <a:latin typeface="MS Reference Sans Serif" panose="020B0604030504040204" pitchFamily="34" charset="0"/>
            </a:endParaRP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1000" dirty="0" err="1">
                <a:latin typeface="MS Reference Sans Serif" panose="020B0604030504040204" pitchFamily="34" charset="0"/>
              </a:rPr>
              <a:t>Console.WriteLine</a:t>
            </a:r>
            <a:r>
              <a:rPr lang="ko-KR" altLang="en-US" sz="1000" dirty="0">
                <a:latin typeface="MS Reference Sans Serif" panose="020B0604030504040204" pitchFamily="34" charset="0"/>
              </a:rPr>
              <a:t>("모든 고객 서비스 완료!");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ko-KR" altLang="en-US" sz="1000" dirty="0">
                <a:latin typeface="MS Reference Sans Serif" panose="020B0604030504040204" pitchFamily="34" charset="0"/>
              </a:rPr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1719E3-D782-9F42-8454-CEC3DA626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623" y="4417782"/>
            <a:ext cx="2000529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14095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B01AA-ACDF-3E46-A76D-9E0EA27F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2">
            <a:extLst>
              <a:ext uri="{FF2B5EF4-FFF2-40B4-BE49-F238E27FC236}">
                <a16:creationId xmlns:a16="http://schemas.microsoft.com/office/drawing/2014/main" id="{7AB37E14-0F16-C4D1-A7F8-20EDD0FDC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57C1647-9625-17B0-DFC9-6F54F22DEB22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DC6F777-5001-02CE-8897-1C325BB72F7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E86B306-D0E7-DB67-23C6-A58AFD06267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Queue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DED6F1E-19C1-CF76-5CD4-67530288C526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A43E19D-846B-C405-711E-9BE728D0DDC7}"/>
              </a:ext>
            </a:extLst>
          </p:cNvPr>
          <p:cNvSpPr txBox="1"/>
          <p:nvPr/>
        </p:nvSpPr>
        <p:spPr>
          <a:xfrm>
            <a:off x="224290" y="1526876"/>
            <a:ext cx="858448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MS Reference Sans Serif" panose="020B0604030504040204" pitchFamily="34" charset="0"/>
              </a:rPr>
              <a:t>PRD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를 대신한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TODO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형식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…</a:t>
            </a:r>
          </a:p>
          <a:p>
            <a:endParaRPr lang="en-US" altLang="ko-KR" sz="2400" b="1" dirty="0">
              <a:latin typeface="MS Reference Sans Serif" panose="020B0604030504040204" pitchFamily="34" charset="0"/>
            </a:endParaRPr>
          </a:p>
          <a:p>
            <a:r>
              <a:rPr lang="en-US" altLang="ko-KR" sz="1600" b="1" dirty="0">
                <a:latin typeface="MS Reference Sans Serif" panose="020B0604030504040204" pitchFamily="34" charset="0"/>
              </a:rPr>
              <a:t>TODO 1: 5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개의 문서를 대기열에 추가</a:t>
            </a:r>
          </a:p>
          <a:p>
            <a:r>
              <a:rPr lang="ko-KR" altLang="en-US" sz="16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(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예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: "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문서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1.pdf", "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문서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2.docx"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등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6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600" b="1" dirty="0">
                <a:latin typeface="MS Reference Sans Serif" panose="020B0604030504040204" pitchFamily="34" charset="0"/>
              </a:rPr>
              <a:t>TODO 2: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대기열의 총 문서 수 출력</a:t>
            </a:r>
          </a:p>
          <a:p>
            <a:r>
              <a:rPr lang="ko-KR" altLang="en-US" sz="16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600" b="1" dirty="0">
                <a:latin typeface="MS Reference Sans Serif" panose="020B0604030504040204" pitchFamily="34" charset="0"/>
              </a:rPr>
              <a:t>TODO 3: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맨 앞 문서 확인 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(Peek)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후 출력</a:t>
            </a:r>
          </a:p>
          <a:p>
            <a:r>
              <a:rPr lang="ko-KR" altLang="en-US" sz="16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600" b="1" dirty="0">
                <a:latin typeface="MS Reference Sans Serif" panose="020B0604030504040204" pitchFamily="34" charset="0"/>
              </a:rPr>
              <a:t>TODO 4: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문서를 하나씩 출력 처리</a:t>
            </a:r>
          </a:p>
          <a:p>
            <a:r>
              <a:rPr lang="ko-KR" altLang="en-US" sz="16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Dequeue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를 사용하여 제거하며 진행 상황 표시</a:t>
            </a:r>
          </a:p>
          <a:p>
            <a:r>
              <a:rPr lang="ko-KR" altLang="en-US" sz="16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ko-KR" altLang="en-US" sz="1600" b="1" dirty="0">
                <a:latin typeface="MS Reference Sans Serif" panose="020B0604030504040204" pitchFamily="34" charset="0"/>
              </a:rPr>
              <a:t>예상 출력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:</a:t>
            </a:r>
          </a:p>
          <a:p>
            <a:r>
              <a:rPr lang="ko-KR" altLang="en-US" sz="1600" b="1" dirty="0">
                <a:latin typeface="MS Reference Sans Serif" panose="020B0604030504040204" pitchFamily="34" charset="0"/>
              </a:rPr>
              <a:t>대기 중인 문서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: 5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개</a:t>
            </a:r>
          </a:p>
          <a:p>
            <a:r>
              <a:rPr lang="ko-KR" altLang="en-US" sz="1600" b="1" dirty="0">
                <a:latin typeface="MS Reference Sans Serif" panose="020B0604030504040204" pitchFamily="34" charset="0"/>
              </a:rPr>
              <a:t>다음 출력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: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문서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1.pdf</a:t>
            </a:r>
          </a:p>
          <a:p>
            <a:r>
              <a:rPr lang="ko-KR" altLang="en-US" sz="1600" b="1" dirty="0">
                <a:latin typeface="MS Reference Sans Serif" panose="020B0604030504040204" pitchFamily="34" charset="0"/>
              </a:rPr>
              <a:t>출력 중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: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문서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1.pdf (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남은 문서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: 4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개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ko-KR" altLang="en-US" sz="1600" b="1" dirty="0">
                <a:latin typeface="MS Reference Sans Serif" panose="020B0604030504040204" pitchFamily="34" charset="0"/>
              </a:rPr>
              <a:t>출력 중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: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문서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2.docx (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남은 문서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: 3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개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600" b="1" dirty="0">
                <a:latin typeface="MS Reference Sans Serif" panose="020B0604030504040204" pitchFamily="34" charset="0"/>
              </a:rPr>
              <a:t>...</a:t>
            </a:r>
          </a:p>
          <a:p>
            <a:r>
              <a:rPr lang="ko-KR" altLang="en-US" sz="1600" b="1" dirty="0">
                <a:latin typeface="MS Reference Sans Serif" panose="020B0604030504040204" pitchFamily="34" charset="0"/>
              </a:rPr>
              <a:t>모든 문서 출력 완료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24747923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B01AA-ACDF-3E46-A76D-9E0EA27F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2">
            <a:extLst>
              <a:ext uri="{FF2B5EF4-FFF2-40B4-BE49-F238E27FC236}">
                <a16:creationId xmlns:a16="http://schemas.microsoft.com/office/drawing/2014/main" id="{7AB37E14-0F16-C4D1-A7F8-20EDD0FDC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57C1647-9625-17B0-DFC9-6F54F22DEB22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DC6F777-5001-02CE-8897-1C325BB72F7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E86B306-D0E7-DB67-23C6-A58AFD06267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Queue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DED6F1E-19C1-CF76-5CD4-67530288C526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A43E19D-846B-C405-711E-9BE728D0DDC7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실습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7: Queue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활용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프린터 출력 </a:t>
            </a:r>
            <a:r>
              <a:rPr lang="ko-KR" altLang="en-US" sz="2400" b="1" dirty="0" err="1">
                <a:latin typeface="MS Reference Sans Serif" panose="020B0604030504040204" pitchFamily="34" charset="0"/>
              </a:rPr>
              <a:t>대기열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 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Qprint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C7AB72-2B57-B1DD-F3AA-F6C527D71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01" y="2220881"/>
            <a:ext cx="5677705" cy="370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2337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B01AA-ACDF-3E46-A76D-9E0EA27F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2">
            <a:extLst>
              <a:ext uri="{FF2B5EF4-FFF2-40B4-BE49-F238E27FC236}">
                <a16:creationId xmlns:a16="http://schemas.microsoft.com/office/drawing/2014/main" id="{7AB37E14-0F16-C4D1-A7F8-20EDD0FDC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57C1647-9625-17B0-DFC9-6F54F22DEB22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DC6F777-5001-02CE-8897-1C325BB72F7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E86B306-D0E7-DB67-23C6-A58AFD06267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Queue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DED6F1E-19C1-CF76-5CD4-67530288C526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A43E19D-846B-C405-711E-9BE728D0DDC7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실습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7: Queue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활용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프린터 출력 </a:t>
            </a:r>
            <a:r>
              <a:rPr lang="ko-KR" altLang="en-US" sz="2400" b="1" dirty="0" err="1">
                <a:latin typeface="MS Reference Sans Serif" panose="020B0604030504040204" pitchFamily="34" charset="0"/>
              </a:rPr>
              <a:t>대기열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 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Qprint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A407E7-A6DA-39FF-3ADA-AE862536DEE9}"/>
              </a:ext>
            </a:extLst>
          </p:cNvPr>
          <p:cNvSpPr txBox="1"/>
          <p:nvPr/>
        </p:nvSpPr>
        <p:spPr>
          <a:xfrm>
            <a:off x="335222" y="2064741"/>
            <a:ext cx="85844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1" dirty="0" err="1">
                <a:latin typeface="MS Reference Sans Serif" panose="020B0604030504040204" pitchFamily="34" charset="0"/>
              </a:rPr>
              <a:t>using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System.Collections.Generic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;</a:t>
            </a:r>
          </a:p>
          <a:p>
            <a:r>
              <a:rPr lang="ko-KR" altLang="en-US" sz="900" b="1" dirty="0" err="1">
                <a:latin typeface="MS Reference Sans Serif" panose="020B0604030504040204" pitchFamily="34" charset="0"/>
              </a:rPr>
              <a:t>using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 System;</a:t>
            </a:r>
          </a:p>
          <a:p>
            <a:endParaRPr lang="ko-KR" altLang="en-US" sz="900" b="1" dirty="0">
              <a:latin typeface="MS Reference Sans Serif" panose="020B0604030504040204" pitchFamily="34" charset="0"/>
            </a:endParaRPr>
          </a:p>
          <a:p>
            <a:r>
              <a:rPr lang="ko-KR" altLang="en-US" sz="900" b="1" dirty="0" err="1">
                <a:latin typeface="MS Reference Sans Serif" panose="020B0604030504040204" pitchFamily="34" charset="0"/>
              </a:rPr>
              <a:t>namespace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QPrint</a:t>
            </a:r>
            <a:endParaRPr lang="ko-KR" altLang="en-US" sz="900" b="1" dirty="0">
              <a:latin typeface="MS Reference Sans Serif" panose="020B0604030504040204" pitchFamily="34" charset="0"/>
            </a:endParaRP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internal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class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MainApp</a:t>
            </a:r>
            <a:endParaRPr lang="ko-KR" altLang="en-US" sz="900" b="1" dirty="0">
              <a:latin typeface="MS Reference Sans Serif" panose="020B0604030504040204" pitchFamily="34" charset="0"/>
            </a:endParaRP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static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void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Main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(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string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[]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args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Queue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&lt;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string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&gt;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printQueue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 =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new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Queue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&lt;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string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&gt;();</a:t>
            </a:r>
          </a:p>
          <a:p>
            <a:endParaRPr lang="ko-KR" altLang="en-US" sz="900" b="1" dirty="0">
              <a:latin typeface="MS Reference Sans Serif" panose="020B0604030504040204" pitchFamily="34" charset="0"/>
            </a:endParaRP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// 문서 추가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printQueue.Enqueue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("문서1.pdf");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printQueue.Enqueue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("문서2.docx");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printQueue.Enqueue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("문서3.xlsx");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printQueue.Enqueue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("문서4.pptx");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printQueue.Enqueue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("문서5.txt");</a:t>
            </a:r>
          </a:p>
          <a:p>
            <a:endParaRPr lang="ko-KR" altLang="en-US" sz="900" b="1" dirty="0">
              <a:latin typeface="MS Reference Sans Serif" panose="020B0604030504040204" pitchFamily="34" charset="0"/>
            </a:endParaRP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($"대기 중인 문서: {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printQueue.Count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}개");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($"다음 출력: {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printQueue.Peek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()}\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n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");</a:t>
            </a:r>
          </a:p>
          <a:p>
            <a:endParaRPr lang="ko-KR" altLang="en-US" sz="900" b="1" dirty="0">
              <a:latin typeface="MS Reference Sans Serif" panose="020B0604030504040204" pitchFamily="34" charset="0"/>
            </a:endParaRP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while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 (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printQueue.Count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 &gt; 0)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   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string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doc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 =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printQueue.Dequeue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   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($"출력 중: {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doc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} (남은 문서: {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printQueue.Count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}개)");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   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System.Threading.Thread.Sleep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(500);  // 출력 시뮬레이션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}</a:t>
            </a:r>
          </a:p>
          <a:p>
            <a:endParaRPr lang="ko-KR" altLang="en-US" sz="900" b="1" dirty="0">
              <a:latin typeface="MS Reference Sans Serif" panose="020B0604030504040204" pitchFamily="34" charset="0"/>
            </a:endParaRP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    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("\</a:t>
            </a:r>
            <a:r>
              <a:rPr lang="ko-KR" altLang="en-US" sz="900" b="1" dirty="0" err="1">
                <a:latin typeface="MS Reference Sans Serif" panose="020B0604030504040204" pitchFamily="34" charset="0"/>
              </a:rPr>
              <a:t>n모든</a:t>
            </a:r>
            <a:r>
              <a:rPr lang="ko-KR" altLang="en-US" sz="900" b="1" dirty="0">
                <a:latin typeface="MS Reference Sans Serif" panose="020B0604030504040204" pitchFamily="34" charset="0"/>
              </a:rPr>
              <a:t> 문서 출력 완료!");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ko-KR" altLang="en-US" sz="900" b="1" dirty="0">
                <a:latin typeface="MS Reference Sans Serif" panose="020B0604030504040204" pitchFamily="34" charset="0"/>
              </a:rPr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C10102A-B8E3-CAB6-B683-0EE407C0D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774" y="4549965"/>
            <a:ext cx="3077004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99627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0;p14">
            <a:extLst>
              <a:ext uri="{FF2B5EF4-FFF2-40B4-BE49-F238E27FC236}">
                <a16:creationId xmlns:a16="http://schemas.microsoft.com/office/drawing/2014/main" id="{4D78B6F0-7D80-4D66-A24E-64B032C561B3}"/>
              </a:ext>
            </a:extLst>
          </p:cNvPr>
          <p:cNvSpPr txBox="1">
            <a:spLocks/>
          </p:cNvSpPr>
          <p:nvPr/>
        </p:nvSpPr>
        <p:spPr>
          <a:xfrm>
            <a:off x="885826" y="1684631"/>
            <a:ext cx="7190555" cy="2104414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>
              <a:solidFill>
                <a:schemeClr val="dk1"/>
              </a:solidFill>
              <a:latin typeface="MS Reference Sans Serif" panose="020B0604030504040204" pitchFamily="34" charset="0"/>
            </a:endParaRPr>
          </a:p>
          <a:p>
            <a:r>
              <a:rPr lang="ko-KR" altLang="en-US" sz="2000" dirty="0" err="1">
                <a:solidFill>
                  <a:srgbClr val="000000"/>
                </a:solidFill>
                <a:latin typeface="MS Reference Sans Serif" panose="020B0604030504040204" pitchFamily="34" charset="0"/>
              </a:rPr>
              <a:t>선입후출</a:t>
            </a:r>
            <a:r>
              <a:rPr lang="en-US" altLang="ko-KR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(FILO : First In Last Out)</a:t>
            </a:r>
            <a:r>
              <a:rPr lang="ko-KR" altLang="en-US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 구조의 자료구조</a:t>
            </a:r>
            <a:endParaRPr lang="en-US" altLang="ko-KR" sz="20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r>
              <a:rPr lang="ko-KR" altLang="en-US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데이터를 입력하는 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Push()</a:t>
            </a:r>
            <a:r>
              <a:rPr lang="en-US" altLang="ko-KR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출력하는 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Pop()</a:t>
            </a:r>
            <a:r>
              <a:rPr lang="en-US" altLang="ko-KR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메소드 제공</a:t>
            </a:r>
            <a:endParaRPr lang="en-US" altLang="ko-KR" sz="20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6F9E06-940B-4889-A020-C659AEA964C6}"/>
              </a:ext>
            </a:extLst>
          </p:cNvPr>
          <p:cNvSpPr/>
          <p:nvPr/>
        </p:nvSpPr>
        <p:spPr>
          <a:xfrm>
            <a:off x="885825" y="3269671"/>
            <a:ext cx="7621178" cy="22494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en-US" altLang="ko-KR" sz="1050" dirty="0">
                <a:latin typeface="MS Reference Sans Serif" panose="020B0604030504040204" pitchFamily="34" charset="0"/>
              </a:rPr>
              <a:t>Stack </a:t>
            </a:r>
            <a:r>
              <a:rPr lang="en-US" altLang="ko-KR" sz="1050" dirty="0" err="1">
                <a:latin typeface="MS Reference Sans Serif" panose="020B0604030504040204" pitchFamily="34" charset="0"/>
              </a:rPr>
              <a:t>stack</a:t>
            </a:r>
            <a:r>
              <a:rPr lang="en-US" altLang="ko-KR" sz="1050" dirty="0">
                <a:latin typeface="MS Reference Sans Serif" panose="020B0604030504040204" pitchFamily="34" charset="0"/>
              </a:rPr>
              <a:t> = new Stack();</a:t>
            </a:r>
            <a:endParaRPr lang="ko-KR" altLang="ko-KR" sz="1050" dirty="0">
              <a:latin typeface="MS Reference Sans Serif" panose="020B0604030504040204" pitchFamily="34" charset="0"/>
            </a:endParaRPr>
          </a:p>
          <a:p>
            <a:r>
              <a:rPr lang="en-US" altLang="ko-KR" sz="1050" dirty="0" err="1">
                <a:latin typeface="MS Reference Sans Serif" panose="020B0604030504040204" pitchFamily="34" charset="0"/>
              </a:rPr>
              <a:t>stack.</a:t>
            </a:r>
            <a:r>
              <a:rPr lang="en-US" altLang="ko-KR" sz="1050" dirty="0" err="1">
                <a:highlight>
                  <a:srgbClr val="FFCD00"/>
                </a:highlight>
                <a:latin typeface="MS Reference Sans Serif" panose="020B0604030504040204" pitchFamily="34" charset="0"/>
              </a:rPr>
              <a:t>Push</a:t>
            </a:r>
            <a:r>
              <a:rPr lang="en-US" altLang="ko-KR" sz="1050" dirty="0">
                <a:latin typeface="MS Reference Sans Serif" panose="020B0604030504040204" pitchFamily="34" charset="0"/>
              </a:rPr>
              <a:t>( 1 ); // </a:t>
            </a:r>
            <a:r>
              <a:rPr lang="ko-KR" altLang="ko-KR" sz="1050" dirty="0">
                <a:latin typeface="MS Reference Sans Serif" panose="020B0604030504040204" pitchFamily="34" charset="0"/>
              </a:rPr>
              <a:t>최상위 데이터는</a:t>
            </a:r>
            <a:r>
              <a:rPr lang="en-US" altLang="ko-KR" sz="1050" dirty="0">
                <a:latin typeface="MS Reference Sans Serif" panose="020B0604030504040204" pitchFamily="34" charset="0"/>
              </a:rPr>
              <a:t> 1</a:t>
            </a:r>
            <a:endParaRPr lang="ko-KR" altLang="ko-KR" sz="1050" dirty="0">
              <a:latin typeface="MS Reference Sans Serif" panose="020B0604030504040204" pitchFamily="34" charset="0"/>
            </a:endParaRPr>
          </a:p>
          <a:p>
            <a:r>
              <a:rPr lang="en-US" altLang="ko-KR" sz="1050" dirty="0" err="1">
                <a:latin typeface="MS Reference Sans Serif" panose="020B0604030504040204" pitchFamily="34" charset="0"/>
              </a:rPr>
              <a:t>stack.</a:t>
            </a:r>
            <a:r>
              <a:rPr lang="en-US" altLang="ko-KR" sz="1050" dirty="0" err="1">
                <a:highlight>
                  <a:srgbClr val="FFCD00"/>
                </a:highlight>
                <a:latin typeface="MS Reference Sans Serif" panose="020B0604030504040204" pitchFamily="34" charset="0"/>
              </a:rPr>
              <a:t>Push</a:t>
            </a:r>
            <a:r>
              <a:rPr lang="en-US" altLang="ko-KR" sz="1050" dirty="0">
                <a:latin typeface="MS Reference Sans Serif" panose="020B0604030504040204" pitchFamily="34" charset="0"/>
              </a:rPr>
              <a:t>( 2 ); // </a:t>
            </a:r>
            <a:r>
              <a:rPr lang="ko-KR" altLang="ko-KR" sz="1050" dirty="0">
                <a:latin typeface="MS Reference Sans Serif" panose="020B0604030504040204" pitchFamily="34" charset="0"/>
              </a:rPr>
              <a:t>최상위 데이터는</a:t>
            </a:r>
            <a:r>
              <a:rPr lang="en-US" altLang="ko-KR" sz="1050" dirty="0">
                <a:latin typeface="MS Reference Sans Serif" panose="020B0604030504040204" pitchFamily="34" charset="0"/>
              </a:rPr>
              <a:t> 2</a:t>
            </a:r>
            <a:endParaRPr lang="ko-KR" altLang="ko-KR" sz="1050" dirty="0">
              <a:latin typeface="MS Reference Sans Serif" panose="020B0604030504040204" pitchFamily="34" charset="0"/>
            </a:endParaRPr>
          </a:p>
          <a:p>
            <a:r>
              <a:rPr lang="en-US" altLang="ko-KR" sz="1050" dirty="0" err="1">
                <a:latin typeface="MS Reference Sans Serif" panose="020B0604030504040204" pitchFamily="34" charset="0"/>
              </a:rPr>
              <a:t>stack.</a:t>
            </a:r>
            <a:r>
              <a:rPr lang="en-US" altLang="ko-KR" sz="1050" dirty="0" err="1">
                <a:highlight>
                  <a:srgbClr val="FFCD00"/>
                </a:highlight>
                <a:latin typeface="MS Reference Sans Serif" panose="020B0604030504040204" pitchFamily="34" charset="0"/>
              </a:rPr>
              <a:t>Push</a:t>
            </a:r>
            <a:r>
              <a:rPr lang="en-US" altLang="ko-KR" sz="1050" dirty="0">
                <a:latin typeface="MS Reference Sans Serif" panose="020B0604030504040204" pitchFamily="34" charset="0"/>
              </a:rPr>
              <a:t>( 3 ); // </a:t>
            </a:r>
            <a:r>
              <a:rPr lang="ko-KR" altLang="ko-KR" sz="1050" dirty="0">
                <a:latin typeface="MS Reference Sans Serif" panose="020B0604030504040204" pitchFamily="34" charset="0"/>
              </a:rPr>
              <a:t>최상위 데이터는</a:t>
            </a:r>
            <a:r>
              <a:rPr lang="en-US" altLang="ko-KR" sz="1050" dirty="0">
                <a:latin typeface="MS Reference Sans Serif" panose="020B0604030504040204" pitchFamily="34" charset="0"/>
              </a:rPr>
              <a:t> 3</a:t>
            </a:r>
            <a:endParaRPr lang="ko-KR" altLang="ko-KR" sz="1050" dirty="0">
              <a:latin typeface="MS Reference Sans Serif" panose="020B0604030504040204" pitchFamily="34" charset="0"/>
            </a:endParaRPr>
          </a:p>
          <a:p>
            <a:r>
              <a:rPr lang="en-US" altLang="ko-KR" sz="1050" dirty="0">
                <a:latin typeface="MS Reference Sans Serif" panose="020B0604030504040204" pitchFamily="34" charset="0"/>
              </a:rPr>
              <a:t> </a:t>
            </a:r>
            <a:endParaRPr lang="ko-KR" altLang="ko-KR" sz="1050" dirty="0">
              <a:latin typeface="MS Reference Sans Serif" panose="020B0604030504040204" pitchFamily="34" charset="0"/>
            </a:endParaRPr>
          </a:p>
          <a:p>
            <a:r>
              <a:rPr lang="en-US" altLang="ko-KR" sz="1050" dirty="0">
                <a:latin typeface="MS Reference Sans Serif" panose="020B0604030504040204" pitchFamily="34" charset="0"/>
              </a:rPr>
              <a:t>int a = </a:t>
            </a:r>
            <a:r>
              <a:rPr lang="en-US" altLang="ko-KR" sz="1050" dirty="0" err="1">
                <a:latin typeface="MS Reference Sans Serif" panose="020B0604030504040204" pitchFamily="34" charset="0"/>
              </a:rPr>
              <a:t>Push.</a:t>
            </a:r>
            <a:r>
              <a:rPr lang="en-US" altLang="ko-KR" sz="1050" dirty="0" err="1">
                <a:highlight>
                  <a:srgbClr val="FFCD00"/>
                </a:highlight>
                <a:latin typeface="MS Reference Sans Serif" panose="020B0604030504040204" pitchFamily="34" charset="0"/>
              </a:rPr>
              <a:t>Pop</a:t>
            </a:r>
            <a:r>
              <a:rPr lang="en-US" altLang="ko-KR" sz="1050" dirty="0">
                <a:latin typeface="MS Reference Sans Serif" panose="020B0604030504040204" pitchFamily="34" charset="0"/>
              </a:rPr>
              <a:t>(); // </a:t>
            </a:r>
            <a:r>
              <a:rPr lang="ko-KR" altLang="ko-KR" sz="1050" dirty="0">
                <a:latin typeface="MS Reference Sans Serif" panose="020B0604030504040204" pitchFamily="34" charset="0"/>
              </a:rPr>
              <a:t>최상위 데이터는 다시</a:t>
            </a:r>
            <a:r>
              <a:rPr lang="en-US" altLang="ko-KR" sz="1050" dirty="0">
                <a:latin typeface="MS Reference Sans Serif" panose="020B0604030504040204" pitchFamily="34" charset="0"/>
              </a:rPr>
              <a:t> 2</a:t>
            </a:r>
            <a:endParaRPr lang="ko-KR" altLang="ko-KR" sz="1050" dirty="0">
              <a:latin typeface="MS Reference Sans Serif" panose="020B060403050404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24F85FC-9EFF-4690-80F0-B4E3A03A4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982" y="3528719"/>
            <a:ext cx="4347399" cy="1644651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8A72B11B-2CF1-F038-CA29-23D8AA125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8A6FDDE-4EF4-E14E-79D4-65A87AF89B5B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EDE1CD2-0C95-C30A-6A2C-8F499D54243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EA4CA81-BED9-7F69-86E9-D983069B4E9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Stack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8267A4A-7070-93BE-BF13-2CF13BDF9D4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906114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8A72B11B-2CF1-F038-CA29-23D8AA125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8A6FDDE-4EF4-E14E-79D4-65A87AF89B5B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EDE1CD2-0C95-C30A-6A2C-8F499D54243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EA4CA81-BED9-7F69-86E9-D983069B4E9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Stack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8267A4A-7070-93BE-BF13-2CF13BDF9D4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8A2F041-2712-0122-2A50-699BB3BD0448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MS Reference Sans Serif" panose="020B0604030504040204" pitchFamily="34" charset="0"/>
              </a:rPr>
              <a:t> Stack&lt;T&gt;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주요 메서드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AEA76C8-3C20-52AC-D176-A576DAAB9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708294"/>
              </p:ext>
            </p:extLst>
          </p:nvPr>
        </p:nvGraphicFramePr>
        <p:xfrm>
          <a:off x="573184" y="2488872"/>
          <a:ext cx="7886700" cy="2438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6929601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578934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817872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메서드</a:t>
                      </a:r>
                      <a:endParaRPr lang="ko-KR" altLang="en-US" sz="1400" dirty="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설명</a:t>
                      </a:r>
                      <a:endParaRPr lang="ko-KR" altLang="en-US" sz="1400" dirty="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예시</a:t>
                      </a:r>
                      <a:endParaRPr lang="ko-KR" alt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468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Push(T)</a:t>
                      </a:r>
                      <a:endParaRPr 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스택 위에 요소 추가</a:t>
                      </a:r>
                      <a:endParaRPr lang="ko-KR" alt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stack.Push(10);</a:t>
                      </a:r>
                      <a:endParaRPr 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556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Pop()</a:t>
                      </a:r>
                      <a:endParaRPr 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스택 위의 요소 제거 및 반환</a:t>
                      </a:r>
                      <a:endParaRPr lang="ko-KR" alt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int item = stack.Pop();</a:t>
                      </a:r>
                      <a:endParaRPr 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638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Peek()</a:t>
                      </a:r>
                      <a:endParaRPr 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스택 위의 요소 확인 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제거 </a:t>
                      </a:r>
                      <a:r>
                        <a:rPr lang="en-US" altLang="ko-KR" sz="1400"/>
                        <a:t>X)</a:t>
                      </a:r>
                      <a:endParaRPr lang="en-US" altLang="ko-KR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int item = stack.Peek();</a:t>
                      </a:r>
                      <a:endParaRPr 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597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Contains(T)</a:t>
                      </a:r>
                      <a:endParaRPr 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특정 요소 포함 여부</a:t>
                      </a:r>
                      <a:endParaRPr lang="ko-KR" alt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bool has = stack.Contains(10);</a:t>
                      </a:r>
                      <a:endParaRPr 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470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Clear()</a:t>
                      </a:r>
                      <a:endParaRPr 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모든 요소 제거</a:t>
                      </a:r>
                      <a:endParaRPr lang="ko-KR" alt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stack.Clear();</a:t>
                      </a:r>
                      <a:endParaRPr 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697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ToArray()</a:t>
                      </a:r>
                      <a:endParaRPr 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배열로 변환</a:t>
                      </a:r>
                      <a:endParaRPr lang="ko-KR" alt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int[] arr = stack.ToArray();</a:t>
                      </a:r>
                      <a:endParaRPr 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740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Count</a:t>
                      </a:r>
                      <a:endParaRPr lang="en-US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요소 개수 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속성</a:t>
                      </a:r>
                      <a:r>
                        <a:rPr lang="en-US" altLang="ko-KR" sz="1400"/>
                        <a:t>)</a:t>
                      </a:r>
                      <a:endParaRPr lang="en-US" altLang="ko-KR" sz="140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int count = </a:t>
                      </a:r>
                      <a:r>
                        <a:rPr lang="en-US" sz="1400" dirty="0" err="1"/>
                        <a:t>stack.Count</a:t>
                      </a:r>
                      <a:r>
                        <a:rPr lang="en-US" sz="1400" dirty="0"/>
                        <a:t>;</a:t>
                      </a:r>
                      <a:endParaRPr lang="en-US" sz="1400" dirty="0">
                        <a:latin typeface="MS Reference Sans Serif" panose="020B0604030504040204" pitchFamily="34" charset="0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444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56981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8A72B11B-2CF1-F038-CA29-23D8AA125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8A6FDDE-4EF4-E14E-79D4-65A87AF89B5B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EDE1CD2-0C95-C30A-6A2C-8F499D54243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EA4CA81-BED9-7F69-86E9-D983069B4E9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Stack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8267A4A-7070-93BE-BF13-2CF13BDF9D4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8A2F041-2712-0122-2A50-699BB3BD0448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4F27956-B9A2-7420-B8AD-044984FE3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64" y="2488872"/>
            <a:ext cx="5677705" cy="372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43236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8A72B11B-2CF1-F038-CA29-23D8AA125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8A6FDDE-4EF4-E14E-79D4-65A87AF89B5B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EDE1CD2-0C95-C30A-6A2C-8F499D54243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EA4CA81-BED9-7F69-86E9-D983069B4E9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Stack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8267A4A-7070-93BE-BF13-2CF13BDF9D45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8A2F041-2712-0122-2A50-699BB3BD0448}"/>
              </a:ext>
            </a:extLst>
          </p:cNvPr>
          <p:cNvSpPr txBox="1"/>
          <p:nvPr/>
        </p:nvSpPr>
        <p:spPr>
          <a:xfrm>
            <a:off x="224290" y="1526876"/>
            <a:ext cx="85844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MS Reference Sans Serif" panose="020B0604030504040204" pitchFamily="34" charset="0"/>
              </a:rPr>
              <a:t>using System;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using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System.Collections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UsingStack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Stack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stack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 = new Stack();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stack.Push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(1);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stack.Push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(2);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stack.Push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(3);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stack.Push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(4);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stack.Push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(5);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while (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stack.Count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 &gt; 0)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stack.Pop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());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}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4FB3DF-B91F-02FB-A319-F80CD5429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287" y="3936040"/>
            <a:ext cx="533474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1091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0;p14">
            <a:extLst>
              <a:ext uri="{FF2B5EF4-FFF2-40B4-BE49-F238E27FC236}">
                <a16:creationId xmlns:a16="http://schemas.microsoft.com/office/drawing/2014/main" id="{4D78B6F0-7D80-4D66-A24E-64B032C561B3}"/>
              </a:ext>
            </a:extLst>
          </p:cNvPr>
          <p:cNvSpPr txBox="1">
            <a:spLocks/>
          </p:cNvSpPr>
          <p:nvPr/>
        </p:nvSpPr>
        <p:spPr>
          <a:xfrm>
            <a:off x="885826" y="1684631"/>
            <a:ext cx="7190555" cy="2104414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>
              <a:solidFill>
                <a:schemeClr val="dk1"/>
              </a:solidFill>
              <a:latin typeface="MS Reference Sans Serif" panose="020B0604030504040204" pitchFamily="34" charset="0"/>
            </a:endParaRPr>
          </a:p>
          <a:p>
            <a:r>
              <a:rPr lang="ko-KR" altLang="en-US" sz="200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키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(Key)</a:t>
            </a:r>
            <a:r>
              <a:rPr lang="ko-KR" altLang="en-US" sz="200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와 값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(Value)</a:t>
            </a:r>
            <a:r>
              <a:rPr lang="ko-KR" altLang="en-US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으로 이루어진 데이터를 다룰 때 사용</a:t>
            </a:r>
            <a:r>
              <a:rPr lang="en-US" altLang="ko-KR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.</a:t>
            </a:r>
          </a:p>
          <a:p>
            <a:r>
              <a:rPr lang="ko-KR" altLang="en-US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키를 </a:t>
            </a:r>
            <a:r>
              <a:rPr lang="ko-KR" altLang="en-US" sz="2000" dirty="0" err="1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해싱</a:t>
            </a:r>
            <a:r>
              <a:rPr lang="en-US" altLang="ko-KR" sz="200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(Hashing)</a:t>
            </a:r>
            <a:r>
              <a:rPr lang="ko-KR" altLang="en-US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해서 테이블 내의 주소를 계산</a:t>
            </a:r>
            <a:r>
              <a:rPr lang="en-US" altLang="ko-KR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.</a:t>
            </a:r>
          </a:p>
          <a:p>
            <a:r>
              <a:rPr lang="ko-KR" altLang="en-US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배열처럼 다루기 간편하고 탐색속도도 빠름</a:t>
            </a:r>
            <a:r>
              <a:rPr lang="en-US" altLang="ko-KR" sz="200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.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6F9E06-940B-4889-A020-C659AEA964C6}"/>
              </a:ext>
            </a:extLst>
          </p:cNvPr>
          <p:cNvSpPr/>
          <p:nvPr/>
        </p:nvSpPr>
        <p:spPr>
          <a:xfrm>
            <a:off x="885825" y="3685212"/>
            <a:ext cx="7621178" cy="18570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en-US" altLang="ko-KR" sz="1050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050" dirty="0">
                <a:latin typeface="MS Reference Sans Serif" panose="020B0604030504040204" pitchFamily="34" charset="0"/>
              </a:rPr>
              <a:t> </a:t>
            </a:r>
            <a:r>
              <a:rPr lang="en-US" altLang="ko-KR" sz="1050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050" dirty="0">
                <a:latin typeface="MS Reference Sans Serif" panose="020B0604030504040204" pitchFamily="34" charset="0"/>
              </a:rPr>
              <a:t> = new </a:t>
            </a:r>
            <a:r>
              <a:rPr lang="en-US" altLang="ko-KR" sz="1050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050" dirty="0">
                <a:latin typeface="MS Reference Sans Serif" panose="020B0604030504040204" pitchFamily="34" charset="0"/>
              </a:rPr>
              <a:t>();</a:t>
            </a:r>
            <a:endParaRPr lang="ko-KR" altLang="ko-KR" sz="1050" dirty="0">
              <a:latin typeface="MS Reference Sans Serif" panose="020B0604030504040204" pitchFamily="34" charset="0"/>
            </a:endParaRPr>
          </a:p>
          <a:p>
            <a:r>
              <a:rPr lang="en-US" altLang="ko-KR" sz="1050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050" dirty="0">
                <a:latin typeface="MS Reference Sans Serif" panose="020B0604030504040204" pitchFamily="34" charset="0"/>
              </a:rPr>
              <a:t>["book"]   = "</a:t>
            </a:r>
            <a:r>
              <a:rPr lang="ko-KR" altLang="ko-KR" sz="1050" dirty="0">
                <a:latin typeface="MS Reference Sans Serif" panose="020B0604030504040204" pitchFamily="34" charset="0"/>
              </a:rPr>
              <a:t>책</a:t>
            </a:r>
            <a:r>
              <a:rPr lang="en-US" altLang="ko-KR" sz="1050" dirty="0">
                <a:latin typeface="MS Reference Sans Serif" panose="020B0604030504040204" pitchFamily="34" charset="0"/>
              </a:rPr>
              <a:t>";</a:t>
            </a:r>
            <a:endParaRPr lang="ko-KR" altLang="ko-KR" sz="1050" dirty="0">
              <a:latin typeface="MS Reference Sans Serif" panose="020B0604030504040204" pitchFamily="34" charset="0"/>
            </a:endParaRPr>
          </a:p>
          <a:p>
            <a:r>
              <a:rPr lang="en-US" altLang="ko-KR" sz="1050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050" dirty="0">
                <a:latin typeface="MS Reference Sans Serif" panose="020B0604030504040204" pitchFamily="34" charset="0"/>
              </a:rPr>
              <a:t>["cook"]   = "</a:t>
            </a:r>
            <a:r>
              <a:rPr lang="ko-KR" altLang="ko-KR" sz="1050" dirty="0">
                <a:latin typeface="MS Reference Sans Serif" panose="020B0604030504040204" pitchFamily="34" charset="0"/>
              </a:rPr>
              <a:t>요리사</a:t>
            </a:r>
            <a:r>
              <a:rPr lang="en-US" altLang="ko-KR" sz="1050" dirty="0">
                <a:latin typeface="MS Reference Sans Serif" panose="020B0604030504040204" pitchFamily="34" charset="0"/>
              </a:rPr>
              <a:t>";</a:t>
            </a:r>
            <a:endParaRPr lang="ko-KR" altLang="ko-KR" sz="1050" dirty="0">
              <a:latin typeface="MS Reference Sans Serif" panose="020B0604030504040204" pitchFamily="34" charset="0"/>
            </a:endParaRPr>
          </a:p>
          <a:p>
            <a:r>
              <a:rPr lang="en-US" altLang="ko-KR" sz="1050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050" dirty="0">
                <a:latin typeface="MS Reference Sans Serif" panose="020B0604030504040204" pitchFamily="34" charset="0"/>
              </a:rPr>
              <a:t>["tweet"]  = "</a:t>
            </a:r>
            <a:r>
              <a:rPr lang="ko-KR" altLang="ko-KR" sz="1050" dirty="0">
                <a:latin typeface="MS Reference Sans Serif" panose="020B0604030504040204" pitchFamily="34" charset="0"/>
              </a:rPr>
              <a:t>지저귀다</a:t>
            </a:r>
            <a:r>
              <a:rPr lang="en-US" altLang="ko-KR" sz="1050" dirty="0">
                <a:latin typeface="MS Reference Sans Serif" panose="020B0604030504040204" pitchFamily="34" charset="0"/>
              </a:rPr>
              <a:t>";</a:t>
            </a:r>
            <a:endParaRPr lang="ko-KR" altLang="ko-KR" sz="1050" dirty="0">
              <a:latin typeface="MS Reference Sans Serif" panose="020B0604030504040204" pitchFamily="34" charset="0"/>
            </a:endParaRPr>
          </a:p>
          <a:p>
            <a:r>
              <a:rPr lang="en-US" altLang="ko-KR" sz="1050" dirty="0">
                <a:latin typeface="MS Reference Sans Serif" panose="020B0604030504040204" pitchFamily="34" charset="0"/>
              </a:rPr>
              <a:t> </a:t>
            </a:r>
            <a:endParaRPr lang="ko-KR" altLang="ko-KR" sz="1050" dirty="0">
              <a:latin typeface="MS Reference Sans Serif" panose="020B0604030504040204" pitchFamily="34" charset="0"/>
            </a:endParaRPr>
          </a:p>
          <a:p>
            <a:r>
              <a:rPr lang="en-US" altLang="ko-KR" sz="1050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50" dirty="0">
                <a:latin typeface="MS Reference Sans Serif" panose="020B0604030504040204" pitchFamily="34" charset="0"/>
              </a:rPr>
              <a:t>( </a:t>
            </a:r>
            <a:r>
              <a:rPr lang="en-US" altLang="ko-KR" sz="1050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050" dirty="0">
                <a:latin typeface="MS Reference Sans Serif" panose="020B0604030504040204" pitchFamily="34" charset="0"/>
              </a:rPr>
              <a:t>["book"] ) ;</a:t>
            </a:r>
            <a:endParaRPr lang="ko-KR" altLang="ko-KR" sz="1050" dirty="0">
              <a:latin typeface="MS Reference Sans Serif" panose="020B0604030504040204" pitchFamily="34" charset="0"/>
            </a:endParaRPr>
          </a:p>
          <a:p>
            <a:r>
              <a:rPr lang="en-US" altLang="ko-KR" sz="1050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50" dirty="0">
                <a:latin typeface="MS Reference Sans Serif" panose="020B0604030504040204" pitchFamily="34" charset="0"/>
              </a:rPr>
              <a:t>( </a:t>
            </a:r>
            <a:r>
              <a:rPr lang="en-US" altLang="ko-KR" sz="1050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050" dirty="0">
                <a:latin typeface="MS Reference Sans Serif" panose="020B0604030504040204" pitchFamily="34" charset="0"/>
              </a:rPr>
              <a:t>["cook"] );</a:t>
            </a:r>
            <a:endParaRPr lang="ko-KR" altLang="ko-KR" sz="1050" dirty="0">
              <a:latin typeface="MS Reference Sans Serif" panose="020B0604030504040204" pitchFamily="34" charset="0"/>
            </a:endParaRPr>
          </a:p>
          <a:p>
            <a:r>
              <a:rPr lang="en-US" altLang="ko-KR" sz="1050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50" dirty="0">
                <a:latin typeface="MS Reference Sans Serif" panose="020B0604030504040204" pitchFamily="34" charset="0"/>
              </a:rPr>
              <a:t>( </a:t>
            </a:r>
            <a:r>
              <a:rPr lang="en-US" altLang="ko-KR" sz="1050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050" dirty="0">
                <a:latin typeface="MS Reference Sans Serif" panose="020B0604030504040204" pitchFamily="34" charset="0"/>
              </a:rPr>
              <a:t>["tweet"] );</a:t>
            </a:r>
            <a:endParaRPr lang="ko-KR" altLang="ko-KR" sz="1050" dirty="0">
              <a:latin typeface="MS Reference Sans Serif" panose="020B0604030504040204" pitchFamily="34" charset="0"/>
            </a:endParaRPr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265730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생성 및 초기화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  <a:p>
            <a:endParaRPr lang="en-US" altLang="ko-KR" sz="2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using System;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using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System.Collections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class Program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static void Main()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기본 생성</a:t>
            </a:r>
          </a:p>
          <a:p>
            <a:r>
              <a:rPr lang="ko-KR" altLang="en-US" sz="14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= new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초기 용량 지정</a:t>
            </a:r>
          </a:p>
          <a:p>
            <a:r>
              <a:rPr lang="ko-KR" altLang="en-US" sz="14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hashtable2 = new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(100);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    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다른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로부터 생성</a:t>
            </a:r>
          </a:p>
          <a:p>
            <a:r>
              <a:rPr lang="ko-KR" altLang="en-US" sz="14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hashtable3 = new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21799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요소 추가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  <a:p>
            <a:endParaRPr lang="en-US" altLang="ko-KR" sz="2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= new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Add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메서드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hashtable.Add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("name", "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홍길동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hashtable.Add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("age", 25);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hashtable.Add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("city", "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서울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");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 err="1">
                <a:latin typeface="MS Reference Sans Serif" panose="020B0604030504040204" pitchFamily="34" charset="0"/>
              </a:rPr>
              <a:t>인덱서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 사용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["country"] = "Korea";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["score"] = 95.5;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중복 키 추가 시 예외 발생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hashtable.Add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("name", "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김철수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");  //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ArgumentException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!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 err="1">
                <a:latin typeface="MS Reference Sans Serif" panose="020B0604030504040204" pitchFamily="34" charset="0"/>
              </a:rPr>
              <a:t>인덱서는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 덮어쓰기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["name"] = "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김철수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";  // OK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, </a:t>
            </a:r>
            <a:r>
              <a:rPr lang="ko-KR" altLang="en-US" sz="1200" b="1" dirty="0">
                <a:latin typeface="MS Reference Sans Serif" panose="020B0604030504040204" pitchFamily="34" charset="0"/>
              </a:rPr>
              <a:t>값이 변경됨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5577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요소 접근</a:t>
            </a:r>
          </a:p>
          <a:p>
            <a:endParaRPr lang="en-US" altLang="ko-KR" sz="2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= new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hashtable.Add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("name", "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홍길동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hashtable.Add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("age", 25);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 err="1">
                <a:latin typeface="MS Reference Sans Serif" panose="020B0604030504040204" pitchFamily="34" charset="0"/>
              </a:rPr>
              <a:t>인덱서로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 접근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</a:t>
            </a:r>
            <a:r>
              <a:rPr lang="ko-KR" altLang="en-US" sz="1400" b="1" dirty="0" err="1">
                <a:latin typeface="MS Reference Sans Serif" panose="020B0604030504040204" pitchFamily="34" charset="0"/>
              </a:rPr>
              <a:t>형변환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 필요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string name = (string)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["name"];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int age = (int)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["age"];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존재하지 않는 키 →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null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반환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object value =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["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notexist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"];  // null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안전한 접근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if (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hashtable.ContainsKey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("name"))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string n = (string)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["name"];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014065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속성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2F404BD-B89B-A570-CC7E-AAC64F4A1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279389"/>
              </p:ext>
            </p:extLst>
          </p:nvPr>
        </p:nvGraphicFramePr>
        <p:xfrm>
          <a:off x="628650" y="2721134"/>
          <a:ext cx="78867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22070">
                  <a:extLst>
                    <a:ext uri="{9D8B030D-6E8A-4147-A177-3AD203B41FA5}">
                      <a16:colId xmlns:a16="http://schemas.microsoft.com/office/drawing/2014/main" val="685864699"/>
                    </a:ext>
                  </a:extLst>
                </a:gridCol>
                <a:gridCol w="2145792">
                  <a:extLst>
                    <a:ext uri="{9D8B030D-6E8A-4147-A177-3AD203B41FA5}">
                      <a16:colId xmlns:a16="http://schemas.microsoft.com/office/drawing/2014/main" val="3432196120"/>
                    </a:ext>
                  </a:extLst>
                </a:gridCol>
                <a:gridCol w="4418838">
                  <a:extLst>
                    <a:ext uri="{9D8B030D-6E8A-4147-A177-3AD203B41FA5}">
                      <a16:colId xmlns:a16="http://schemas.microsoft.com/office/drawing/2014/main" val="1649504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속성</a:t>
                      </a:r>
                      <a:endParaRPr lang="ko-KR" alt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설명</a:t>
                      </a:r>
                      <a:endParaRPr lang="ko-KR" alt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예시</a:t>
                      </a:r>
                      <a:endParaRPr lang="ko-KR" alt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074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Count</a:t>
                      </a:r>
                      <a:endParaRPr lang="en-US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요소 개수</a:t>
                      </a:r>
                      <a:endParaRPr lang="ko-KR" altLang="en-US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 count = hashtable.Count;</a:t>
                      </a:r>
                      <a:endParaRPr lang="en-US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3000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Keys</a:t>
                      </a:r>
                      <a:endParaRPr lang="en-US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모든 키 컬렉션</a:t>
                      </a:r>
                      <a:endParaRPr lang="ko-KR" altLang="en-US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ICollection keys = hashtable.Keys;</a:t>
                      </a:r>
                      <a:endParaRPr lang="en-US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4859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Values</a:t>
                      </a:r>
                      <a:endParaRPr lang="en-US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모든 값 컬렉션</a:t>
                      </a:r>
                      <a:endParaRPr lang="ko-KR" altLang="en-US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ICollection</a:t>
                      </a:r>
                      <a:r>
                        <a:rPr lang="en-US" dirty="0"/>
                        <a:t> values = </a:t>
                      </a:r>
                      <a:r>
                        <a:rPr lang="en-US" dirty="0" err="1"/>
                        <a:t>hashtable.Values</a:t>
                      </a:r>
                      <a:r>
                        <a:rPr lang="en-US" dirty="0"/>
                        <a:t>;</a:t>
                      </a:r>
                      <a:endParaRPr 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3493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46898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주요 메서드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87F24B8-F066-0449-687B-0921AD1EB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941735"/>
              </p:ext>
            </p:extLst>
          </p:nvPr>
        </p:nvGraphicFramePr>
        <p:xfrm>
          <a:off x="628650" y="2265295"/>
          <a:ext cx="7886700" cy="2255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5680009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728107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99498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메서드</a:t>
                      </a:r>
                      <a:endParaRPr lang="ko-KR" altLang="en-US" sz="14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설명</a:t>
                      </a:r>
                      <a:endParaRPr lang="ko-KR" altLang="en-US" sz="14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예시</a:t>
                      </a:r>
                      <a:endParaRPr lang="ko-KR" altLang="en-US" sz="14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856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Add(key, value)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요소 추가</a:t>
                      </a:r>
                      <a:endParaRPr lang="ko-KR" alt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hashtable.Add("key", "value");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450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Remove(key)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요소 제거</a:t>
                      </a:r>
                      <a:endParaRPr lang="ko-KR" alt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hashtable.Remove("key");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0724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Clear()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모든 요소 제거</a:t>
                      </a:r>
                      <a:endParaRPr lang="ko-KR" alt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hashtable.Clear();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776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ContainsKey(key)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키 존재 여부</a:t>
                      </a:r>
                      <a:endParaRPr lang="ko-KR" alt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bool has = hashtable.ContainsKey("key");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715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ContainsValue(value)</a:t>
                      </a:r>
                      <a:endParaRPr lang="en-US" sz="14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값 존재 여부</a:t>
                      </a:r>
                      <a:endParaRPr lang="ko-KR" altLang="en-US" sz="14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bool has = </a:t>
                      </a:r>
                      <a:r>
                        <a:rPr lang="en-US" sz="1400" dirty="0" err="1"/>
                        <a:t>hashtable.ContainsValue</a:t>
                      </a:r>
                      <a:r>
                        <a:rPr lang="en-US" sz="1400" dirty="0"/>
                        <a:t>(100);</a:t>
                      </a:r>
                      <a:endParaRPr lang="en-US" sz="14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6990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004532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순회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= new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hashtable.Add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사과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", 1000);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hashtable.Add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바나나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", 2000);</a:t>
            </a:r>
          </a:p>
          <a:p>
            <a:r>
              <a:rPr lang="en-US" altLang="ko-KR" sz="1400" b="1" dirty="0" err="1">
                <a:latin typeface="MS Reference Sans Serif" panose="020B0604030504040204" pitchFamily="34" charset="0"/>
              </a:rPr>
              <a:t>hashtable.Add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포도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", 3000);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방법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1: foreach with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DictionaryEntry</a:t>
            </a:r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foreach (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DictionaryEntry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entry in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($"{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entry.Key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}: {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entry.Value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}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원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방법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2: Keys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를 통한 순회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foreach (object key in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hashtable.Keys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($"{key}: {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[key]}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원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</a:t>
            </a:r>
          </a:p>
          <a:p>
            <a:endParaRPr lang="en-US" altLang="ko-KR" sz="1400" b="1" dirty="0">
              <a:latin typeface="MS Reference Sans Serif" panose="020B0604030504040204" pitchFamily="34" charset="0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//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방법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3: Values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만 순회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foreach (object value in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hashtable.Values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   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($"{value}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원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313229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UsingHashtable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B6C6C6-5ECA-F6E1-7CA7-491733177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08" y="2297766"/>
            <a:ext cx="5677705" cy="365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876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5247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–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UsingHashtable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  <a:p>
            <a:endParaRPr lang="en-US" altLang="ko-KR" sz="2400" b="1" dirty="0">
              <a:latin typeface="MS Reference Sans Serif" panose="020B0604030504040204" pitchFamily="34" charset="0"/>
            </a:endParaRP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using System;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using static 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System.Console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;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using 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System.Collections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;</a:t>
            </a:r>
          </a:p>
          <a:p>
            <a:endParaRPr lang="en-US" altLang="ko-KR" sz="1100" b="1" dirty="0">
              <a:latin typeface="MS Reference Sans Serif" panose="020B0604030504040204" pitchFamily="34" charset="0"/>
            </a:endParaRP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UsingHashtable</a:t>
            </a:r>
            <a:endParaRPr lang="en-US" altLang="ko-KR" sz="1100" b="1" dirty="0">
              <a:latin typeface="MS Reference Sans Serif" panose="020B0604030504040204" pitchFamily="34" charset="0"/>
            </a:endParaRP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100" b="1" dirty="0">
              <a:latin typeface="MS Reference Sans Serif" panose="020B0604030504040204" pitchFamily="34" charset="0"/>
            </a:endParaRP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 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 = new 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["</a:t>
            </a:r>
            <a:r>
              <a:rPr lang="ko-KR" altLang="en-US" sz="1100" b="1" dirty="0">
                <a:latin typeface="MS Reference Sans Serif" panose="020B0604030504040204" pitchFamily="34" charset="0"/>
              </a:rPr>
              <a:t>하나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"] = "one";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["</a:t>
            </a:r>
            <a:r>
              <a:rPr lang="ko-KR" altLang="en-US" sz="1100" b="1" dirty="0">
                <a:latin typeface="MS Reference Sans Serif" panose="020B0604030504040204" pitchFamily="34" charset="0"/>
              </a:rPr>
              <a:t>둘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"] = "two";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["</a:t>
            </a:r>
            <a:r>
              <a:rPr lang="ko-KR" altLang="en-US" sz="1100" b="1" dirty="0">
                <a:latin typeface="MS Reference Sans Serif" panose="020B0604030504040204" pitchFamily="34" charset="0"/>
              </a:rPr>
              <a:t>셋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"] = "three";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["</a:t>
            </a:r>
            <a:r>
              <a:rPr lang="ko-KR" altLang="en-US" sz="1100" b="1" dirty="0">
                <a:latin typeface="MS Reference Sans Serif" panose="020B0604030504040204" pitchFamily="34" charset="0"/>
              </a:rPr>
              <a:t>넷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"] = "four";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["</a:t>
            </a:r>
            <a:r>
              <a:rPr lang="ko-KR" altLang="en-US" sz="1100" b="1" dirty="0">
                <a:latin typeface="MS Reference Sans Serif" panose="020B0604030504040204" pitchFamily="34" charset="0"/>
              </a:rPr>
              <a:t>다섯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"] = "five";</a:t>
            </a:r>
          </a:p>
          <a:p>
            <a:endParaRPr lang="en-US" altLang="ko-KR" sz="1100" b="1" dirty="0">
              <a:latin typeface="MS Reference Sans Serif" panose="020B0604030504040204" pitchFamily="34" charset="0"/>
            </a:endParaRP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        WriteLine(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["</a:t>
            </a:r>
            <a:r>
              <a:rPr lang="ko-KR" altLang="en-US" sz="1100" b="1" dirty="0">
                <a:latin typeface="MS Reference Sans Serif" panose="020B0604030504040204" pitchFamily="34" charset="0"/>
              </a:rPr>
              <a:t>하나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"]);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        WriteLine(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["</a:t>
            </a:r>
            <a:r>
              <a:rPr lang="ko-KR" altLang="en-US" sz="1100" b="1" dirty="0">
                <a:latin typeface="MS Reference Sans Serif" panose="020B0604030504040204" pitchFamily="34" charset="0"/>
              </a:rPr>
              <a:t>둘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"]);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        WriteLine(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["</a:t>
            </a:r>
            <a:r>
              <a:rPr lang="ko-KR" altLang="en-US" sz="1100" b="1" dirty="0">
                <a:latin typeface="MS Reference Sans Serif" panose="020B0604030504040204" pitchFamily="34" charset="0"/>
              </a:rPr>
              <a:t>셋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"]);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        WriteLine(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["</a:t>
            </a:r>
            <a:r>
              <a:rPr lang="ko-KR" altLang="en-US" sz="1100" b="1" dirty="0">
                <a:latin typeface="MS Reference Sans Serif" panose="020B0604030504040204" pitchFamily="34" charset="0"/>
              </a:rPr>
              <a:t>넷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"]);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        WriteLine(</a:t>
            </a:r>
            <a:r>
              <a:rPr lang="en-US" altLang="ko-KR" sz="1100" b="1" dirty="0" err="1">
                <a:latin typeface="MS Reference Sans Serif" panose="020B0604030504040204" pitchFamily="34" charset="0"/>
              </a:rPr>
              <a:t>ht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["</a:t>
            </a:r>
            <a:r>
              <a:rPr lang="ko-KR" altLang="en-US" sz="1100" b="1" dirty="0">
                <a:latin typeface="MS Reference Sans Serif" panose="020B0604030504040204" pitchFamily="34" charset="0"/>
              </a:rPr>
              <a:t>다섯</a:t>
            </a:r>
            <a:r>
              <a:rPr lang="en-US" altLang="ko-KR" sz="1100" b="1" dirty="0">
                <a:latin typeface="MS Reference Sans Serif" panose="020B0604030504040204" pitchFamily="34" charset="0"/>
              </a:rPr>
              <a:t>"]);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100" b="1" dirty="0">
                <a:latin typeface="MS Reference Sans Serif" panose="020B0604030504040204" pitchFamily="34" charset="0"/>
              </a:rPr>
              <a:t>}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712405-C7F4-46D9-F167-85DD35B9C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431" y="5228217"/>
            <a:ext cx="1038370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60663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실습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8: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단어 빈도수 계산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 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WordCount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MS Reference Sans Serif" panose="020B0604030504040204" pitchFamily="34" charset="0"/>
              </a:rPr>
              <a:t>단어 빈도수 계산 프로그램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PRD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535D413-E925-D217-0F68-0D4E9BCD3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519002"/>
              </p:ext>
            </p:extLst>
          </p:nvPr>
        </p:nvGraphicFramePr>
        <p:xfrm>
          <a:off x="198408" y="2366078"/>
          <a:ext cx="8747184" cy="426809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23128">
                  <a:extLst>
                    <a:ext uri="{9D8B030D-6E8A-4147-A177-3AD203B41FA5}">
                      <a16:colId xmlns:a16="http://schemas.microsoft.com/office/drawing/2014/main" val="3942958105"/>
                    </a:ext>
                  </a:extLst>
                </a:gridCol>
                <a:gridCol w="4408328">
                  <a:extLst>
                    <a:ext uri="{9D8B030D-6E8A-4147-A177-3AD203B41FA5}">
                      <a16:colId xmlns:a16="http://schemas.microsoft.com/office/drawing/2014/main" val="2223151895"/>
                    </a:ext>
                  </a:extLst>
                </a:gridCol>
                <a:gridCol w="2915728">
                  <a:extLst>
                    <a:ext uri="{9D8B030D-6E8A-4147-A177-3AD203B41FA5}">
                      <a16:colId xmlns:a16="http://schemas.microsoft.com/office/drawing/2014/main" val="3601107745"/>
                    </a:ext>
                  </a:extLst>
                </a:gridCol>
              </a:tblGrid>
              <a:tr h="142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dirty="0"/>
                        <a:t>구분</a:t>
                      </a:r>
                      <a:endParaRPr lang="ko-KR" altLang="en-US" sz="9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dirty="0"/>
                        <a:t>항목</a:t>
                      </a:r>
                      <a:endParaRPr lang="ko-KR" altLang="en-US" sz="9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dirty="0"/>
                        <a:t>설명</a:t>
                      </a:r>
                      <a:endParaRPr lang="ko-KR" altLang="en-US" sz="9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787953"/>
                  </a:ext>
                </a:extLst>
              </a:tr>
              <a:tr h="267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프로젝트명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WordCount</a:t>
                      </a:r>
                      <a:endParaRPr 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/>
                        <a:t>문자열 내 각 단어의 등장 빈도를 계산하고 출력하는 콘솔 프로그램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extLst>
                  <a:ext uri="{0D108BD9-81ED-4DB2-BD59-A6C34878D82A}">
                    <a16:rowId xmlns:a16="http://schemas.microsoft.com/office/drawing/2014/main" val="4232037284"/>
                  </a:ext>
                </a:extLst>
              </a:tr>
              <a:tr h="177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개발 언어 </a:t>
                      </a:r>
                      <a:r>
                        <a:rPr lang="en-US" altLang="ko-KR" sz="900" b="1"/>
                        <a:t>/ </a:t>
                      </a:r>
                      <a:r>
                        <a:rPr lang="ko-KR" altLang="en-US" sz="900" b="1"/>
                        <a:t>환경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C#, .NET Console Application</a:t>
                      </a:r>
                      <a:endParaRPr 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Visual Studio </a:t>
                      </a:r>
                      <a:r>
                        <a:rPr lang="ko-KR" altLang="en-US" sz="900"/>
                        <a:t>또는 </a:t>
                      </a:r>
                      <a:r>
                        <a:rPr lang="en-US" altLang="ko-KR" sz="900"/>
                        <a:t>VS Code </a:t>
                      </a:r>
                      <a:r>
                        <a:rPr lang="ko-KR" altLang="en-US" sz="900"/>
                        <a:t>환경에서 실행 가능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extLst>
                  <a:ext uri="{0D108BD9-81ED-4DB2-BD59-A6C34878D82A}">
                    <a16:rowId xmlns:a16="http://schemas.microsoft.com/office/drawing/2014/main" val="3288060313"/>
                  </a:ext>
                </a:extLst>
              </a:tr>
              <a:tr h="336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개발 목적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/>
                        <a:t>문자열을 단어 단위로 분리하여 </a:t>
                      </a:r>
                      <a:r>
                        <a:rPr lang="en-US" altLang="ko-KR" sz="900" b="1"/>
                        <a:t>Hashtable</a:t>
                      </a:r>
                      <a:r>
                        <a:rPr lang="ko-KR" altLang="en-US" sz="900"/>
                        <a:t>을 사용해 단어별 빈도를 계산하고 출력하는 기본적인 </a:t>
                      </a:r>
                      <a:r>
                        <a:rPr lang="ko-KR" altLang="en-US" sz="900" b="1"/>
                        <a:t>자료구조</a:t>
                      </a:r>
                      <a:r>
                        <a:rPr lang="en-US" altLang="ko-KR" sz="900" b="1"/>
                        <a:t>(</a:t>
                      </a:r>
                      <a:r>
                        <a:rPr lang="ko-KR" altLang="en-US" sz="900" b="1"/>
                        <a:t>해시 테이블</a:t>
                      </a:r>
                      <a:r>
                        <a:rPr lang="en-US" altLang="ko-KR" sz="900" b="1"/>
                        <a:t>)</a:t>
                      </a:r>
                      <a:r>
                        <a:rPr lang="ko-KR" altLang="en-US" sz="900"/>
                        <a:t> 활용 실습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extLst>
                  <a:ext uri="{0D108BD9-81ED-4DB2-BD59-A6C34878D82A}">
                    <a16:rowId xmlns:a16="http://schemas.microsoft.com/office/drawing/2014/main" val="1103971769"/>
                  </a:ext>
                </a:extLst>
              </a:tr>
              <a:tr h="336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기능 요약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1️⃣ </a:t>
                      </a:r>
                      <a:r>
                        <a:rPr lang="ko-KR" altLang="en-US" sz="900"/>
                        <a:t>문자열을 단어 단위로 분리 </a:t>
                      </a:r>
                      <a:r>
                        <a:rPr lang="en-US" altLang="ko-KR" sz="900"/>
                        <a:t>(Split(' '))2️⃣ Hashtable</a:t>
                      </a:r>
                      <a:r>
                        <a:rPr lang="ko-KR" altLang="en-US" sz="900"/>
                        <a:t>을 사용해 단어 빈도 누적</a:t>
                      </a:r>
                      <a:r>
                        <a:rPr lang="en-US" altLang="ko-KR" sz="900"/>
                        <a:t>3️⃣ </a:t>
                      </a:r>
                      <a:r>
                        <a:rPr lang="ko-KR" altLang="en-US" sz="900"/>
                        <a:t>각 단어와 빈도수를 콘솔에 출력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extLst>
                  <a:ext uri="{0D108BD9-81ED-4DB2-BD59-A6C34878D82A}">
                    <a16:rowId xmlns:a16="http://schemas.microsoft.com/office/drawing/2014/main" val="3636398287"/>
                  </a:ext>
                </a:extLst>
              </a:tr>
              <a:tr h="44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입력 데이터 구조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string text = "apple banana apple orange banana </a:t>
                      </a:r>
                      <a:r>
                        <a:rPr lang="en-US" sz="900" b="1" dirty="0" err="1"/>
                        <a:t>apple"string</a:t>
                      </a:r>
                      <a:r>
                        <a:rPr lang="en-US" sz="900" b="1" dirty="0"/>
                        <a:t>[] words = </a:t>
                      </a:r>
                      <a:r>
                        <a:rPr lang="ko-KR" altLang="en-US" sz="900" b="1" dirty="0"/>
                        <a:t>단어 배열 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en-US" sz="900" b="1" dirty="0"/>
                        <a:t>Split </a:t>
                      </a:r>
                      <a:r>
                        <a:rPr lang="ko-KR" altLang="en-US" sz="900" b="1" dirty="0"/>
                        <a:t>결과</a:t>
                      </a:r>
                      <a:r>
                        <a:rPr lang="en-US" altLang="ko-KR" sz="900" b="1" dirty="0"/>
                        <a:t>)</a:t>
                      </a:r>
                      <a:r>
                        <a:rPr lang="en-US" sz="900" b="1" dirty="0" err="1"/>
                        <a:t>Hashtable</a:t>
                      </a:r>
                      <a:r>
                        <a:rPr lang="en-US" sz="900" b="1" dirty="0"/>
                        <a:t> </a:t>
                      </a:r>
                      <a:r>
                        <a:rPr lang="en-US" sz="900" b="1" dirty="0" err="1"/>
                        <a:t>wordCount</a:t>
                      </a:r>
                      <a:r>
                        <a:rPr lang="en-US" sz="900" b="1" dirty="0"/>
                        <a:t> = </a:t>
                      </a:r>
                      <a:r>
                        <a:rPr lang="ko-KR" altLang="en-US" sz="900" b="1" dirty="0"/>
                        <a:t>단어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en-US" sz="900" b="1" dirty="0"/>
                        <a:t>key)</a:t>
                      </a:r>
                      <a:r>
                        <a:rPr lang="ko-KR" altLang="en-US" sz="900" b="1" dirty="0"/>
                        <a:t>별 빈도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en-US" sz="900" b="1" dirty="0"/>
                        <a:t>value) </a:t>
                      </a:r>
                      <a:r>
                        <a:rPr lang="ko-KR" altLang="en-US" sz="900" b="1" dirty="0"/>
                        <a:t>저장</a:t>
                      </a:r>
                      <a:endParaRPr lang="ko-KR" altLang="en-US" sz="900" b="1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extLst>
                  <a:ext uri="{0D108BD9-81ED-4DB2-BD59-A6C34878D82A}">
                    <a16:rowId xmlns:a16="http://schemas.microsoft.com/office/drawing/2014/main" val="3296397181"/>
                  </a:ext>
                </a:extLst>
              </a:tr>
              <a:tr h="142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출력 데이터 구조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/>
                        <a:t>콘솔 출력 형식</a:t>
                      </a:r>
                      <a:r>
                        <a:rPr lang="en-US" altLang="ko-KR" sz="900"/>
                        <a:t>: &lt;</a:t>
                      </a:r>
                      <a:r>
                        <a:rPr lang="ko-KR" altLang="en-US" sz="900"/>
                        <a:t>단어</a:t>
                      </a:r>
                      <a:r>
                        <a:rPr lang="en-US" altLang="ko-KR" sz="900"/>
                        <a:t>&gt;: &lt;</a:t>
                      </a:r>
                      <a:r>
                        <a:rPr lang="ko-KR" altLang="en-US" sz="900"/>
                        <a:t>빈도</a:t>
                      </a:r>
                      <a:r>
                        <a:rPr lang="en-US" altLang="ko-KR" sz="900"/>
                        <a:t>&gt;</a:t>
                      </a:r>
                      <a:r>
                        <a:rPr lang="ko-KR" altLang="en-US" sz="900"/>
                        <a:t>회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extLst>
                  <a:ext uri="{0D108BD9-81ED-4DB2-BD59-A6C34878D82A}">
                    <a16:rowId xmlns:a16="http://schemas.microsoft.com/office/drawing/2014/main" val="3511763619"/>
                  </a:ext>
                </a:extLst>
              </a:tr>
              <a:tr h="549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주요 처리 로직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- foreach</a:t>
                      </a:r>
                      <a:r>
                        <a:rPr lang="ko-KR" altLang="en-US" sz="900"/>
                        <a:t>문으로 단어 배열 순회</a:t>
                      </a:r>
                      <a:r>
                        <a:rPr lang="en-US" altLang="ko-KR" sz="900"/>
                        <a:t>- Hashtable.ContainsKey()</a:t>
                      </a:r>
                      <a:r>
                        <a:rPr lang="ko-KR" altLang="en-US" sz="900"/>
                        <a:t>로 키 존재 여부 확인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존재하면 값 </a:t>
                      </a:r>
                      <a:r>
                        <a:rPr lang="en-US" altLang="ko-KR" sz="900"/>
                        <a:t>1 </a:t>
                      </a:r>
                      <a:r>
                        <a:rPr lang="ko-KR" altLang="en-US" sz="900"/>
                        <a:t>증가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없으면 새 키 추가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모든 단어 처리 후 </a:t>
                      </a:r>
                      <a:r>
                        <a:rPr lang="en-US" altLang="ko-KR" sz="900"/>
                        <a:t>foreach(DictionaryEntry entry)</a:t>
                      </a:r>
                      <a:r>
                        <a:rPr lang="ko-KR" altLang="en-US" sz="900"/>
                        <a:t>로 결과 출력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extLst>
                  <a:ext uri="{0D108BD9-81ED-4DB2-BD59-A6C34878D82A}">
                    <a16:rowId xmlns:a16="http://schemas.microsoft.com/office/drawing/2014/main" val="767720036"/>
                  </a:ext>
                </a:extLst>
              </a:tr>
              <a:tr h="177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출력 예시 </a:t>
                      </a:r>
                      <a:r>
                        <a:rPr lang="en-US" altLang="ko-KR" sz="900" b="1"/>
                        <a:t>(</a:t>
                      </a:r>
                      <a:r>
                        <a:rPr lang="en-US" sz="900" b="1"/>
                        <a:t>Console)</a:t>
                      </a:r>
                      <a:endParaRPr 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=== </a:t>
                      </a:r>
                      <a:r>
                        <a:rPr lang="ko-KR" altLang="en-US" sz="900"/>
                        <a:t>단어 빈도수 </a:t>
                      </a:r>
                      <a:r>
                        <a:rPr lang="en-US" altLang="ko-KR" sz="900"/>
                        <a:t>=== apple: 3</a:t>
                      </a:r>
                      <a:r>
                        <a:rPr lang="ko-KR" altLang="en-US" sz="900"/>
                        <a:t>회 </a:t>
                      </a:r>
                      <a:r>
                        <a:rPr lang="en-US" altLang="ko-KR" sz="900"/>
                        <a:t>banana: 2</a:t>
                      </a:r>
                      <a:r>
                        <a:rPr lang="ko-KR" altLang="en-US" sz="900"/>
                        <a:t>회 </a:t>
                      </a:r>
                      <a:r>
                        <a:rPr lang="en-US" altLang="ko-KR" sz="900"/>
                        <a:t>orange: 1</a:t>
                      </a:r>
                      <a:r>
                        <a:rPr lang="ko-KR" altLang="en-US" sz="900"/>
                        <a:t>회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extLst>
                  <a:ext uri="{0D108BD9-81ED-4DB2-BD59-A6C34878D82A}">
                    <a16:rowId xmlns:a16="http://schemas.microsoft.com/office/drawing/2014/main" val="3975964435"/>
                  </a:ext>
                </a:extLst>
              </a:tr>
              <a:tr h="389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예외 처리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공백 또는 빈 문자열이 입력될 경우 </a:t>
                      </a:r>
                      <a:r>
                        <a:rPr lang="en-US" altLang="ko-KR" sz="900"/>
                        <a:t>Split</a:t>
                      </a:r>
                      <a:r>
                        <a:rPr lang="ko-KR" altLang="en-US" sz="900"/>
                        <a:t> 결과가 비어 있을 수 있음 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예외 없음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단어 없음 출력</a:t>
                      </a:r>
                      <a:r>
                        <a:rPr lang="en-US" altLang="ko-KR" sz="900"/>
                        <a:t>)- </a:t>
                      </a:r>
                      <a:r>
                        <a:rPr lang="ko-KR" altLang="en-US" sz="900"/>
                        <a:t>대소문자 구분 없음 처리 추가 시 개선 가능 </a:t>
                      </a:r>
                      <a:r>
                        <a:rPr lang="en-US" altLang="ko-KR" sz="900"/>
                        <a:t>(ToLower()</a:t>
                      </a:r>
                      <a:r>
                        <a:rPr lang="ko-KR" altLang="en-US" sz="900"/>
                        <a:t> 활용</a:t>
                      </a:r>
                      <a:r>
                        <a:rPr lang="en-US" altLang="ko-KR" sz="900"/>
                        <a:t>)</a:t>
                      </a:r>
                      <a:endParaRPr lang="en-US" altLang="ko-KR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extLst>
                  <a:ext uri="{0D108BD9-81ED-4DB2-BD59-A6C34878D82A}">
                    <a16:rowId xmlns:a16="http://schemas.microsoft.com/office/drawing/2014/main" val="1963596165"/>
                  </a:ext>
                </a:extLst>
              </a:tr>
              <a:tr h="44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테스트 케이스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동일 단어 반복 입력 시 카운트 정확성 검증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새로운 단어 추가 시 </a:t>
                      </a:r>
                      <a:r>
                        <a:rPr lang="en-US" altLang="ko-KR" sz="900"/>
                        <a:t>Hashtable</a:t>
                      </a:r>
                      <a:r>
                        <a:rPr lang="ko-KR" altLang="en-US" sz="900"/>
                        <a:t> 동작 확인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공백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특수문자 포함 문자열 처리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대문자</a:t>
                      </a:r>
                      <a:r>
                        <a:rPr lang="en-US" altLang="ko-KR" sz="900"/>
                        <a:t>/</a:t>
                      </a:r>
                      <a:r>
                        <a:rPr lang="ko-KR" altLang="en-US" sz="900"/>
                        <a:t>소문자 혼합 시 구분 여부 테스트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extLst>
                  <a:ext uri="{0D108BD9-81ED-4DB2-BD59-A6C34878D82A}">
                    <a16:rowId xmlns:a16="http://schemas.microsoft.com/office/drawing/2014/main" val="3877093791"/>
                  </a:ext>
                </a:extLst>
              </a:tr>
              <a:tr h="496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확장 가능성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대소문자 구분 제거 </a:t>
                      </a:r>
                      <a:r>
                        <a:rPr lang="en-US" altLang="ko-KR" sz="900"/>
                        <a:t>(ToLower()) </a:t>
                      </a:r>
                      <a:r>
                        <a:rPr lang="ko-KR" altLang="en-US" sz="900"/>
                        <a:t>처리 추가</a:t>
                      </a:r>
                      <a:r>
                        <a:rPr lang="en-US" altLang="ko-KR" sz="900"/>
                        <a:t>- Dictionary&lt;string,int&gt;</a:t>
                      </a:r>
                      <a:r>
                        <a:rPr lang="ko-KR" altLang="en-US" sz="900"/>
                        <a:t>로 변경하여 제네릭 방식 구현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문장부호 제거 및 정규식 활용 확장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결과를 빈도수 순으로 정렬 출력 기능 추가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extLst>
                  <a:ext uri="{0D108BD9-81ED-4DB2-BD59-A6C34878D82A}">
                    <a16:rowId xmlns:a16="http://schemas.microsoft.com/office/drawing/2014/main" val="3223200517"/>
                  </a:ext>
                </a:extLst>
              </a:tr>
              <a:tr h="142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작성자 </a:t>
                      </a:r>
                      <a:r>
                        <a:rPr lang="en-US" altLang="ko-KR" sz="900" b="1"/>
                        <a:t>/ </a:t>
                      </a:r>
                      <a:r>
                        <a:rPr lang="ko-KR" altLang="en-US" sz="900" b="1"/>
                        <a:t>버전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/>
                        <a:t>작성자</a:t>
                      </a:r>
                      <a:r>
                        <a:rPr lang="en-US" altLang="ko-KR" sz="900"/>
                        <a:t>: </a:t>
                      </a:r>
                      <a:r>
                        <a:rPr lang="ko-KR" altLang="en-US" sz="900"/>
                        <a:t>김대경버전</a:t>
                      </a:r>
                      <a:r>
                        <a:rPr lang="en-US" altLang="ko-KR" sz="900"/>
                        <a:t>: v1.0</a:t>
                      </a:r>
                      <a:r>
                        <a:rPr lang="ko-KR" altLang="en-US" sz="900"/>
                        <a:t>작성일</a:t>
                      </a:r>
                      <a:r>
                        <a:rPr lang="en-US" altLang="ko-KR" sz="900"/>
                        <a:t>: 2025.11.11</a:t>
                      </a:r>
                      <a:endParaRPr lang="en-US" altLang="ko-KR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extLst>
                  <a:ext uri="{0D108BD9-81ED-4DB2-BD59-A6C34878D82A}">
                    <a16:rowId xmlns:a16="http://schemas.microsoft.com/office/drawing/2014/main" val="2146587248"/>
                  </a:ext>
                </a:extLst>
              </a:tr>
              <a:tr h="142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비고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dirty="0"/>
                        <a:t>문자열 처리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해시 테이블 구조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조건문</a:t>
                      </a:r>
                      <a:r>
                        <a:rPr lang="en-US" altLang="ko-KR" sz="900" dirty="0"/>
                        <a:t>(`if</a:t>
                      </a:r>
                      <a:endParaRPr lang="en-US" altLang="ko-KR" sz="9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9426" marR="19426" marT="9713" marB="9713" anchor="ctr"/>
                </a:tc>
                <a:extLst>
                  <a:ext uri="{0D108BD9-81ED-4DB2-BD59-A6C34878D82A}">
                    <a16:rowId xmlns:a16="http://schemas.microsoft.com/office/drawing/2014/main" val="1894227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21593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실습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8: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단어 빈도수 계산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 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WordCount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EE90FE-6311-82AA-C156-E44101A6B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2" y="2181163"/>
            <a:ext cx="5677705" cy="373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4003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실습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8: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단어 빈도수 계산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 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WordCount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  <a:p>
            <a:endParaRPr lang="en-US" altLang="ko-KR" sz="24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using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System.Collections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WordCount</a:t>
            </a:r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string text = "apple banana apple orange banana apple";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string[] words =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text.Split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(' ');</a:t>
            </a:r>
          </a:p>
          <a:p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wordCount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 = new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foreach (string word in words)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if (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wordCount.ContainsKey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(word))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    // 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기존 값에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1 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추가</a:t>
            </a:r>
          </a:p>
          <a:p>
            <a:r>
              <a:rPr lang="ko-KR" altLang="en-US" sz="800" b="1" dirty="0">
                <a:latin typeface="MS Reference Sans Serif" panose="020B0604030504040204" pitchFamily="34" charset="0"/>
              </a:rPr>
              <a:t>                   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int count = (int)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wordCount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[word];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   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wordCount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[word] = count + 1;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}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else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    // 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새 단어 추가</a:t>
            </a:r>
          </a:p>
          <a:p>
            <a:r>
              <a:rPr lang="ko-KR" altLang="en-US" sz="800" b="1" dirty="0">
                <a:latin typeface="MS Reference Sans Serif" panose="020B0604030504040204" pitchFamily="34" charset="0"/>
              </a:rPr>
              <a:t>                   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wordCount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[word] = 1;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}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}</a:t>
            </a:r>
          </a:p>
          <a:p>
            <a:endParaRPr lang="en-US" altLang="ko-KR" sz="800" b="1" dirty="0">
              <a:latin typeface="MS Reference Sans Serif" panose="020B0604030504040204" pitchFamily="34" charset="0"/>
            </a:endParaRP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("=== 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단어 빈도수 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===");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foreach (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DictionaryEntry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 entry in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wordCount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($"{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entry.Key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}: {</a:t>
            </a:r>
            <a:r>
              <a:rPr lang="en-US" altLang="ko-KR" sz="800" b="1" dirty="0" err="1">
                <a:latin typeface="MS Reference Sans Serif" panose="020B0604030504040204" pitchFamily="34" charset="0"/>
              </a:rPr>
              <a:t>entry.Value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}</a:t>
            </a:r>
            <a:r>
              <a:rPr lang="ko-KR" altLang="en-US" sz="800" b="1" dirty="0">
                <a:latin typeface="MS Reference Sans Serif" panose="020B0604030504040204" pitchFamily="34" charset="0"/>
              </a:rPr>
              <a:t>회</a:t>
            </a:r>
            <a:r>
              <a:rPr lang="en-US" altLang="ko-KR" sz="8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    }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800" b="1" dirty="0">
                <a:latin typeface="MS Reference Sans Serif" panose="020B0604030504040204" pitchFamily="34" charset="0"/>
              </a:rPr>
              <a:t>}</a:t>
            </a:r>
          </a:p>
          <a:p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DACA57-4997-439A-CAC7-9A2A6A135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371" y="5663895"/>
            <a:ext cx="1962424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2447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실습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9: 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Hashtable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로 전화번호부 만들기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 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HashPhone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MS Reference Sans Serif" panose="020B0604030504040204" pitchFamily="34" charset="0"/>
              </a:rPr>
              <a:t>전화번호부 프로그램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PRD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와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TODO 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형식 할 일 목록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b="1" dirty="0">
              <a:latin typeface="MS Reference Sans Serif" panose="020B0604030504040204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6F39379-ED34-78DB-2C93-EE3F717F8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279593"/>
              </p:ext>
            </p:extLst>
          </p:nvPr>
        </p:nvGraphicFramePr>
        <p:xfrm>
          <a:off x="258792" y="2344634"/>
          <a:ext cx="8626416" cy="43121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99320">
                  <a:extLst>
                    <a:ext uri="{9D8B030D-6E8A-4147-A177-3AD203B41FA5}">
                      <a16:colId xmlns:a16="http://schemas.microsoft.com/office/drawing/2014/main" val="378960885"/>
                    </a:ext>
                  </a:extLst>
                </a:gridCol>
                <a:gridCol w="5230368">
                  <a:extLst>
                    <a:ext uri="{9D8B030D-6E8A-4147-A177-3AD203B41FA5}">
                      <a16:colId xmlns:a16="http://schemas.microsoft.com/office/drawing/2014/main" val="707491084"/>
                    </a:ext>
                  </a:extLst>
                </a:gridCol>
                <a:gridCol w="1996728">
                  <a:extLst>
                    <a:ext uri="{9D8B030D-6E8A-4147-A177-3AD203B41FA5}">
                      <a16:colId xmlns:a16="http://schemas.microsoft.com/office/drawing/2014/main" val="2590771746"/>
                    </a:ext>
                  </a:extLst>
                </a:gridCol>
              </a:tblGrid>
              <a:tr h="161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dirty="0"/>
                        <a:t>구분</a:t>
                      </a:r>
                      <a:endParaRPr lang="ko-KR" altLang="en-US" sz="9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dirty="0"/>
                        <a:t>항목</a:t>
                      </a:r>
                      <a:endParaRPr lang="ko-KR" altLang="en-US" sz="9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dirty="0"/>
                        <a:t>설명</a:t>
                      </a:r>
                      <a:endParaRPr lang="ko-KR" altLang="en-US" sz="9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290670"/>
                  </a:ext>
                </a:extLst>
              </a:tr>
              <a:tr h="30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프로젝트명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HashPhone</a:t>
                      </a:r>
                      <a:endParaRPr 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Hashtable</a:t>
                      </a:r>
                      <a:r>
                        <a:rPr lang="ko-KR" altLang="en-US" sz="900"/>
                        <a:t>을 활용한 콘솔 기반 전화번호부 관리 프로그램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extLst>
                  <a:ext uri="{0D108BD9-81ED-4DB2-BD59-A6C34878D82A}">
                    <a16:rowId xmlns:a16="http://schemas.microsoft.com/office/drawing/2014/main" val="914995467"/>
                  </a:ext>
                </a:extLst>
              </a:tr>
              <a:tr h="30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개발 언어 </a:t>
                      </a:r>
                      <a:r>
                        <a:rPr lang="en-US" altLang="ko-KR" sz="900" b="1"/>
                        <a:t>/ </a:t>
                      </a:r>
                      <a:r>
                        <a:rPr lang="ko-KR" altLang="en-US" sz="900" b="1"/>
                        <a:t>환경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C#, .NET Console Application</a:t>
                      </a:r>
                      <a:endParaRPr 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Visual Studio </a:t>
                      </a:r>
                      <a:r>
                        <a:rPr lang="ko-KR" altLang="en-US" sz="900"/>
                        <a:t>또는 </a:t>
                      </a:r>
                      <a:r>
                        <a:rPr lang="en-US" altLang="ko-KR" sz="900"/>
                        <a:t>VS Code </a:t>
                      </a:r>
                      <a:r>
                        <a:rPr lang="ko-KR" altLang="en-US" sz="900"/>
                        <a:t>환경에서 실행 가능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extLst>
                  <a:ext uri="{0D108BD9-81ED-4DB2-BD59-A6C34878D82A}">
                    <a16:rowId xmlns:a16="http://schemas.microsoft.com/office/drawing/2014/main" val="52322725"/>
                  </a:ext>
                </a:extLst>
              </a:tr>
              <a:tr h="30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개발 목적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/>
                        <a:t>키</a:t>
                      </a:r>
                      <a:r>
                        <a:rPr lang="en-US" altLang="ko-KR" sz="900"/>
                        <a:t>(Key)-</a:t>
                      </a:r>
                      <a:r>
                        <a:rPr lang="ko-KR" altLang="en-US" sz="900"/>
                        <a:t>값</a:t>
                      </a:r>
                      <a:r>
                        <a:rPr lang="en-US" altLang="ko-KR" sz="900"/>
                        <a:t>(Value) </a:t>
                      </a:r>
                      <a:r>
                        <a:rPr lang="ko-KR" altLang="en-US" sz="900"/>
                        <a:t>구조의 </a:t>
                      </a:r>
                      <a:r>
                        <a:rPr lang="en-US" altLang="ko-KR" sz="900" b="1"/>
                        <a:t>Hashtable</a:t>
                      </a:r>
                      <a:r>
                        <a:rPr lang="ko-KR" altLang="en-US" sz="900"/>
                        <a:t>을 활용해 이름과 전화번호를 저장</a:t>
                      </a:r>
                      <a:r>
                        <a:rPr lang="en-US" altLang="ko-KR" sz="900"/>
                        <a:t>·</a:t>
                      </a:r>
                      <a:r>
                        <a:rPr lang="ko-KR" altLang="en-US" sz="900"/>
                        <a:t>검색</a:t>
                      </a:r>
                      <a:r>
                        <a:rPr lang="en-US" altLang="ko-KR" sz="900"/>
                        <a:t>·</a:t>
                      </a:r>
                      <a:r>
                        <a:rPr lang="ko-KR" altLang="en-US" sz="900"/>
                        <a:t>삭제</a:t>
                      </a:r>
                      <a:r>
                        <a:rPr lang="en-US" altLang="ko-KR" sz="900"/>
                        <a:t>·</a:t>
                      </a:r>
                      <a:r>
                        <a:rPr lang="ko-KR" altLang="en-US" sz="900"/>
                        <a:t>수정할 수 있는 기본 연락처 관리 프로그램 구현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extLst>
                  <a:ext uri="{0D108BD9-81ED-4DB2-BD59-A6C34878D82A}">
                    <a16:rowId xmlns:a16="http://schemas.microsoft.com/office/drawing/2014/main" val="3109561671"/>
                  </a:ext>
                </a:extLst>
              </a:tr>
              <a:tr h="30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기능 요약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1️⃣ </a:t>
                      </a:r>
                      <a:r>
                        <a:rPr lang="ko-KR" altLang="en-US" sz="900"/>
                        <a:t>연락처 추가 및 수정</a:t>
                      </a:r>
                      <a:r>
                        <a:rPr lang="en-US" altLang="ko-KR" sz="900"/>
                        <a:t>2️⃣ </a:t>
                      </a:r>
                      <a:r>
                        <a:rPr lang="ko-KR" altLang="en-US" sz="900"/>
                        <a:t>이름으로 연락처 검색</a:t>
                      </a:r>
                      <a:r>
                        <a:rPr lang="en-US" altLang="ko-KR" sz="900"/>
                        <a:t>3️⃣ </a:t>
                      </a:r>
                      <a:r>
                        <a:rPr lang="ko-KR" altLang="en-US" sz="900"/>
                        <a:t>연락처 삭제</a:t>
                      </a:r>
                      <a:r>
                        <a:rPr lang="en-US" altLang="ko-KR" sz="900"/>
                        <a:t>4️⃣ </a:t>
                      </a:r>
                      <a:r>
                        <a:rPr lang="ko-KR" altLang="en-US" sz="900"/>
                        <a:t>전체 목록 출력</a:t>
                      </a:r>
                      <a:r>
                        <a:rPr lang="en-US" altLang="ko-KR" sz="900"/>
                        <a:t>5️⃣ </a:t>
                      </a:r>
                      <a:r>
                        <a:rPr lang="ko-KR" altLang="en-US" sz="900"/>
                        <a:t>통계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총 연락처 수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휴대폰</a:t>
                      </a:r>
                      <a:r>
                        <a:rPr lang="en-US" altLang="ko-KR" sz="900"/>
                        <a:t>/</a:t>
                      </a:r>
                      <a:r>
                        <a:rPr lang="ko-KR" altLang="en-US" sz="900"/>
                        <a:t>일반 전화 구분</a:t>
                      </a:r>
                      <a:r>
                        <a:rPr lang="en-US" altLang="ko-KR" sz="900"/>
                        <a:t>)6️⃣ </a:t>
                      </a:r>
                      <a:r>
                        <a:rPr lang="ko-KR" altLang="en-US" sz="900"/>
                        <a:t>프로그램 종료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extLst>
                  <a:ext uri="{0D108BD9-81ED-4DB2-BD59-A6C34878D82A}">
                    <a16:rowId xmlns:a16="http://schemas.microsoft.com/office/drawing/2014/main" val="2080856420"/>
                  </a:ext>
                </a:extLst>
              </a:tr>
              <a:tr h="30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입력 데이터 구조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1" dirty="0" err="1"/>
                        <a:t>Hashtable</a:t>
                      </a:r>
                      <a:r>
                        <a:rPr lang="en-US" altLang="ko-KR" sz="900" b="1" dirty="0"/>
                        <a:t> </a:t>
                      </a:r>
                      <a:r>
                        <a:rPr lang="en-US" altLang="ko-KR" sz="900" b="1" dirty="0" err="1"/>
                        <a:t>phoneBook</a:t>
                      </a:r>
                      <a:r>
                        <a:rPr lang="en-US" altLang="ko-KR" sz="900" b="1" dirty="0"/>
                        <a:t>- Key: </a:t>
                      </a:r>
                      <a:r>
                        <a:rPr lang="ko-KR" altLang="en-US" sz="900" b="1" dirty="0"/>
                        <a:t>이름 </a:t>
                      </a:r>
                      <a:r>
                        <a:rPr lang="en-US" altLang="ko-KR" sz="900" b="1" dirty="0"/>
                        <a:t>(string)- Value: </a:t>
                      </a:r>
                      <a:r>
                        <a:rPr lang="ko-KR" altLang="en-US" sz="900" b="1" dirty="0"/>
                        <a:t>전화번호 </a:t>
                      </a:r>
                      <a:r>
                        <a:rPr lang="en-US" altLang="ko-KR" sz="900" b="1" dirty="0"/>
                        <a:t>(string)</a:t>
                      </a:r>
                      <a:r>
                        <a:rPr lang="ko-KR" altLang="en-US" sz="900" b="1" dirty="0"/>
                        <a:t>초기값</a:t>
                      </a:r>
                      <a:r>
                        <a:rPr lang="en-US" altLang="ko-KR" sz="900" b="1" dirty="0"/>
                        <a:t>: {"</a:t>
                      </a:r>
                      <a:r>
                        <a:rPr lang="ko-KR" altLang="en-US" sz="900" b="1" dirty="0"/>
                        <a:t>홍길동</a:t>
                      </a:r>
                      <a:r>
                        <a:rPr lang="en-US" altLang="ko-KR" sz="900" b="1" dirty="0"/>
                        <a:t>": "010-1234-5678", "</a:t>
                      </a:r>
                      <a:r>
                        <a:rPr lang="ko-KR" altLang="en-US" sz="900" b="1" dirty="0"/>
                        <a:t>김철수</a:t>
                      </a:r>
                      <a:r>
                        <a:rPr lang="en-US" altLang="ko-KR" sz="900" b="1" dirty="0"/>
                        <a:t>": "010-2345-6789", "</a:t>
                      </a:r>
                      <a:r>
                        <a:rPr lang="ko-KR" altLang="en-US" sz="900" b="1" dirty="0"/>
                        <a:t>이영희</a:t>
                      </a:r>
                      <a:r>
                        <a:rPr lang="en-US" altLang="ko-KR" sz="900" b="1" dirty="0"/>
                        <a:t>": "010-3456-7890", "</a:t>
                      </a:r>
                      <a:r>
                        <a:rPr lang="ko-KR" altLang="en-US" sz="900" b="1" dirty="0"/>
                        <a:t>박민수</a:t>
                      </a:r>
                      <a:r>
                        <a:rPr lang="en-US" altLang="ko-KR" sz="900" b="1" dirty="0"/>
                        <a:t>": "02-1234-5678", "</a:t>
                      </a:r>
                      <a:r>
                        <a:rPr lang="ko-KR" altLang="en-US" sz="900" b="1" dirty="0"/>
                        <a:t>최지영</a:t>
                      </a:r>
                      <a:r>
                        <a:rPr lang="en-US" altLang="ko-KR" sz="900" b="1" dirty="0"/>
                        <a:t>": "010-4567-8901"}</a:t>
                      </a:r>
                      <a:endParaRPr lang="en-US" altLang="ko-KR" sz="900" b="1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extLst>
                  <a:ext uri="{0D108BD9-81ED-4DB2-BD59-A6C34878D82A}">
                    <a16:rowId xmlns:a16="http://schemas.microsoft.com/office/drawing/2014/main" val="4154260109"/>
                  </a:ext>
                </a:extLst>
              </a:tr>
              <a:tr h="161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출력 데이터 구조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/>
                        <a:t>콘솔 기반 메뉴 및 결과 메시지 출력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extLst>
                  <a:ext uri="{0D108BD9-81ED-4DB2-BD59-A6C34878D82A}">
                    <a16:rowId xmlns:a16="http://schemas.microsoft.com/office/drawing/2014/main" val="1555671728"/>
                  </a:ext>
                </a:extLst>
              </a:tr>
              <a:tr h="74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주요 처리 로직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- </a:t>
                      </a:r>
                      <a:r>
                        <a:rPr lang="ko-KR" altLang="en-US" sz="900" b="1"/>
                        <a:t>메뉴 루프</a:t>
                      </a:r>
                      <a:r>
                        <a:rPr lang="en-US" altLang="ko-KR" sz="900"/>
                        <a:t>(while(true))</a:t>
                      </a:r>
                      <a:r>
                        <a:rPr lang="ko-KR" altLang="en-US" sz="900"/>
                        <a:t>를 통해 지속적으로 사용자 입력을 처리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각 기능은 </a:t>
                      </a:r>
                      <a:r>
                        <a:rPr lang="en-US" altLang="ko-KR" sz="900"/>
                        <a:t>switch(choice)</a:t>
                      </a:r>
                      <a:r>
                        <a:rPr lang="ko-KR" altLang="en-US" sz="900"/>
                        <a:t> 구문으로 분기 </a:t>
                      </a:r>
                      <a:r>
                        <a:rPr lang="en-US" altLang="ko-KR" sz="900"/>
                        <a:t>- </a:t>
                      </a:r>
                      <a:r>
                        <a:rPr lang="en-US" altLang="ko-KR" sz="900" b="1"/>
                        <a:t>1. </a:t>
                      </a:r>
                      <a:r>
                        <a:rPr lang="ko-KR" altLang="en-US" sz="900" b="1"/>
                        <a:t>연락처 추가</a:t>
                      </a:r>
                      <a:r>
                        <a:rPr lang="en-US" altLang="ko-KR" sz="900"/>
                        <a:t>: ContainsKey()</a:t>
                      </a:r>
                      <a:r>
                        <a:rPr lang="ko-KR" altLang="en-US" sz="900"/>
                        <a:t>로 중복 여부 확인 → 새 항목 추가 또는 덮어쓰기 </a:t>
                      </a:r>
                      <a:r>
                        <a:rPr lang="en-US" altLang="ko-KR" sz="900"/>
                        <a:t>- </a:t>
                      </a:r>
                      <a:r>
                        <a:rPr lang="en-US" altLang="ko-KR" sz="900" b="1"/>
                        <a:t>2. </a:t>
                      </a:r>
                      <a:r>
                        <a:rPr lang="ko-KR" altLang="en-US" sz="900" b="1"/>
                        <a:t>연락처 검색</a:t>
                      </a:r>
                      <a:r>
                        <a:rPr lang="en-US" altLang="ko-KR" sz="900"/>
                        <a:t>: </a:t>
                      </a:r>
                      <a:r>
                        <a:rPr lang="ko-KR" altLang="en-US" sz="900"/>
                        <a:t>이름 입력 후 존재 시 출력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없으면 오류 메시지 </a:t>
                      </a:r>
                      <a:r>
                        <a:rPr lang="en-US" altLang="ko-KR" sz="900"/>
                        <a:t>- </a:t>
                      </a:r>
                      <a:r>
                        <a:rPr lang="en-US" altLang="ko-KR" sz="900" b="1"/>
                        <a:t>3. </a:t>
                      </a:r>
                      <a:r>
                        <a:rPr lang="ko-KR" altLang="en-US" sz="900" b="1"/>
                        <a:t>연락처 삭제</a:t>
                      </a:r>
                      <a:r>
                        <a:rPr lang="en-US" altLang="ko-KR" sz="900"/>
                        <a:t>: Remove()</a:t>
                      </a:r>
                      <a:r>
                        <a:rPr lang="ko-KR" altLang="en-US" sz="900"/>
                        <a:t>로 해당 키 삭제 </a:t>
                      </a:r>
                      <a:r>
                        <a:rPr lang="en-US" altLang="ko-KR" sz="900"/>
                        <a:t>- </a:t>
                      </a:r>
                      <a:r>
                        <a:rPr lang="en-US" altLang="ko-KR" sz="900" b="1"/>
                        <a:t>4. </a:t>
                      </a:r>
                      <a:r>
                        <a:rPr lang="ko-KR" altLang="en-US" sz="900" b="1"/>
                        <a:t>전체 목록 출력</a:t>
                      </a:r>
                      <a:r>
                        <a:rPr lang="en-US" altLang="ko-KR" sz="900"/>
                        <a:t>: foreach(DictionaryEntry entry)</a:t>
                      </a:r>
                      <a:r>
                        <a:rPr lang="ko-KR" altLang="en-US" sz="900"/>
                        <a:t>로 모든 항목 출력 </a:t>
                      </a:r>
                      <a:r>
                        <a:rPr lang="en-US" altLang="ko-KR" sz="900"/>
                        <a:t>- </a:t>
                      </a:r>
                      <a:r>
                        <a:rPr lang="en-US" altLang="ko-KR" sz="900" b="1"/>
                        <a:t>5. </a:t>
                      </a:r>
                      <a:r>
                        <a:rPr lang="ko-KR" altLang="en-US" sz="900" b="1"/>
                        <a:t>통계</a:t>
                      </a:r>
                      <a:r>
                        <a:rPr lang="en-US" altLang="ko-KR" sz="900"/>
                        <a:t>: StartsWith("010")</a:t>
                      </a:r>
                      <a:r>
                        <a:rPr lang="ko-KR" altLang="en-US" sz="900"/>
                        <a:t>으로 휴대폰</a:t>
                      </a:r>
                      <a:r>
                        <a:rPr lang="en-US" altLang="ko-KR" sz="900"/>
                        <a:t>/</a:t>
                      </a:r>
                      <a:r>
                        <a:rPr lang="ko-KR" altLang="en-US" sz="900"/>
                        <a:t>일반전화 구분 </a:t>
                      </a:r>
                      <a:r>
                        <a:rPr lang="en-US" altLang="ko-KR" sz="900"/>
                        <a:t>- </a:t>
                      </a:r>
                      <a:r>
                        <a:rPr lang="en-US" altLang="ko-KR" sz="900" b="1"/>
                        <a:t>6. </a:t>
                      </a:r>
                      <a:r>
                        <a:rPr lang="ko-KR" altLang="en-US" sz="900" b="1"/>
                        <a:t>종료</a:t>
                      </a:r>
                      <a:r>
                        <a:rPr lang="en-US" altLang="ko-KR" sz="900"/>
                        <a:t>: return</a:t>
                      </a:r>
                      <a:r>
                        <a:rPr lang="ko-KR" altLang="en-US" sz="900"/>
                        <a:t>으로 프로그램 종료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extLst>
                  <a:ext uri="{0D108BD9-81ED-4DB2-BD59-A6C34878D82A}">
                    <a16:rowId xmlns:a16="http://schemas.microsoft.com/office/drawing/2014/main" val="1176204819"/>
                  </a:ext>
                </a:extLst>
              </a:tr>
              <a:tr h="30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출력 예시 </a:t>
                      </a:r>
                      <a:r>
                        <a:rPr lang="en-US" altLang="ko-KR" sz="900" b="1"/>
                        <a:t>(</a:t>
                      </a:r>
                      <a:r>
                        <a:rPr lang="en-US" sz="900" b="1"/>
                        <a:t>Console)</a:t>
                      </a:r>
                      <a:endParaRPr 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=== </a:t>
                      </a:r>
                      <a:r>
                        <a:rPr lang="ko-KR" altLang="en-US" sz="900"/>
                        <a:t>전화번호부 </a:t>
                      </a:r>
                      <a:r>
                        <a:rPr lang="en-US" altLang="ko-KR" sz="900"/>
                        <a:t>=== 1. </a:t>
                      </a:r>
                      <a:r>
                        <a:rPr lang="ko-KR" altLang="en-US" sz="900"/>
                        <a:t>연락처 추가 </a:t>
                      </a:r>
                      <a:r>
                        <a:rPr lang="en-US" altLang="ko-KR" sz="900"/>
                        <a:t>2. </a:t>
                      </a:r>
                      <a:r>
                        <a:rPr lang="ko-KR" altLang="en-US" sz="900"/>
                        <a:t>연락처 검색 </a:t>
                      </a:r>
                      <a:r>
                        <a:rPr lang="en-US" altLang="ko-KR" sz="900"/>
                        <a:t>3. </a:t>
                      </a:r>
                      <a:r>
                        <a:rPr lang="ko-KR" altLang="en-US" sz="900"/>
                        <a:t>연락처 삭제 </a:t>
                      </a:r>
                      <a:r>
                        <a:rPr lang="en-US" altLang="ko-KR" sz="900"/>
                        <a:t>4. </a:t>
                      </a:r>
                      <a:r>
                        <a:rPr lang="ko-KR" altLang="en-US" sz="900"/>
                        <a:t>전체 목록 </a:t>
                      </a:r>
                      <a:r>
                        <a:rPr lang="en-US" altLang="ko-KR" sz="900"/>
                        <a:t>5. </a:t>
                      </a:r>
                      <a:r>
                        <a:rPr lang="ko-KR" altLang="en-US" sz="900"/>
                        <a:t>통계 </a:t>
                      </a:r>
                      <a:r>
                        <a:rPr lang="en-US" altLang="ko-KR" sz="900"/>
                        <a:t>6. </a:t>
                      </a:r>
                      <a:r>
                        <a:rPr lang="ko-KR" altLang="en-US" sz="900"/>
                        <a:t>종료 선택</a:t>
                      </a:r>
                      <a:r>
                        <a:rPr lang="en-US" altLang="ko-KR" sz="900"/>
                        <a:t>: 4 === </a:t>
                      </a:r>
                      <a:r>
                        <a:rPr lang="ko-KR" altLang="en-US" sz="900"/>
                        <a:t>전체 연락처 </a:t>
                      </a:r>
                      <a:r>
                        <a:rPr lang="en-US" altLang="ko-KR" sz="900"/>
                        <a:t>=== </a:t>
                      </a:r>
                      <a:r>
                        <a:rPr lang="ko-KR" altLang="en-US" sz="900"/>
                        <a:t>홍길동</a:t>
                      </a:r>
                      <a:r>
                        <a:rPr lang="en-US" altLang="ko-KR" sz="900"/>
                        <a:t>: 010-1234-5678 </a:t>
                      </a:r>
                      <a:r>
                        <a:rPr lang="ko-KR" altLang="en-US" sz="900"/>
                        <a:t>김철수</a:t>
                      </a:r>
                      <a:r>
                        <a:rPr lang="en-US" altLang="ko-KR" sz="900"/>
                        <a:t>: 010-2345-6789 ... </a:t>
                      </a:r>
                      <a:r>
                        <a:rPr lang="ko-KR" altLang="en-US" sz="900"/>
                        <a:t>총 </a:t>
                      </a:r>
                      <a:r>
                        <a:rPr lang="en-US" altLang="ko-KR" sz="900"/>
                        <a:t>5</a:t>
                      </a:r>
                      <a:r>
                        <a:rPr lang="ko-KR" altLang="en-US" sz="900"/>
                        <a:t>개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extLst>
                  <a:ext uri="{0D108BD9-81ED-4DB2-BD59-A6C34878D82A}">
                    <a16:rowId xmlns:a16="http://schemas.microsoft.com/office/drawing/2014/main" val="3397735359"/>
                  </a:ext>
                </a:extLst>
              </a:tr>
              <a:tr h="30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예외 처리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동일 이름 존재 시 덮어쓰기 여부 선택 </a:t>
                      </a:r>
                      <a:r>
                        <a:rPr lang="en-US" altLang="ko-KR" sz="900"/>
                        <a:t>(y/n)- </a:t>
                      </a:r>
                      <a:r>
                        <a:rPr lang="ko-KR" altLang="en-US" sz="900"/>
                        <a:t>존재하지 않는 이름 검색</a:t>
                      </a:r>
                      <a:r>
                        <a:rPr lang="en-US" altLang="ko-KR" sz="900"/>
                        <a:t>/</a:t>
                      </a:r>
                      <a:r>
                        <a:rPr lang="ko-KR" altLang="en-US" sz="900"/>
                        <a:t>삭제 시 오류 메시지 출력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빈 문자열 입력 시 예외 발생 방지 처리 가능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extLst>
                  <a:ext uri="{0D108BD9-81ED-4DB2-BD59-A6C34878D82A}">
                    <a16:rowId xmlns:a16="http://schemas.microsoft.com/office/drawing/2014/main" val="3676436138"/>
                  </a:ext>
                </a:extLst>
              </a:tr>
              <a:tr h="30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테스트 케이스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중복 이름 추가 시 덮어쓰기 확인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존재하지 않는 이름 검색 및 삭제 시 예외 처리 확인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전체 목록 출력 시 개수 일치 여부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휴대폰</a:t>
                      </a:r>
                      <a:r>
                        <a:rPr lang="en-US" altLang="ko-KR" sz="900"/>
                        <a:t>/</a:t>
                      </a:r>
                      <a:r>
                        <a:rPr lang="ko-KR" altLang="en-US" sz="900"/>
                        <a:t>일반 전화 통계 정확성 검증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extLst>
                  <a:ext uri="{0D108BD9-81ED-4DB2-BD59-A6C34878D82A}">
                    <a16:rowId xmlns:a16="http://schemas.microsoft.com/office/drawing/2014/main" val="526499224"/>
                  </a:ext>
                </a:extLst>
              </a:tr>
              <a:tr h="30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확장 가능성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연락처를 파일</a:t>
                      </a:r>
                      <a:r>
                        <a:rPr lang="en-US" altLang="ko-KR" sz="900"/>
                        <a:t>(CSV, JSON)</a:t>
                      </a:r>
                      <a:r>
                        <a:rPr lang="ko-KR" altLang="en-US" sz="900"/>
                        <a:t>로 저장</a:t>
                      </a:r>
                      <a:r>
                        <a:rPr lang="en-US" altLang="ko-KR" sz="900"/>
                        <a:t>/</a:t>
                      </a:r>
                      <a:r>
                        <a:rPr lang="ko-KR" altLang="en-US" sz="900"/>
                        <a:t>불러오기 기능 추가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이름 또는 번호 기준 정렬 기능 추가</a:t>
                      </a: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검색 기능 개선 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부분 일치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대소문자 무시 등</a:t>
                      </a:r>
                      <a:r>
                        <a:rPr lang="en-US" altLang="ko-KR" sz="900"/>
                        <a:t>)- GUI </a:t>
                      </a:r>
                      <a:r>
                        <a:rPr lang="ko-KR" altLang="en-US" sz="900"/>
                        <a:t>기반 전화번호부 </a:t>
                      </a:r>
                      <a:r>
                        <a:rPr lang="en-US" altLang="ko-KR" sz="900"/>
                        <a:t>(Windows Forms </a:t>
                      </a:r>
                      <a:r>
                        <a:rPr lang="ko-KR" altLang="en-US" sz="900"/>
                        <a:t>또는 </a:t>
                      </a:r>
                      <a:r>
                        <a:rPr lang="en-US" altLang="ko-KR" sz="900"/>
                        <a:t>WPF)</a:t>
                      </a:r>
                      <a:r>
                        <a:rPr lang="ko-KR" altLang="en-US" sz="900"/>
                        <a:t>로 확장 가능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extLst>
                  <a:ext uri="{0D108BD9-81ED-4DB2-BD59-A6C34878D82A}">
                    <a16:rowId xmlns:a16="http://schemas.microsoft.com/office/drawing/2014/main" val="1711210828"/>
                  </a:ext>
                </a:extLst>
              </a:tr>
              <a:tr h="161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작성자 </a:t>
                      </a:r>
                      <a:r>
                        <a:rPr lang="en-US" altLang="ko-KR" sz="900" b="1"/>
                        <a:t>/ </a:t>
                      </a:r>
                      <a:r>
                        <a:rPr lang="ko-KR" altLang="en-US" sz="900" b="1"/>
                        <a:t>버전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/>
                        <a:t>작성자</a:t>
                      </a:r>
                      <a:r>
                        <a:rPr lang="en-US" altLang="ko-KR" sz="900"/>
                        <a:t>: </a:t>
                      </a:r>
                      <a:r>
                        <a:rPr lang="ko-KR" altLang="en-US" sz="900"/>
                        <a:t>김대경버전</a:t>
                      </a:r>
                      <a:r>
                        <a:rPr lang="en-US" altLang="ko-KR" sz="900"/>
                        <a:t>: v1.0</a:t>
                      </a:r>
                      <a:r>
                        <a:rPr lang="ko-KR" altLang="en-US" sz="900"/>
                        <a:t>작성일</a:t>
                      </a:r>
                      <a:r>
                        <a:rPr lang="en-US" altLang="ko-KR" sz="900"/>
                        <a:t>: 2025.11.11</a:t>
                      </a:r>
                      <a:endParaRPr lang="en-US" altLang="ko-KR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extLst>
                  <a:ext uri="{0D108BD9-81ED-4DB2-BD59-A6C34878D82A}">
                    <a16:rowId xmlns:a16="http://schemas.microsoft.com/office/drawing/2014/main" val="3121229008"/>
                  </a:ext>
                </a:extLst>
              </a:tr>
              <a:tr h="30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비고</a:t>
                      </a:r>
                      <a:endParaRPr lang="ko-KR" altLang="en-US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/>
                        <a:t>Hashtable</a:t>
                      </a:r>
                      <a:r>
                        <a:rPr lang="ko-KR" altLang="en-US" sz="900"/>
                        <a:t>의 기본 동작</a:t>
                      </a:r>
                      <a:r>
                        <a:rPr lang="en-US" altLang="ko-KR" sz="900"/>
                        <a:t>(Add, Remove, ContainsKey, foreach)</a:t>
                      </a:r>
                      <a:r>
                        <a:rPr lang="ko-KR" altLang="en-US" sz="900"/>
                        <a:t>을 실습하기에 적합한 예제이며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콘솔 메뉴 기반 사용자 인터페이스 설계의 기초를 함께 익힐 수 있음</a:t>
                      </a:r>
                      <a:r>
                        <a:rPr lang="en-US" altLang="ko-KR" sz="900"/>
                        <a:t>.</a:t>
                      </a:r>
                      <a:endParaRPr lang="en-US" altLang="ko-KR" sz="9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9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marL="14408" marR="14408" marT="7204" marB="7204" anchor="ctr"/>
                </a:tc>
                <a:extLst>
                  <a:ext uri="{0D108BD9-81ED-4DB2-BD59-A6C34878D82A}">
                    <a16:rowId xmlns:a16="http://schemas.microsoft.com/office/drawing/2014/main" val="1979760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88813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실습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9: 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Hashtable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로 전화번호부 만들기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 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HashPhone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MS Reference Sans Serif" panose="020B0604030504040204" pitchFamily="34" charset="0"/>
              </a:rPr>
              <a:t>PRD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와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TODO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형식 할 일 목록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…</a:t>
            </a:r>
          </a:p>
          <a:p>
            <a:endParaRPr lang="en-US" altLang="ko-KR" sz="2400" b="1" dirty="0">
              <a:latin typeface="MS Reference Sans Serif" panose="020B0604030504040204" pitchFamily="34" charset="0"/>
            </a:endParaRPr>
          </a:p>
          <a:p>
            <a:r>
              <a:rPr lang="en-US" altLang="ko-KR" b="1" dirty="0">
                <a:latin typeface="MS Reference Sans Serif" panose="020B0604030504040204" pitchFamily="34" charset="0"/>
              </a:rPr>
              <a:t>TODO 1: </a:t>
            </a:r>
            <a:r>
              <a:rPr lang="ko-KR" altLang="en-US" b="1" dirty="0">
                <a:latin typeface="MS Reference Sans Serif" panose="020B0604030504040204" pitchFamily="34" charset="0"/>
              </a:rPr>
              <a:t>초기 연락처 </a:t>
            </a:r>
            <a:r>
              <a:rPr lang="en-US" altLang="ko-KR" b="1" dirty="0">
                <a:latin typeface="MS Reference Sans Serif" panose="020B0604030504040204" pitchFamily="34" charset="0"/>
              </a:rPr>
              <a:t>5</a:t>
            </a:r>
            <a:r>
              <a:rPr lang="ko-KR" altLang="en-US" b="1" dirty="0">
                <a:latin typeface="MS Reference Sans Serif" panose="020B0604030504040204" pitchFamily="34" charset="0"/>
              </a:rPr>
              <a:t>개 추가</a:t>
            </a:r>
          </a:p>
          <a:p>
            <a:r>
              <a:rPr lang="ko-KR" altLang="en-US" b="1" dirty="0">
                <a:latin typeface="MS Reference Sans Serif" panose="020B0604030504040204" pitchFamily="34" charset="0"/>
              </a:rPr>
              <a:t>        이름</a:t>
            </a:r>
            <a:r>
              <a:rPr lang="en-US" altLang="ko-KR" b="1" dirty="0">
                <a:latin typeface="MS Reference Sans Serif" panose="020B0604030504040204" pitchFamily="34" charset="0"/>
              </a:rPr>
              <a:t>(string), </a:t>
            </a:r>
            <a:r>
              <a:rPr lang="ko-KR" altLang="en-US" b="1" dirty="0">
                <a:latin typeface="MS Reference Sans Serif" panose="020B0604030504040204" pitchFamily="34" charset="0"/>
              </a:rPr>
              <a:t>전화번호</a:t>
            </a:r>
            <a:r>
              <a:rPr lang="en-US" altLang="ko-KR" b="1" dirty="0">
                <a:latin typeface="MS Reference Sans Serif" panose="020B0604030504040204" pitchFamily="34" charset="0"/>
              </a:rPr>
              <a:t>(string)</a:t>
            </a:r>
          </a:p>
          <a:p>
            <a:r>
              <a:rPr lang="en-US" altLang="ko-KR" b="1" dirty="0">
                <a:latin typeface="MS Reference Sans Serif" panose="020B0604030504040204" pitchFamily="34" charset="0"/>
              </a:rPr>
              <a:t>        </a:t>
            </a:r>
          </a:p>
          <a:p>
            <a:r>
              <a:rPr lang="en-US" altLang="ko-KR" b="1" dirty="0">
                <a:latin typeface="MS Reference Sans Serif" panose="020B0604030504040204" pitchFamily="34" charset="0"/>
              </a:rPr>
              <a:t>TODO 2: </a:t>
            </a:r>
            <a:r>
              <a:rPr lang="ko-KR" altLang="en-US" b="1" dirty="0">
                <a:latin typeface="MS Reference Sans Serif" panose="020B0604030504040204" pitchFamily="34" charset="0"/>
              </a:rPr>
              <a:t>메뉴 시스템 구현</a:t>
            </a:r>
          </a:p>
          <a:p>
            <a:r>
              <a:rPr lang="ko-KR" altLang="en-US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b="1" dirty="0">
                <a:latin typeface="MS Reference Sans Serif" panose="020B0604030504040204" pitchFamily="34" charset="0"/>
              </a:rPr>
              <a:t>1. </a:t>
            </a:r>
            <a:r>
              <a:rPr lang="ko-KR" altLang="en-US" b="1" dirty="0">
                <a:latin typeface="MS Reference Sans Serif" panose="020B0604030504040204" pitchFamily="34" charset="0"/>
              </a:rPr>
              <a:t>연락처 추가</a:t>
            </a:r>
          </a:p>
          <a:p>
            <a:r>
              <a:rPr lang="ko-KR" altLang="en-US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b="1" dirty="0">
                <a:latin typeface="MS Reference Sans Serif" panose="020B0604030504040204" pitchFamily="34" charset="0"/>
              </a:rPr>
              <a:t>2. </a:t>
            </a:r>
            <a:r>
              <a:rPr lang="ko-KR" altLang="en-US" b="1" dirty="0">
                <a:latin typeface="MS Reference Sans Serif" panose="020B0604030504040204" pitchFamily="34" charset="0"/>
              </a:rPr>
              <a:t>연락처 검색</a:t>
            </a:r>
          </a:p>
          <a:p>
            <a:r>
              <a:rPr lang="ko-KR" altLang="en-US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b="1" dirty="0">
                <a:latin typeface="MS Reference Sans Serif" panose="020B0604030504040204" pitchFamily="34" charset="0"/>
              </a:rPr>
              <a:t>3. </a:t>
            </a:r>
            <a:r>
              <a:rPr lang="ko-KR" altLang="en-US" b="1" dirty="0">
                <a:latin typeface="MS Reference Sans Serif" panose="020B0604030504040204" pitchFamily="34" charset="0"/>
              </a:rPr>
              <a:t>연락처 삭제</a:t>
            </a:r>
          </a:p>
          <a:p>
            <a:r>
              <a:rPr lang="ko-KR" altLang="en-US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b="1" dirty="0">
                <a:latin typeface="MS Reference Sans Serif" panose="020B0604030504040204" pitchFamily="34" charset="0"/>
              </a:rPr>
              <a:t>4. </a:t>
            </a:r>
            <a:r>
              <a:rPr lang="ko-KR" altLang="en-US" b="1" dirty="0">
                <a:latin typeface="MS Reference Sans Serif" panose="020B0604030504040204" pitchFamily="34" charset="0"/>
              </a:rPr>
              <a:t>전체 목록</a:t>
            </a:r>
          </a:p>
          <a:p>
            <a:r>
              <a:rPr lang="ko-KR" altLang="en-US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b="1" dirty="0">
                <a:latin typeface="MS Reference Sans Serif" panose="020B0604030504040204" pitchFamily="34" charset="0"/>
              </a:rPr>
              <a:t>5. </a:t>
            </a:r>
            <a:r>
              <a:rPr lang="ko-KR" altLang="en-US" b="1" dirty="0">
                <a:latin typeface="MS Reference Sans Serif" panose="020B0604030504040204" pitchFamily="34" charset="0"/>
              </a:rPr>
              <a:t>통계 </a:t>
            </a:r>
            <a:r>
              <a:rPr lang="en-US" altLang="ko-KR" b="1" dirty="0">
                <a:latin typeface="MS Reference Sans Serif" panose="020B0604030504040204" pitchFamily="34" charset="0"/>
              </a:rPr>
              <a:t>(</a:t>
            </a:r>
            <a:r>
              <a:rPr lang="ko-KR" altLang="en-US" b="1" dirty="0">
                <a:latin typeface="MS Reference Sans Serif" panose="020B0604030504040204" pitchFamily="34" charset="0"/>
              </a:rPr>
              <a:t>총 연락처 수</a:t>
            </a:r>
            <a:r>
              <a:rPr lang="en-US" altLang="ko-KR" b="1" dirty="0">
                <a:latin typeface="MS Reference Sans Serif" panose="020B0604030504040204" pitchFamily="34" charset="0"/>
              </a:rPr>
              <a:t>, 010</a:t>
            </a:r>
            <a:r>
              <a:rPr lang="ko-KR" altLang="en-US" b="1" dirty="0">
                <a:latin typeface="MS Reference Sans Serif" panose="020B0604030504040204" pitchFamily="34" charset="0"/>
              </a:rPr>
              <a:t>으로 시작하는 번호 개수</a:t>
            </a:r>
            <a:r>
              <a:rPr lang="en-US" altLang="ko-KR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b="1" dirty="0">
                <a:latin typeface="MS Reference Sans Serif" panose="020B0604030504040204" pitchFamily="34" charset="0"/>
              </a:rPr>
              <a:t>        6. </a:t>
            </a:r>
            <a:r>
              <a:rPr lang="ko-KR" altLang="en-US" b="1" dirty="0">
                <a:latin typeface="MS Reference Sans Serif" panose="020B0604030504040204" pitchFamily="34" charset="0"/>
              </a:rPr>
              <a:t>종료</a:t>
            </a:r>
            <a:endParaRPr lang="en-US" altLang="ko-KR" b="1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77399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실습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9: 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Hashtable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로 전화번호부 만들기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 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HashPhone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  <a:p>
            <a:r>
              <a:rPr lang="ko-KR" altLang="en-US" sz="2000" b="1" dirty="0">
                <a:latin typeface="MS Reference Sans Serif" panose="020B0604030504040204" pitchFamily="34" charset="0"/>
              </a:rPr>
              <a:t>새 프로젝트 구성</a:t>
            </a:r>
            <a:endParaRPr lang="en-US" altLang="ko-KR" sz="2000" b="1" dirty="0">
              <a:latin typeface="MS Reference Sans Serif" panose="020B060403050404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BFB15F2-D327-C895-7BA5-E65E34562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2" y="2357801"/>
            <a:ext cx="6245475" cy="406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8941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실습 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9: 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Hashtable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로 전화번호부 만들기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- 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HashPhone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  <a:p>
            <a:endParaRPr lang="en-US" altLang="ko-KR" sz="24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using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System.Collections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using System;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HashPhone</a:t>
            </a:r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= new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Hashtable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//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초기 데이터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phoneBook.Add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홍길동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", "010-1234-5678");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phoneBook.Add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김철수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", "010-2345-6789");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phoneBook.Add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이영희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", "010-3456-7890");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phoneBook.Add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박민수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", "02-1234-5678");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phoneBook.Add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최지영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", "010-4567-8901");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while (true)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("\n===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전화번호부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===");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("1.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연락처 추가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("2.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연락처 검색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("3.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연락처 삭제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("4.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전체 목록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("5.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통계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("6.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종료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선택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");</a:t>
            </a:r>
          </a:p>
          <a:p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24563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string choice =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Console.ReadLine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switch (choice)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case "1":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이름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string name =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Console.ReadLine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전화번호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string phone =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Console.ReadLine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if (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phoneBook.ContainsKey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(name))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이미 존재하는 연락처입니다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.");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덮어쓰시겠습니까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? (y/n): 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if (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Console.ReadLine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().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ToLower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 == "y")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[name] = phone;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수정되었습니다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.");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else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phoneBook.Add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(name, phone);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추가되었습니다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.");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break;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71173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case "2":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검색할 이름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string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searchName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=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Console.ReadLine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if (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phoneBook.ContainsKey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searchName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searchName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}: 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[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searchName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]}");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else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연락처를 찾을 수 없습니다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.");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break;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case "3":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삭제할 이름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string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deleteName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=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Console.ReadLine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if (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phoneBook.ContainsKey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deleteName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phoneBook.Remove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deleteName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삭제되었습니다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.");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else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연락처를 찾을 수 없습니다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.");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break;</a:t>
            </a:r>
          </a:p>
          <a:p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12695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- </a:t>
              </a:r>
              <a:r>
                <a:rPr lang="en-US" altLang="ko-KR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Hashtable</a:t>
              </a:r>
              <a:endParaRPr lang="en-US" altLang="ko-KR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D3D440-61A0-D458-FCB2-C9CF26460632}"/>
              </a:ext>
            </a:extLst>
          </p:cNvPr>
          <p:cNvSpPr txBox="1"/>
          <p:nvPr/>
        </p:nvSpPr>
        <p:spPr>
          <a:xfrm>
            <a:off x="224290" y="1526876"/>
            <a:ext cx="858448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case "4":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("\n===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전체 연락처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===");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foreach (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DictionaryEntry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entry in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entry.Key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}: 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entry.Value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}");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총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phoneBook.Count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}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개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break;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case "5":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int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mobileCount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= 0;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foreach (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DictionaryEntry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entry in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string number = (string)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entry.Value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if (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number.StartsWith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("010"))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mobileCount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++;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총 연락처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phoneBook.Count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}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개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휴대폰 번호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mobileCount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}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개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일반 번호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: 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phoneBook.Count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-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mobileCount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}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개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break;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case "6":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    return;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}</a:t>
            </a:r>
          </a:p>
          <a:p>
            <a:endParaRPr lang="en-US" altLang="ko-KR" sz="2400" b="1" dirty="0">
              <a:latin typeface="MS Reference Sans Serif" panose="020B060403050404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70BB30A-50DD-9489-F949-88DF135E8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106" y="4176779"/>
            <a:ext cx="2038635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06945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 초기화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DDA3BB-221F-5050-8F19-0D27D359CE4B}"/>
              </a:ext>
            </a:extLst>
          </p:cNvPr>
          <p:cNvSpPr txBox="1"/>
          <p:nvPr/>
        </p:nvSpPr>
        <p:spPr>
          <a:xfrm>
            <a:off x="224290" y="1526876"/>
            <a:ext cx="85844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컬렉션 초기화 구문</a:t>
            </a:r>
          </a:p>
          <a:p>
            <a:r>
              <a:rPr lang="en-US" altLang="ko-KR" sz="2400" b="1" dirty="0">
                <a:latin typeface="MS Reference Sans Serif" panose="020B0604030504040204" pitchFamily="34" charset="0"/>
              </a:rPr>
              <a:t>C# 3.0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부터 컬렉션 초기화 구문을 통해 간결하게 초기화할 수 있습니다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588187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 초기화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DDA3BB-221F-5050-8F19-0D27D359CE4B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>
                <a:latin typeface="MS Reference Sans Serif" panose="020B0604030504040204" pitchFamily="34" charset="0"/>
              </a:rPr>
              <a:t>InitializingCollections</a:t>
            </a:r>
            <a:endParaRPr lang="en-US" altLang="ko-KR" sz="2000" b="1" dirty="0">
              <a:latin typeface="MS Reference Sans Serif" panose="020B060403050404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39FD14-9F78-D9AF-8B46-2C37D6322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2" y="2225985"/>
            <a:ext cx="5677705" cy="389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7291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 초기화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DDA3BB-221F-5050-8F19-0D27D359CE4B}"/>
              </a:ext>
            </a:extLst>
          </p:cNvPr>
          <p:cNvSpPr txBox="1"/>
          <p:nvPr/>
        </p:nvSpPr>
        <p:spPr>
          <a:xfrm>
            <a:off x="224290" y="1526876"/>
            <a:ext cx="858448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MS Reference Sans Serif" panose="020B0604030504040204" pitchFamily="34" charset="0"/>
              </a:rPr>
              <a:t>using System;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using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System.Collections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using static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System.Console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namespace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InitializingCollections</a:t>
            </a:r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int[]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= { 123, 456, 789 };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u="sng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u="sng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sz="1000" b="1" u="sng" dirty="0">
                <a:latin typeface="MS Reference Sans Serif" panose="020B0604030504040204" pitchFamily="34" charset="0"/>
              </a:rPr>
              <a:t> list = new </a:t>
            </a:r>
            <a:r>
              <a:rPr lang="en-US" altLang="ko-KR" sz="1000" b="1" u="sng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sz="1000" b="1" u="sng" dirty="0">
                <a:latin typeface="MS Reference Sans Serif" panose="020B0604030504040204" pitchFamily="34" charset="0"/>
              </a:rPr>
              <a:t>(</a:t>
            </a:r>
            <a:r>
              <a:rPr lang="en-US" altLang="ko-KR" sz="1000" b="1" u="sng" dirty="0" err="1">
                <a:latin typeface="MS Reference Sans Serif" panose="020B0604030504040204" pitchFamily="34" charset="0"/>
              </a:rPr>
              <a:t>arr</a:t>
            </a:r>
            <a:r>
              <a:rPr lang="en-US" altLang="ko-KR" sz="1000" b="1" u="sng" dirty="0">
                <a:latin typeface="MS Reference Sans Serif" panose="020B0604030504040204" pitchFamily="34" charset="0"/>
              </a:rPr>
              <a:t>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foreach (object item in list)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WriteLine($"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: {item}");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WriteLine();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Stack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stack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= new Stack(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foreach (object item in stack)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WriteLine($"Stack : {item}");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WriteLine();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Queue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queue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= new Queue(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foreach (object item in queue)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WriteLine($"Queue : {item}");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WriteLine();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u="sng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u="sng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sz="1000" b="1" u="sng" dirty="0">
                <a:latin typeface="MS Reference Sans Serif" panose="020B0604030504040204" pitchFamily="34" charset="0"/>
              </a:rPr>
              <a:t> list2 = new </a:t>
            </a:r>
            <a:r>
              <a:rPr lang="en-US" altLang="ko-KR" sz="1000" b="1" u="sng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sz="1000" b="1" u="sng" dirty="0">
                <a:latin typeface="MS Reference Sans Serif" panose="020B0604030504040204" pitchFamily="34" charset="0"/>
              </a:rPr>
              <a:t>() { 11, 22, 33 };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foreach (object item in list2)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WriteLine($"ArrayList2 : {item}");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WriteLine();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}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B917A5-183A-04CD-E0F9-6D1E4C1E4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231" y="3709246"/>
            <a:ext cx="1543265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26127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 초기화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D60E43E-81E4-F429-81DB-37C75F3B4B1C}"/>
              </a:ext>
            </a:extLst>
          </p:cNvPr>
          <p:cNvSpPr txBox="1"/>
          <p:nvPr/>
        </p:nvSpPr>
        <p:spPr>
          <a:xfrm>
            <a:off x="175399" y="1549765"/>
            <a:ext cx="87932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>
                <a:latin typeface="MS Reference Sans Serif" panose="020B0604030504040204" pitchFamily="34" charset="0"/>
              </a:rPr>
              <a:t>배열 생성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int[] </a:t>
            </a:r>
            <a:r>
              <a:rPr lang="en-US" altLang="ko-KR" dirty="0" err="1">
                <a:latin typeface="MS Reference Sans Serif" panose="020B0604030504040204" pitchFamily="34" charset="0"/>
              </a:rPr>
              <a:t>arr</a:t>
            </a:r>
            <a:r>
              <a:rPr lang="en-US" altLang="ko-KR" dirty="0">
                <a:latin typeface="MS Reference Sans Serif" panose="020B0604030504040204" pitchFamily="34" charset="0"/>
              </a:rPr>
              <a:t> = { 123, 456, 789 };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MS Reference Sans Serif" panose="020B0604030504040204" pitchFamily="34" charset="0"/>
              </a:rPr>
              <a:t>arr</a:t>
            </a:r>
            <a:r>
              <a:rPr lang="ko-KR" altLang="en-US" dirty="0">
                <a:latin typeface="MS Reference Sans Serif" panose="020B0604030504040204" pitchFamily="34" charset="0"/>
              </a:rPr>
              <a:t>는 </a:t>
            </a:r>
            <a:r>
              <a:rPr lang="en-US" altLang="ko-KR" dirty="0">
                <a:latin typeface="MS Reference Sans Serif" panose="020B0604030504040204" pitchFamily="34" charset="0"/>
              </a:rPr>
              <a:t>int</a:t>
            </a:r>
            <a:r>
              <a:rPr lang="ko-KR" altLang="en-US" dirty="0">
                <a:latin typeface="MS Reference Sans Serif" panose="020B0604030504040204" pitchFamily="34" charset="0"/>
              </a:rPr>
              <a:t>형 </a:t>
            </a:r>
            <a:r>
              <a:rPr lang="en-US" altLang="ko-KR" dirty="0">
                <a:latin typeface="MS Reference Sans Serif" panose="020B0604030504040204" pitchFamily="34" charset="0"/>
              </a:rPr>
              <a:t>1</a:t>
            </a:r>
            <a:r>
              <a:rPr lang="ko-KR" altLang="en-US" dirty="0">
                <a:latin typeface="MS Reference Sans Serif" panose="020B0604030504040204" pitchFamily="34" charset="0"/>
              </a:rPr>
              <a:t>차원 배열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MS Reference Sans Serif" panose="020B0604030504040204" pitchFamily="34" charset="0"/>
              </a:rPr>
              <a:t>초기값</a:t>
            </a:r>
            <a:r>
              <a:rPr lang="en-US" altLang="ko-KR" dirty="0">
                <a:latin typeface="MS Reference Sans Serif" panose="020B0604030504040204" pitchFamily="34" charset="0"/>
              </a:rPr>
              <a:t>: [123, 456, 789]</a:t>
            </a:r>
            <a:endParaRPr lang="ko-KR" altLang="en-US" dirty="0">
              <a:latin typeface="MS Reference Sans Serif" panose="020B0604030504040204" pitchFamily="34" charset="0"/>
            </a:endParaRPr>
          </a:p>
          <a:p>
            <a:pPr>
              <a:buNone/>
            </a:pPr>
            <a:br>
              <a:rPr lang="ko-KR" altLang="en-US" dirty="0">
                <a:latin typeface="MS Reference Sans Serif" panose="020B0604030504040204" pitchFamily="34" charset="0"/>
              </a:rPr>
            </a:br>
            <a:endParaRPr lang="ko-KR" altLang="en-US" dirty="0">
              <a:latin typeface="MS Reference Sans Serif" panose="020B0604030504040204" pitchFamily="34" charset="0"/>
            </a:endParaRPr>
          </a:p>
          <a:p>
            <a:pPr>
              <a:buNone/>
            </a:pPr>
            <a:r>
              <a:rPr lang="en-US" altLang="ko-KR" b="1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b="1" dirty="0">
                <a:latin typeface="MS Reference Sans Serif" panose="020B0604030504040204" pitchFamily="34" charset="0"/>
              </a:rPr>
              <a:t> </a:t>
            </a:r>
            <a:r>
              <a:rPr lang="ko-KR" altLang="en-US" b="1" dirty="0">
                <a:latin typeface="MS Reference Sans Serif" panose="020B0604030504040204" pitchFamily="34" charset="0"/>
              </a:rPr>
              <a:t>초기화</a:t>
            </a:r>
          </a:p>
          <a:p>
            <a:pPr rtl="0">
              <a:buNone/>
            </a:pPr>
            <a:r>
              <a:rPr lang="en-US" altLang="ko-KR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dirty="0">
                <a:latin typeface="MS Reference Sans Serif" panose="020B0604030504040204" pitchFamily="34" charset="0"/>
              </a:rPr>
              <a:t> list = new </a:t>
            </a:r>
            <a:r>
              <a:rPr lang="en-US" altLang="ko-KR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dirty="0">
                <a:latin typeface="MS Reference Sans Serif" panose="020B0604030504040204" pitchFamily="34" charset="0"/>
              </a:rPr>
              <a:t>(</a:t>
            </a:r>
            <a:r>
              <a:rPr lang="en-US" altLang="ko-KR" dirty="0" err="1">
                <a:latin typeface="MS Reference Sans Serif" panose="020B0604030504040204" pitchFamily="34" charset="0"/>
              </a:rPr>
              <a:t>arr</a:t>
            </a:r>
            <a:r>
              <a:rPr lang="en-US" altLang="ko-KR" dirty="0">
                <a:latin typeface="MS Reference Sans Serif" panose="020B0604030504040204" pitchFamily="34" charset="0"/>
              </a:rPr>
              <a:t>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MS Reference Sans Serif" panose="020B0604030504040204" pitchFamily="34" charset="0"/>
              </a:rPr>
              <a:t>생성자에 배열을 전달하면</a:t>
            </a:r>
            <a:r>
              <a:rPr lang="en-US" altLang="ko-KR" dirty="0">
                <a:latin typeface="MS Reference Sans Serif" panose="020B0604030504040204" pitchFamily="34" charset="0"/>
              </a:rPr>
              <a:t>, </a:t>
            </a:r>
            <a:r>
              <a:rPr lang="ko-KR" altLang="en-US" dirty="0">
                <a:latin typeface="MS Reference Sans Serif" panose="020B0604030504040204" pitchFamily="34" charset="0"/>
              </a:rPr>
              <a:t>배열의 각 요소가 </a:t>
            </a:r>
            <a:r>
              <a:rPr lang="en-US" altLang="ko-KR" dirty="0" err="1">
                <a:latin typeface="MS Reference Sans Serif" panose="020B0604030504040204" pitchFamily="34" charset="0"/>
              </a:rPr>
              <a:t>ArrayList</a:t>
            </a:r>
            <a:r>
              <a:rPr lang="ko-KR" altLang="en-US" dirty="0">
                <a:latin typeface="MS Reference Sans Serif" panose="020B0604030504040204" pitchFamily="34" charset="0"/>
              </a:rPr>
              <a:t>로 복사됨</a:t>
            </a:r>
            <a:r>
              <a:rPr lang="en-US" altLang="ko-KR" dirty="0">
                <a:latin typeface="MS Reference Sans Serif" panose="020B060403050404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MS Reference Sans Serif" panose="020B0604030504040204" pitchFamily="34" charset="0"/>
              </a:rPr>
              <a:t>즉</a:t>
            </a:r>
            <a:r>
              <a:rPr lang="en-US" altLang="ko-KR" dirty="0">
                <a:latin typeface="MS Reference Sans Serif" panose="020B0604030504040204" pitchFamily="34" charset="0"/>
              </a:rPr>
              <a:t>, list</a:t>
            </a:r>
            <a:r>
              <a:rPr lang="ko-KR" altLang="en-US" dirty="0">
                <a:latin typeface="MS Reference Sans Serif" panose="020B0604030504040204" pitchFamily="34" charset="0"/>
              </a:rPr>
              <a:t>의 요소 </a:t>
            </a:r>
            <a:r>
              <a:rPr lang="en-US" altLang="ko-KR" dirty="0">
                <a:latin typeface="MS Reference Sans Serif" panose="020B0604030504040204" pitchFamily="34" charset="0"/>
              </a:rPr>
              <a:t>= [123, 456, 789]</a:t>
            </a:r>
            <a:endParaRPr lang="ko-KR" altLang="en-US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foreach (object item in list)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    WriteLine($"</a:t>
            </a:r>
            <a:r>
              <a:rPr lang="en-US" altLang="ko-KR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dirty="0">
                <a:latin typeface="MS Reference Sans Serif" panose="020B0604030504040204" pitchFamily="34" charset="0"/>
              </a:rPr>
              <a:t> : {item}");</a:t>
            </a:r>
          </a:p>
          <a:p>
            <a:pPr>
              <a:buNone/>
            </a:pPr>
            <a:r>
              <a:rPr lang="ko-KR" altLang="en-US" b="1" dirty="0">
                <a:latin typeface="MS Reference Sans Serif" panose="020B0604030504040204" pitchFamily="34" charset="0"/>
              </a:rPr>
              <a:t>출력</a:t>
            </a:r>
            <a:endParaRPr lang="ko-KR" altLang="en-US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dirty="0">
                <a:latin typeface="MS Reference Sans Serif" panose="020B0604030504040204" pitchFamily="34" charset="0"/>
              </a:rPr>
              <a:t> : 123</a:t>
            </a:r>
          </a:p>
          <a:p>
            <a:pPr rtl="0">
              <a:buNone/>
            </a:pPr>
            <a:r>
              <a:rPr lang="en-US" altLang="ko-KR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dirty="0">
                <a:latin typeface="MS Reference Sans Serif" panose="020B0604030504040204" pitchFamily="34" charset="0"/>
              </a:rPr>
              <a:t> : 456</a:t>
            </a:r>
          </a:p>
          <a:p>
            <a:pPr rtl="0">
              <a:buNone/>
            </a:pPr>
            <a:r>
              <a:rPr lang="en-US" altLang="ko-KR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dirty="0">
                <a:latin typeface="MS Reference Sans Serif" panose="020B0604030504040204" pitchFamily="34" charset="0"/>
              </a:rPr>
              <a:t> : 789</a:t>
            </a:r>
          </a:p>
        </p:txBody>
      </p:sp>
    </p:spTree>
    <p:extLst>
      <p:ext uri="{BB962C8B-B14F-4D97-AF65-F5344CB8AC3E}">
        <p14:creationId xmlns:p14="http://schemas.microsoft.com/office/powerpoint/2010/main" val="58265480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 초기화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B2A34E6-A076-8A3D-65B8-9B82EE1FDA00}"/>
              </a:ext>
            </a:extLst>
          </p:cNvPr>
          <p:cNvSpPr txBox="1"/>
          <p:nvPr/>
        </p:nvSpPr>
        <p:spPr>
          <a:xfrm>
            <a:off x="221417" y="1581397"/>
            <a:ext cx="870116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latin typeface="MS Reference Sans Serif" panose="020B0604030504040204" pitchFamily="34" charset="0"/>
              </a:rPr>
              <a:t>Stack </a:t>
            </a:r>
            <a:r>
              <a:rPr lang="ko-KR" altLang="en-US" b="1" dirty="0">
                <a:latin typeface="MS Reference Sans Serif" panose="020B0604030504040204" pitchFamily="34" charset="0"/>
              </a:rPr>
              <a:t>초기화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Stack 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stack</a:t>
            </a:r>
            <a:r>
              <a:rPr lang="en-US" altLang="ko-KR" sz="1600" dirty="0">
                <a:latin typeface="MS Reference Sans Serif" panose="020B0604030504040204" pitchFamily="34" charset="0"/>
              </a:rPr>
              <a:t> = new Stack(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arr</a:t>
            </a:r>
            <a:r>
              <a:rPr lang="en-US" altLang="ko-KR" sz="1600" dirty="0">
                <a:latin typeface="MS Reference Sans Serif" panose="020B0604030504040204" pitchFamily="34" charset="0"/>
              </a:rPr>
              <a:t>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MS Reference Sans Serif" panose="020B0604030504040204" pitchFamily="34" charset="0"/>
              </a:rPr>
              <a:t>Stack(</a:t>
            </a:r>
            <a:r>
              <a:rPr lang="ko-KR" altLang="en-US" sz="1600" dirty="0">
                <a:latin typeface="MS Reference Sans Serif" panose="020B0604030504040204" pitchFamily="34" charset="0"/>
              </a:rPr>
              <a:t>스택</a:t>
            </a:r>
            <a:r>
              <a:rPr lang="en-US" altLang="ko-KR" sz="1600" dirty="0">
                <a:latin typeface="MS Reference Sans Serif" panose="020B0604030504040204" pitchFamily="34" charset="0"/>
              </a:rPr>
              <a:t>)</a:t>
            </a:r>
            <a:r>
              <a:rPr lang="ko-KR" altLang="en-US" sz="1600" dirty="0">
                <a:latin typeface="MS Reference Sans Serif" panose="020B0604030504040204" pitchFamily="34" charset="0"/>
              </a:rPr>
              <a:t>은 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LIFO (Last In, First Out)</a:t>
            </a:r>
            <a:r>
              <a:rPr lang="ko-KR" altLang="en-US" sz="1600" dirty="0">
                <a:latin typeface="MS Reference Sans Serif" panose="020B0604030504040204" pitchFamily="34" charset="0"/>
              </a:rPr>
              <a:t> 구조</a:t>
            </a:r>
            <a:r>
              <a:rPr lang="en-US" altLang="ko-KR" sz="1600" dirty="0">
                <a:latin typeface="MS Reference Sans Serif" panose="020B060403050404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MS Reference Sans Serif" panose="020B0604030504040204" pitchFamily="34" charset="0"/>
              </a:rPr>
              <a:t>배열의 요소를 인자로 넘기면</a:t>
            </a:r>
            <a:r>
              <a:rPr lang="en-US" altLang="ko-KR" sz="1600" dirty="0">
                <a:latin typeface="MS Reference Sans Serif" panose="020B0604030504040204" pitchFamily="34" charset="0"/>
              </a:rPr>
              <a:t>,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배열 순서대로 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Push()</a:t>
            </a:r>
            <a:r>
              <a:rPr lang="ko-KR" altLang="en-US" sz="1600" dirty="0">
                <a:latin typeface="MS Reference Sans Serif" panose="020B0604030504040204" pitchFamily="34" charset="0"/>
              </a:rPr>
              <a:t> 됩니다</a:t>
            </a:r>
            <a:r>
              <a:rPr lang="en-US" altLang="ko-KR" sz="1600" dirty="0">
                <a:latin typeface="MS Reference Sans Serif" panose="020B0604030504040204" pitchFamily="34" charset="0"/>
              </a:rPr>
              <a:t>.</a:t>
            </a:r>
            <a:br>
              <a:rPr lang="en-US" altLang="ko-KR" sz="1600" dirty="0">
                <a:latin typeface="MS Reference Sans Serif" panose="020B0604030504040204" pitchFamily="34" charset="0"/>
              </a:rPr>
            </a:br>
            <a:r>
              <a:rPr lang="en-US" altLang="ko-KR" sz="1600" dirty="0">
                <a:latin typeface="MS Reference Sans Serif" panose="020B0604030504040204" pitchFamily="34" charset="0"/>
              </a:rPr>
              <a:t>→ </a:t>
            </a:r>
            <a:r>
              <a:rPr lang="ko-KR" altLang="en-US" sz="1600" dirty="0">
                <a:latin typeface="MS Reference Sans Serif" panose="020B0604030504040204" pitchFamily="34" charset="0"/>
              </a:rPr>
              <a:t>내부 순서는 </a:t>
            </a:r>
            <a:r>
              <a:rPr lang="en-US" altLang="ko-KR" sz="1600" dirty="0">
                <a:latin typeface="MS Reference Sans Serif" panose="020B0604030504040204" pitchFamily="34" charset="0"/>
              </a:rPr>
              <a:t>[123, 456, 789]</a:t>
            </a:r>
            <a:r>
              <a:rPr lang="ko-KR" altLang="en-US" sz="1600" dirty="0">
                <a:latin typeface="MS Reference Sans Serif" panose="020B0604030504040204" pitchFamily="34" charset="0"/>
              </a:rPr>
              <a:t>지만 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Pop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시 반대로 나옴</a:t>
            </a:r>
            <a:r>
              <a:rPr lang="en-US" altLang="ko-KR" sz="1600" dirty="0">
                <a:latin typeface="MS Reference Sans Serif" panose="020B060403050404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MS Reference Sans Serif" panose="020B0604030504040204" pitchFamily="34" charset="0"/>
              </a:rPr>
              <a:t>단</a:t>
            </a:r>
            <a:r>
              <a:rPr lang="en-US" altLang="ko-KR" sz="1600" dirty="0">
                <a:latin typeface="MS Reference Sans Serif" panose="020B0604030504040204" pitchFamily="34" charset="0"/>
              </a:rPr>
              <a:t>, foreach</a:t>
            </a:r>
            <a:r>
              <a:rPr lang="ko-KR" altLang="en-US" sz="1600" dirty="0">
                <a:latin typeface="MS Reference Sans Serif" panose="020B0604030504040204" pitchFamily="34" charset="0"/>
              </a:rPr>
              <a:t>로 순회할 때는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가장 마지막에 들어간 것부터 출력</a:t>
            </a:r>
            <a:r>
              <a:rPr lang="ko-KR" altLang="en-US" sz="1600" dirty="0">
                <a:latin typeface="MS Reference Sans Serif" panose="020B0604030504040204" pitchFamily="34" charset="0"/>
              </a:rPr>
              <a:t>됨</a:t>
            </a:r>
            <a:r>
              <a:rPr lang="en-US" altLang="ko-KR" sz="1600" dirty="0">
                <a:latin typeface="MS Reference Sans Serif" panose="020B0604030504040204" pitchFamily="34" charset="0"/>
              </a:rPr>
              <a:t>.</a:t>
            </a:r>
          </a:p>
          <a:p>
            <a:pPr>
              <a:buNone/>
            </a:pPr>
            <a:r>
              <a:rPr lang="ko-KR" altLang="en-US" sz="1600" b="1" dirty="0">
                <a:latin typeface="MS Reference Sans Serif" panose="020B0604030504040204" pitchFamily="34" charset="0"/>
              </a:rPr>
              <a:t>출력</a:t>
            </a:r>
            <a:endParaRPr lang="ko-KR" altLang="en-US" sz="1600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Stack : 789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Stack : 456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Stack : 123</a:t>
            </a:r>
          </a:p>
          <a:p>
            <a:pPr>
              <a:buNone/>
            </a:pPr>
            <a:endParaRPr lang="en-US" altLang="ko-KR" b="1" dirty="0">
              <a:latin typeface="MS Reference Sans Serif" panose="020B0604030504040204" pitchFamily="34" charset="0"/>
            </a:endParaRPr>
          </a:p>
          <a:p>
            <a:pPr>
              <a:buNone/>
            </a:pPr>
            <a:r>
              <a:rPr lang="en-US" altLang="ko-KR" b="1" dirty="0">
                <a:latin typeface="MS Reference Sans Serif" panose="020B0604030504040204" pitchFamily="34" charset="0"/>
              </a:rPr>
              <a:t>Queue </a:t>
            </a:r>
            <a:r>
              <a:rPr lang="ko-KR" altLang="en-US" b="1" dirty="0">
                <a:latin typeface="MS Reference Sans Serif" panose="020B0604030504040204" pitchFamily="34" charset="0"/>
              </a:rPr>
              <a:t>초기화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Queue 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queue</a:t>
            </a:r>
            <a:r>
              <a:rPr lang="en-US" altLang="ko-KR" sz="1600" dirty="0">
                <a:latin typeface="MS Reference Sans Serif" panose="020B0604030504040204" pitchFamily="34" charset="0"/>
              </a:rPr>
              <a:t> = new Queue(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arr</a:t>
            </a:r>
            <a:r>
              <a:rPr lang="en-US" altLang="ko-KR" sz="1600" dirty="0">
                <a:latin typeface="MS Reference Sans Serif" panose="020B0604030504040204" pitchFamily="34" charset="0"/>
              </a:rPr>
              <a:t>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MS Reference Sans Serif" panose="020B0604030504040204" pitchFamily="34" charset="0"/>
              </a:rPr>
              <a:t>Queue(</a:t>
            </a:r>
            <a:r>
              <a:rPr lang="ko-KR" altLang="en-US" sz="1600" dirty="0">
                <a:latin typeface="MS Reference Sans Serif" panose="020B0604030504040204" pitchFamily="34" charset="0"/>
              </a:rPr>
              <a:t>큐</a:t>
            </a:r>
            <a:r>
              <a:rPr lang="en-US" altLang="ko-KR" sz="1600" dirty="0">
                <a:latin typeface="MS Reference Sans Serif" panose="020B0604030504040204" pitchFamily="34" charset="0"/>
              </a:rPr>
              <a:t>)</a:t>
            </a:r>
            <a:r>
              <a:rPr lang="ko-KR" altLang="en-US" sz="1600" dirty="0">
                <a:latin typeface="MS Reference Sans Serif" panose="020B0604030504040204" pitchFamily="34" charset="0"/>
              </a:rPr>
              <a:t>는 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FIFO (First In, First Out)</a:t>
            </a:r>
            <a:r>
              <a:rPr lang="ko-KR" altLang="en-US" sz="1600" dirty="0">
                <a:latin typeface="MS Reference Sans Serif" panose="020B0604030504040204" pitchFamily="34" charset="0"/>
              </a:rPr>
              <a:t> 구조</a:t>
            </a:r>
            <a:r>
              <a:rPr lang="en-US" altLang="ko-KR" sz="1600" dirty="0">
                <a:latin typeface="MS Reference Sans Serif" panose="020B060403050404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MS Reference Sans Serif" panose="020B0604030504040204" pitchFamily="34" charset="0"/>
              </a:rPr>
              <a:t>배열의 요소를 인자로 넘기면</a:t>
            </a:r>
            <a:r>
              <a:rPr lang="en-US" altLang="ko-KR" sz="1600" dirty="0">
                <a:latin typeface="MS Reference Sans Serif" panose="020B0604030504040204" pitchFamily="34" charset="0"/>
              </a:rPr>
              <a:t>, </a:t>
            </a:r>
            <a:r>
              <a:rPr lang="ko-KR" altLang="en-US" sz="1600" dirty="0">
                <a:latin typeface="MS Reference Sans Serif" panose="020B0604030504040204" pitchFamily="34" charset="0"/>
              </a:rPr>
              <a:t>배열 순서대로 </a:t>
            </a:r>
            <a:r>
              <a:rPr lang="en-US" altLang="ko-KR" sz="1600" dirty="0">
                <a:latin typeface="MS Reference Sans Serif" panose="020B0604030504040204" pitchFamily="34" charset="0"/>
              </a:rPr>
              <a:t>Enqueue</a:t>
            </a:r>
            <a:r>
              <a:rPr lang="ko-KR" altLang="en-US" sz="1600" dirty="0">
                <a:latin typeface="MS Reference Sans Serif" panose="020B0604030504040204" pitchFamily="34" charset="0"/>
              </a:rPr>
              <a:t>됨</a:t>
            </a:r>
            <a:r>
              <a:rPr lang="en-US" altLang="ko-KR" sz="1600" dirty="0">
                <a:latin typeface="MS Reference Sans Serif" panose="020B060403050404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MS Reference Sans Serif" panose="020B0604030504040204" pitchFamily="34" charset="0"/>
              </a:rPr>
              <a:t>foreach</a:t>
            </a:r>
            <a:r>
              <a:rPr lang="ko-KR" altLang="en-US" sz="1600" dirty="0">
                <a:latin typeface="MS Reference Sans Serif" panose="020B0604030504040204" pitchFamily="34" charset="0"/>
              </a:rPr>
              <a:t> 순회 시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넣은 순서 그대로 출력</a:t>
            </a:r>
            <a:r>
              <a:rPr lang="ko-KR" altLang="en-US" sz="1600" dirty="0">
                <a:latin typeface="MS Reference Sans Serif" panose="020B0604030504040204" pitchFamily="34" charset="0"/>
              </a:rPr>
              <a:t>됨</a:t>
            </a:r>
            <a:r>
              <a:rPr lang="en-US" altLang="ko-KR" sz="1600" dirty="0">
                <a:latin typeface="MS Reference Sans Serif" panose="020B0604030504040204" pitchFamily="34" charset="0"/>
              </a:rPr>
              <a:t>.</a:t>
            </a:r>
          </a:p>
          <a:p>
            <a:pPr>
              <a:buNone/>
            </a:pPr>
            <a:r>
              <a:rPr lang="ko-KR" altLang="en-US" sz="1600" b="1" dirty="0">
                <a:latin typeface="MS Reference Sans Serif" panose="020B0604030504040204" pitchFamily="34" charset="0"/>
              </a:rPr>
              <a:t>출력</a:t>
            </a:r>
            <a:endParaRPr lang="ko-KR" altLang="en-US" sz="1600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Queue : 123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Queue : 456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Queue : 789</a:t>
            </a:r>
            <a:endParaRPr lang="en-US" altLang="ko-KR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62190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CC959123-C93D-4D82-8F85-CB3A6592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14" y="85727"/>
            <a:ext cx="5962650" cy="638174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945A7E-7982-0335-CB31-3D3B69779D64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224A29A-99DC-0628-0AF3-9AFECD519E90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0B9158-E76C-54EA-491C-FCAC37EF1ABD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컬렉션 초기화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048A5F-8643-4D29-02B9-D7D3B9E0FC8E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49C3E9A-8C77-C7EE-6E8E-EDE33EE81138}"/>
              </a:ext>
            </a:extLst>
          </p:cNvPr>
          <p:cNvSpPr txBox="1"/>
          <p:nvPr/>
        </p:nvSpPr>
        <p:spPr>
          <a:xfrm>
            <a:off x="221417" y="1852409"/>
            <a:ext cx="870116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>
                <a:latin typeface="MS Reference Sans Serif" panose="020B0604030504040204" pitchFamily="34" charset="0"/>
              </a:rPr>
              <a:t>컬렉션 </a:t>
            </a:r>
            <a:r>
              <a:rPr lang="ko-KR" altLang="en-US" b="1" dirty="0" err="1">
                <a:latin typeface="MS Reference Sans Serif" panose="020B0604030504040204" pitchFamily="34" charset="0"/>
              </a:rPr>
              <a:t>이니셜라이저</a:t>
            </a:r>
            <a:r>
              <a:rPr lang="en-US" altLang="ko-KR" b="1" dirty="0">
                <a:latin typeface="MS Reference Sans Serif" panose="020B0604030504040204" pitchFamily="34" charset="0"/>
              </a:rPr>
              <a:t>(ArrayList2)</a:t>
            </a:r>
          </a:p>
          <a:p>
            <a:pPr rtl="0">
              <a:buNone/>
            </a:pPr>
            <a:r>
              <a:rPr lang="en-US" altLang="ko-KR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dirty="0">
                <a:latin typeface="MS Reference Sans Serif" panose="020B0604030504040204" pitchFamily="34" charset="0"/>
              </a:rPr>
              <a:t> list2 = new </a:t>
            </a:r>
            <a:r>
              <a:rPr lang="en-US" altLang="ko-KR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dirty="0">
                <a:latin typeface="MS Reference Sans Serif" panose="020B0604030504040204" pitchFamily="34" charset="0"/>
              </a:rPr>
              <a:t>() { 11, 22, 33 };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MS Reference Sans Serif" panose="020B0604030504040204" pitchFamily="34" charset="0"/>
              </a:rPr>
              <a:t>C# 3.0 </a:t>
            </a:r>
            <a:r>
              <a:rPr lang="ko-KR" altLang="en-US" dirty="0">
                <a:latin typeface="MS Reference Sans Serif" panose="020B0604030504040204" pitchFamily="34" charset="0"/>
              </a:rPr>
              <a:t>이후 문법인 </a:t>
            </a:r>
            <a:r>
              <a:rPr lang="ko-KR" altLang="en-US" b="1" dirty="0">
                <a:latin typeface="MS Reference Sans Serif" panose="020B0604030504040204" pitchFamily="34" charset="0"/>
              </a:rPr>
              <a:t>컬렉션 초기화</a:t>
            </a:r>
            <a:r>
              <a:rPr lang="en-US" altLang="ko-KR" b="1" dirty="0">
                <a:latin typeface="MS Reference Sans Serif" panose="020B0604030504040204" pitchFamily="34" charset="0"/>
              </a:rPr>
              <a:t>(Collection Initializer)</a:t>
            </a:r>
            <a:r>
              <a:rPr lang="en-US" altLang="ko-KR" dirty="0">
                <a:latin typeface="MS Reference Sans Serif" panose="020B0604030504040204" pitchFamily="34" charset="0"/>
              </a:rPr>
              <a:t> </a:t>
            </a:r>
            <a:r>
              <a:rPr lang="ko-KR" altLang="en-US" dirty="0">
                <a:latin typeface="MS Reference Sans Serif" panose="020B0604030504040204" pitchFamily="34" charset="0"/>
              </a:rPr>
              <a:t>사용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MS Reference Sans Serif" panose="020B0604030504040204" pitchFamily="34" charset="0"/>
              </a:rPr>
              <a:t>내부적으로는 아래와 동일한 동작</a:t>
            </a:r>
            <a:r>
              <a:rPr lang="en-US" altLang="ko-KR" dirty="0">
                <a:latin typeface="MS Reference Sans Serif" panose="020B0604030504040204" pitchFamily="34" charset="0"/>
              </a:rPr>
              <a:t>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dirty="0">
                <a:latin typeface="MS Reference Sans Serif" panose="020B0604030504040204" pitchFamily="34" charset="0"/>
              </a:rPr>
              <a:t> list2 = new </a:t>
            </a:r>
            <a:r>
              <a:rPr lang="en-US" altLang="ko-KR" dirty="0" err="1">
                <a:latin typeface="MS Reference Sans Serif" panose="020B0604030504040204" pitchFamily="34" charset="0"/>
              </a:rPr>
              <a:t>ArrayList</a:t>
            </a:r>
            <a:r>
              <a:rPr lang="en-US" altLang="ko-KR" dirty="0">
                <a:latin typeface="MS Reference Sans Serif" panose="020B0604030504040204" pitchFamily="34" charset="0"/>
              </a:rPr>
              <a:t>();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altLang="ko-KR" dirty="0">
                <a:latin typeface="MS Reference Sans Serif" panose="020B0604030504040204" pitchFamily="34" charset="0"/>
              </a:rPr>
              <a:t>list2.Add(11);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altLang="ko-KR" dirty="0">
                <a:latin typeface="MS Reference Sans Serif" panose="020B0604030504040204" pitchFamily="34" charset="0"/>
              </a:rPr>
              <a:t>list2.Add(22);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altLang="ko-KR" dirty="0">
                <a:latin typeface="MS Reference Sans Serif" panose="020B0604030504040204" pitchFamily="34" charset="0"/>
              </a:rPr>
              <a:t>list2.Add(33);</a:t>
            </a:r>
          </a:p>
          <a:p>
            <a:pPr>
              <a:buNone/>
            </a:pPr>
            <a:r>
              <a:rPr lang="ko-KR" altLang="en-US" b="1" dirty="0">
                <a:latin typeface="MS Reference Sans Serif" panose="020B0604030504040204" pitchFamily="34" charset="0"/>
              </a:rPr>
              <a:t>출력</a:t>
            </a:r>
            <a:endParaRPr lang="ko-KR" altLang="en-US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ArrayList2 : 11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ArrayList2 : 22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ArrayList2 : 33</a:t>
            </a:r>
          </a:p>
        </p:txBody>
      </p:sp>
    </p:spTree>
    <p:extLst>
      <p:ext uri="{BB962C8B-B14F-4D97-AF65-F5344CB8AC3E}">
        <p14:creationId xmlns:p14="http://schemas.microsoft.com/office/powerpoint/2010/main" val="230338975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52DDE-D1D9-C2FF-A416-A1D457824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9. </a:t>
            </a:r>
            <a:r>
              <a:rPr lang="ko-KR" altLang="en-US" dirty="0" err="1">
                <a:latin typeface="MS Reference Sans Serif" panose="020B0604030504040204" pitchFamily="34" charset="0"/>
              </a:rPr>
              <a:t>인덱서</a:t>
            </a:r>
            <a:r>
              <a:rPr lang="en-US" altLang="ko-KR" dirty="0">
                <a:latin typeface="MS Reference Sans Serif" panose="020B0604030504040204" pitchFamily="34" charset="0"/>
              </a:rPr>
              <a:t>(Indexer)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sp>
        <p:nvSpPr>
          <p:cNvPr id="6" name="Google Shape;100;p14">
            <a:extLst>
              <a:ext uri="{FF2B5EF4-FFF2-40B4-BE49-F238E27FC236}">
                <a16:creationId xmlns:a16="http://schemas.microsoft.com/office/drawing/2014/main" id="{4D78B6F0-7D80-4D66-A24E-64B032C561B3}"/>
              </a:ext>
            </a:extLst>
          </p:cNvPr>
          <p:cNvSpPr txBox="1">
            <a:spLocks/>
          </p:cNvSpPr>
          <p:nvPr/>
        </p:nvSpPr>
        <p:spPr>
          <a:xfrm>
            <a:off x="466089" y="2512925"/>
            <a:ext cx="3754355" cy="2104414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50"/>
              </a:spcBef>
              <a:buNone/>
            </a:pPr>
            <a:r>
              <a:rPr lang="ko-KR" altLang="en-US" sz="2700" b="1" dirty="0" err="1">
                <a:latin typeface="MS Reference Sans Serif" panose="020B0604030504040204" pitchFamily="34" charset="0"/>
                <a:cs typeface="Lora"/>
                <a:sym typeface="Lora"/>
              </a:rPr>
              <a:t>인덱서</a:t>
            </a:r>
            <a:endParaRPr lang="en-US" altLang="ko-KR" sz="2700" b="1" dirty="0">
              <a:latin typeface="MS Reference Sans Serif" panose="020B0604030504040204" pitchFamily="34" charset="0"/>
              <a:cs typeface="Lora"/>
              <a:sym typeface="Lora"/>
            </a:endParaRPr>
          </a:p>
          <a:p>
            <a:endParaRPr lang="en-US" altLang="ko-KR" sz="135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  <a:p>
            <a:r>
              <a:rPr lang="ko-KR" altLang="en-US" sz="135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인덱스</a:t>
            </a:r>
            <a:r>
              <a:rPr lang="en-US" altLang="ko-KR" sz="1350" dirty="0">
                <a:solidFill>
                  <a:srgbClr val="000000"/>
                </a:solidFill>
                <a:highlight>
                  <a:srgbClr val="FFCD00"/>
                </a:highlight>
                <a:latin typeface="MS Reference Sans Serif" panose="020B0604030504040204" pitchFamily="34" charset="0"/>
              </a:rPr>
              <a:t>(Index)</a:t>
            </a:r>
            <a:r>
              <a:rPr lang="ko-KR" altLang="en-US" sz="1350" dirty="0">
                <a:solidFill>
                  <a:srgbClr val="000000"/>
                </a:solidFill>
                <a:latin typeface="MS Reference Sans Serif" panose="020B0604030504040204" pitchFamily="34" charset="0"/>
              </a:rPr>
              <a:t>를 이용해서 객체 내의 데이터에 접근하게 해주는 프로퍼티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987BDF-BAC0-47DD-9246-72A565E6DE5F}"/>
              </a:ext>
            </a:extLst>
          </p:cNvPr>
          <p:cNvSpPr/>
          <p:nvPr/>
        </p:nvSpPr>
        <p:spPr>
          <a:xfrm>
            <a:off x="4923557" y="2427581"/>
            <a:ext cx="4062108" cy="25160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class </a:t>
            </a:r>
            <a:r>
              <a:rPr lang="ko-KR" altLang="en-US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클래스이름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</a:t>
            </a:r>
            <a:r>
              <a:rPr lang="ko-KR" altLang="en-US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한정자 </a:t>
            </a:r>
            <a:r>
              <a:rPr lang="ko-KR" altLang="en-US" sz="1050" dirty="0" err="1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인덱서형식</a:t>
            </a:r>
            <a:r>
              <a:rPr lang="ko-KR" altLang="en-US" sz="105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ko-KR" sz="105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this[</a:t>
            </a:r>
            <a:r>
              <a:rPr lang="ko-KR" altLang="en-US" sz="105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형식 </a:t>
            </a:r>
            <a:r>
              <a:rPr lang="en-US" altLang="ko-KR" sz="105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index]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 get 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 { 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     // index</a:t>
            </a:r>
            <a:r>
              <a:rPr lang="ko-KR" altLang="en-US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를 이용하여 내부 데이터 반환</a:t>
            </a:r>
          </a:p>
          <a:p>
            <a:r>
              <a:rPr lang="ko-KR" altLang="en-US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 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 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 set 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 { 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     // index</a:t>
            </a:r>
            <a:r>
              <a:rPr lang="ko-KR" altLang="en-US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를 이용하여 내부 데이터 저장</a:t>
            </a:r>
          </a:p>
          <a:p>
            <a:r>
              <a:rPr lang="ko-KR" altLang="en-US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 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모서리가 둥근 사각형 설명선 12">
            <a:extLst>
              <a:ext uri="{FF2B5EF4-FFF2-40B4-BE49-F238E27FC236}">
                <a16:creationId xmlns:a16="http://schemas.microsoft.com/office/drawing/2014/main" id="{92A0DAEC-3E39-4F3A-ADD4-AEC0C59DDAF5}"/>
              </a:ext>
            </a:extLst>
          </p:cNvPr>
          <p:cNvSpPr/>
          <p:nvPr/>
        </p:nvSpPr>
        <p:spPr>
          <a:xfrm>
            <a:off x="4693054" y="1257837"/>
            <a:ext cx="2189348" cy="931604"/>
          </a:xfrm>
          <a:prstGeom prst="wedgeRoundRectCallout">
            <a:avLst>
              <a:gd name="adj1" fmla="val 69622"/>
              <a:gd name="adj2" fmla="val 104264"/>
              <a:gd name="adj3" fmla="val 1666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>
                <a:solidFill>
                  <a:schemeClr val="bg1"/>
                </a:solidFill>
                <a:latin typeface="MS Reference Sans Serif" panose="020B0604030504040204" pitchFamily="34" charset="0"/>
              </a:rPr>
              <a:t>인덱스의 식별자가 꼭 </a:t>
            </a:r>
            <a:r>
              <a:rPr lang="en-US" altLang="ko-KR" sz="1350" dirty="0">
                <a:solidFill>
                  <a:schemeClr val="bg1"/>
                </a:solidFill>
                <a:latin typeface="MS Reference Sans Serif" panose="020B0604030504040204" pitchFamily="34" charset="0"/>
              </a:rPr>
              <a:t>index</a:t>
            </a:r>
            <a:r>
              <a:rPr lang="ko-KR" altLang="en-US" sz="1350" dirty="0">
                <a:solidFill>
                  <a:schemeClr val="bg1"/>
                </a:solidFill>
                <a:latin typeface="MS Reference Sans Serif" panose="020B0604030504040204" pitchFamily="34" charset="0"/>
              </a:rPr>
              <a:t>일 필요는 없습니다</a:t>
            </a:r>
            <a:r>
              <a:rPr lang="en-US" altLang="ko-KR" sz="1350" dirty="0">
                <a:solidFill>
                  <a:schemeClr val="bg1"/>
                </a:solidFill>
                <a:latin typeface="MS Reference Sans Serif" panose="020B0604030504040204" pitchFamily="34" charset="0"/>
              </a:rPr>
              <a:t>. </a:t>
            </a:r>
            <a:r>
              <a:rPr lang="ko-KR" altLang="en-US" sz="1350" dirty="0">
                <a:solidFill>
                  <a:schemeClr val="bg1"/>
                </a:solidFill>
                <a:latin typeface="MS Reference Sans Serif" panose="020B0604030504040204" pitchFamily="34" charset="0"/>
              </a:rPr>
              <a:t>취향에 따라 적당한 이름을 사용하세요</a:t>
            </a:r>
            <a:r>
              <a:rPr lang="en-US" altLang="ko-KR" sz="1350" dirty="0">
                <a:solidFill>
                  <a:schemeClr val="bg1"/>
                </a:solidFill>
                <a:latin typeface="MS Reference Sans Serif" panose="020B0604030504040204" pitchFamily="34" charset="0"/>
              </a:rPr>
              <a:t>.</a:t>
            </a:r>
            <a:endParaRPr lang="ko-KR" altLang="en-US" sz="1350" dirty="0">
              <a:solidFill>
                <a:schemeClr val="bg1"/>
              </a:solidFill>
              <a:latin typeface="MS Reference Sans Serif" panose="020B060403050404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E16B8A7-0E90-65E7-9D47-8C79DFEEE2A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6616151-0710-744E-F993-8B63BD255548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E409F59-5EDF-88B4-6F59-5E6E70877AC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ko-KR" altLang="en-US" sz="2800" b="1" dirty="0" err="1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인덱서란</a:t>
              </a: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?</a:t>
              </a:r>
              <a:endParaRPr lang="ko-KR" altLang="en-US" sz="2800" b="1" dirty="0">
                <a:solidFill>
                  <a:schemeClr val="tx2"/>
                </a:solidFill>
                <a:latin typeface="MS Reference Sans Serif" panose="020B060403050404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B883512-7C28-8400-3A7E-FBB13BD1F4A1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111425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67B3357B-6B40-E2EB-EBDA-11BBDA967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9. </a:t>
            </a:r>
            <a:r>
              <a:rPr lang="ko-KR" altLang="en-US" dirty="0" err="1">
                <a:latin typeface="MS Reference Sans Serif" panose="020B0604030504040204" pitchFamily="34" charset="0"/>
              </a:rPr>
              <a:t>인덱서</a:t>
            </a:r>
            <a:r>
              <a:rPr lang="en-US" altLang="ko-KR" dirty="0">
                <a:latin typeface="MS Reference Sans Serif" panose="020B0604030504040204" pitchFamily="34" charset="0"/>
              </a:rPr>
              <a:t>(Indexer)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sp>
        <p:nvSpPr>
          <p:cNvPr id="6" name="Google Shape;100;p14">
            <a:extLst>
              <a:ext uri="{FF2B5EF4-FFF2-40B4-BE49-F238E27FC236}">
                <a16:creationId xmlns:a16="http://schemas.microsoft.com/office/drawing/2014/main" id="{4D78B6F0-7D80-4D66-A24E-64B032C561B3}"/>
              </a:ext>
            </a:extLst>
          </p:cNvPr>
          <p:cNvSpPr txBox="1">
            <a:spLocks/>
          </p:cNvSpPr>
          <p:nvPr/>
        </p:nvSpPr>
        <p:spPr>
          <a:xfrm>
            <a:off x="107558" y="857250"/>
            <a:ext cx="7190555" cy="2104414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50"/>
              </a:spcBef>
              <a:buNone/>
            </a:pPr>
            <a:r>
              <a:rPr lang="ko-KR" altLang="en-US" sz="2700" b="1" dirty="0" err="1">
                <a:latin typeface="MS Reference Sans Serif" panose="020B0604030504040204" pitchFamily="34" charset="0"/>
                <a:cs typeface="Lora"/>
                <a:sym typeface="Lora"/>
              </a:rPr>
              <a:t>인덱서의</a:t>
            </a:r>
            <a:r>
              <a:rPr lang="ko-KR" altLang="en-US" sz="2700" b="1" dirty="0">
                <a:latin typeface="MS Reference Sans Serif" panose="020B0604030504040204" pitchFamily="34" charset="0"/>
                <a:cs typeface="Lora"/>
                <a:sym typeface="Lora"/>
              </a:rPr>
              <a:t> 선언과 활용 예</a:t>
            </a:r>
            <a:endParaRPr lang="en-US" altLang="ko-KR" sz="1500" dirty="0">
              <a:solidFill>
                <a:srgbClr val="000000"/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6F9E06-940B-4889-A020-C659AEA964C6}"/>
              </a:ext>
            </a:extLst>
          </p:cNvPr>
          <p:cNvSpPr/>
          <p:nvPr/>
        </p:nvSpPr>
        <p:spPr>
          <a:xfrm>
            <a:off x="187942" y="1465995"/>
            <a:ext cx="5927108" cy="437071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class </a:t>
            </a:r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MyList</a:t>
            </a:r>
            <a:endParaRPr lang="en-US" altLang="ko-KR" sz="10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private int[] array;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 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public </a:t>
            </a:r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MyList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()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{     array = new int[3];     }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 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public int </a:t>
            </a:r>
            <a:r>
              <a:rPr lang="en-US" altLang="ko-KR" sz="105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this[int index]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ko-KR" sz="105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get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{ return </a:t>
            </a:r>
            <a:r>
              <a:rPr lang="en-US" altLang="ko-KR" sz="105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array[index]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; }</a:t>
            </a:r>
          </a:p>
          <a:p>
            <a:endParaRPr lang="en-US" altLang="ko-KR" sz="10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set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    if (index &gt;= </a:t>
            </a:r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array.Length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    {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        </a:t>
            </a:r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Array.Resize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&lt;int&gt;(ref array, index + 1);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        </a:t>
            </a:r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Console.WriteLine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("Array Resized : {0}", </a:t>
            </a:r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array.Length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); 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    }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 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ko-KR" sz="105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array[index]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= value;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D06A3B1-7765-4888-B3D6-654AB6D3056C}"/>
              </a:ext>
            </a:extLst>
          </p:cNvPr>
          <p:cNvSpPr/>
          <p:nvPr/>
        </p:nvSpPr>
        <p:spPr>
          <a:xfrm>
            <a:off x="3777819" y="1729623"/>
            <a:ext cx="5022558" cy="1361912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MyList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list = new </a:t>
            </a:r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MyList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();</a:t>
            </a:r>
            <a:r>
              <a:rPr lang="ko-KR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 </a:t>
            </a:r>
            <a:endParaRPr lang="ko-KR" altLang="ko-KR" sz="10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endParaRPr lang="en-US" altLang="ko-KR" sz="10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for (int i = 0; i &lt; 5; i++)</a:t>
            </a:r>
            <a:r>
              <a:rPr lang="ko-KR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 </a:t>
            </a:r>
            <a:endParaRPr lang="ko-KR" altLang="ko-KR" sz="10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 </a:t>
            </a:r>
            <a:r>
              <a:rPr lang="en-US" altLang="ko-KR" sz="1050" dirty="0">
                <a:highlight>
                  <a:srgbClr val="FFCD00"/>
                </a:highlight>
                <a:latin typeface="MS Reference Sans Serif" panose="020B0604030504040204" pitchFamily="34" charset="0"/>
                <a:cs typeface="Courier New" panose="02070309020205020404" pitchFamily="49" charset="0"/>
              </a:rPr>
              <a:t>list[i]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= i;</a:t>
            </a:r>
            <a:r>
              <a:rPr lang="ko-KR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 </a:t>
            </a:r>
            <a:endParaRPr lang="ko-KR" altLang="ko-KR" sz="10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endParaRPr lang="en-US" altLang="ko-KR" sz="10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for (int i = 0; </a:t>
            </a:r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i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&lt;</a:t>
            </a:r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list.Length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; i++)</a:t>
            </a:r>
            <a:r>
              <a:rPr lang="ko-KR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 </a:t>
            </a:r>
            <a:endParaRPr lang="ko-KR" altLang="ko-KR" sz="10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   </a:t>
            </a:r>
            <a:r>
              <a:rPr lang="en-US" altLang="ko-KR" sz="1050" dirty="0" err="1">
                <a:latin typeface="MS Reference Sans Serif" panose="020B0604030504040204" pitchFamily="34" charset="0"/>
                <a:cs typeface="Courier New" panose="02070309020205020404" pitchFamily="49" charset="0"/>
              </a:rPr>
              <a:t>Console.WriteLine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(list[i]);</a:t>
            </a:r>
            <a:r>
              <a:rPr lang="ko-KR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ko-KR" sz="1050" dirty="0">
                <a:latin typeface="MS Reference Sans Serif" panose="020B0604030504040204" pitchFamily="34" charset="0"/>
                <a:cs typeface="Courier New" panose="02070309020205020404" pitchFamily="49" charset="0"/>
              </a:rPr>
              <a:t>  </a:t>
            </a:r>
            <a:endParaRPr lang="ko-KR" altLang="ko-KR" sz="1050" dirty="0">
              <a:latin typeface="MS Reference Sans Serif" panose="020B0604030504040204" pitchFamily="34" charset="0"/>
              <a:cs typeface="Courier New" panose="02070309020205020404" pitchFamily="49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1DFF2E7-0918-40A0-AEB9-98C3A042CA78}"/>
              </a:ext>
            </a:extLst>
          </p:cNvPr>
          <p:cNvCxnSpPr>
            <a:cxnSpLocks/>
          </p:cNvCxnSpPr>
          <p:nvPr/>
        </p:nvCxnSpPr>
        <p:spPr>
          <a:xfrm flipH="1">
            <a:off x="2526425" y="2370739"/>
            <a:ext cx="2116520" cy="5822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F7CA9E0-A12C-4C3E-A89E-9BC91384351F}"/>
              </a:ext>
            </a:extLst>
          </p:cNvPr>
          <p:cNvCxnSpPr>
            <a:cxnSpLocks/>
          </p:cNvCxnSpPr>
          <p:nvPr/>
        </p:nvCxnSpPr>
        <p:spPr>
          <a:xfrm flipH="1">
            <a:off x="1845888" y="3068364"/>
            <a:ext cx="566237" cy="17775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B88B2A7-1073-48CC-890F-6A153B31CC1B}"/>
              </a:ext>
            </a:extLst>
          </p:cNvPr>
          <p:cNvCxnSpPr>
            <a:cxnSpLocks/>
          </p:cNvCxnSpPr>
          <p:nvPr/>
        </p:nvCxnSpPr>
        <p:spPr>
          <a:xfrm flipH="1" flipV="1">
            <a:off x="2526425" y="3068364"/>
            <a:ext cx="90651" cy="201011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1DF8463-ADA3-4A34-8919-A825BAEC60BB}"/>
              </a:ext>
            </a:extLst>
          </p:cNvPr>
          <p:cNvCxnSpPr>
            <a:cxnSpLocks/>
          </p:cNvCxnSpPr>
          <p:nvPr/>
        </p:nvCxnSpPr>
        <p:spPr>
          <a:xfrm flipV="1">
            <a:off x="2617075" y="2816117"/>
            <a:ext cx="2963918" cy="208892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54867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52DDE-D1D9-C2FF-A416-A1D457824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9. </a:t>
            </a:r>
            <a:r>
              <a:rPr lang="ko-KR" altLang="en-US" dirty="0" err="1">
                <a:latin typeface="MS Reference Sans Serif" panose="020B0604030504040204" pitchFamily="34" charset="0"/>
              </a:rPr>
              <a:t>인덱서</a:t>
            </a:r>
            <a:r>
              <a:rPr lang="en-US" altLang="ko-KR" dirty="0">
                <a:latin typeface="MS Reference Sans Serif" panose="020B0604030504040204" pitchFamily="34" charset="0"/>
              </a:rPr>
              <a:t>(Indexer)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E16B8A7-0E90-65E7-9D47-8C79DFEEE2A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6616151-0710-744E-F993-8B63BD255548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E409F59-5EDF-88B4-6F59-5E6E70877AC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Indexer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B883512-7C28-8400-3A7E-FBB13BD1F4A1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54A193C-0B98-E4EE-0787-73581CAA926F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</a:t>
            </a:r>
            <a:endParaRPr lang="en-US" altLang="ko-KR" sz="2000" b="1" dirty="0">
              <a:latin typeface="MS Reference Sans Serif" panose="020B0604030504040204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A64B73A-FA24-2B8D-0CE7-2999C9F24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35" y="2050096"/>
            <a:ext cx="6245475" cy="405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8836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52DDE-D1D9-C2FF-A416-A1D457824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9. </a:t>
            </a:r>
            <a:r>
              <a:rPr lang="ko-KR" altLang="en-US" dirty="0" err="1">
                <a:latin typeface="MS Reference Sans Serif" panose="020B0604030504040204" pitchFamily="34" charset="0"/>
              </a:rPr>
              <a:t>인덱서</a:t>
            </a:r>
            <a:r>
              <a:rPr lang="en-US" altLang="ko-KR" dirty="0">
                <a:latin typeface="MS Reference Sans Serif" panose="020B0604030504040204" pitchFamily="34" charset="0"/>
              </a:rPr>
              <a:t>(Indexer)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E16B8A7-0E90-65E7-9D47-8C79DFEEE2A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6616151-0710-744E-F993-8B63BD255548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E409F59-5EDF-88B4-6F59-5E6E70877AC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Indexer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B883512-7C28-8400-3A7E-FBB13BD1F4A1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54A193C-0B98-E4EE-0787-73581CAA926F}"/>
              </a:ext>
            </a:extLst>
          </p:cNvPr>
          <p:cNvSpPr txBox="1"/>
          <p:nvPr/>
        </p:nvSpPr>
        <p:spPr>
          <a:xfrm>
            <a:off x="224290" y="1526876"/>
            <a:ext cx="8584488" cy="5424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latin typeface="MS Reference Sans Serif" panose="020B0604030504040204" pitchFamily="34" charset="0"/>
              </a:rPr>
              <a:t>using System;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using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System.Collections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;</a:t>
            </a:r>
          </a:p>
          <a:p>
            <a:endParaRPr lang="en-US" altLang="ko-KR" sz="1050" b="1" dirty="0">
              <a:latin typeface="MS Reference Sans Serif" panose="020B0604030504040204" pitchFamily="34" charset="0"/>
            </a:endParaRP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namespace Indexer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class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MyList</a:t>
            </a:r>
            <a:endParaRPr lang="en-US" altLang="ko-KR" sz="1050" b="1" dirty="0">
              <a:latin typeface="MS Reference Sans Serif" panose="020B0604030504040204" pitchFamily="34" charset="0"/>
            </a:endParaRP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private int[] array;</a:t>
            </a:r>
          </a:p>
          <a:p>
            <a:endParaRPr lang="en-US" altLang="ko-KR" sz="1050" b="1" dirty="0">
              <a:latin typeface="MS Reference Sans Serif" panose="020B0604030504040204" pitchFamily="34" charset="0"/>
            </a:endParaRP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public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MyList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()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array = new int[3];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}</a:t>
            </a:r>
          </a:p>
          <a:p>
            <a:endParaRPr lang="en-US" altLang="ko-KR" sz="1050" b="1" dirty="0">
              <a:latin typeface="MS Reference Sans Serif" panose="020B0604030504040204" pitchFamily="34" charset="0"/>
            </a:endParaRP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public int this[int index]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get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    return array[index];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}</a:t>
            </a:r>
          </a:p>
          <a:p>
            <a:endParaRPr lang="en-US" altLang="ko-KR" sz="1050" b="1" dirty="0">
              <a:latin typeface="MS Reference Sans Serif" panose="020B0604030504040204" pitchFamily="34" charset="0"/>
            </a:endParaRP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set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    if (index &gt;=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array.Length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       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Array.Resize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&lt;int&gt;(ref array, index + 1);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       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($"Array Resized : {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array.Length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}");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    }</a:t>
            </a:r>
          </a:p>
          <a:p>
            <a:endParaRPr lang="en-US" altLang="ko-KR" sz="1050" b="1" dirty="0">
              <a:latin typeface="MS Reference Sans Serif" panose="020B0604030504040204" pitchFamily="34" charset="0"/>
            </a:endParaRP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    array[index] = value;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}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}</a:t>
            </a:r>
          </a:p>
          <a:p>
            <a:endParaRPr lang="en-US" altLang="ko-KR" sz="1050" b="1" dirty="0">
              <a:latin typeface="MS Reference Sans Serif" panose="020B0604030504040204" pitchFamily="34" charset="0"/>
            </a:endParaRPr>
          </a:p>
        </p:txBody>
      </p:sp>
      <p:sp>
        <p:nvSpPr>
          <p:cNvPr id="5" name="말풍선: 사각형 4">
            <a:extLst>
              <a:ext uri="{FF2B5EF4-FFF2-40B4-BE49-F238E27FC236}">
                <a16:creationId xmlns:a16="http://schemas.microsoft.com/office/drawing/2014/main" id="{78ACF62E-B9E9-9D09-D7F1-254EA805DDA7}"/>
              </a:ext>
            </a:extLst>
          </p:cNvPr>
          <p:cNvSpPr/>
          <p:nvPr/>
        </p:nvSpPr>
        <p:spPr>
          <a:xfrm>
            <a:off x="4428252" y="2786087"/>
            <a:ext cx="4347710" cy="922482"/>
          </a:xfrm>
          <a:prstGeom prst="wedgeRectCallout">
            <a:avLst>
              <a:gd name="adj1" fmla="val -53549"/>
              <a:gd name="adj2" fmla="val 209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>
                <a:latin typeface="MS Reference Sans Serif" panose="020B0604030504040204" pitchFamily="34" charset="0"/>
              </a:rPr>
              <a:t>이 클래스는 실제로 배열처럼 작동하는 사용자 정의 컬렉션 클래스입니다</a:t>
            </a:r>
            <a:r>
              <a:rPr lang="en-US" altLang="ko-KR" sz="1000" dirty="0">
                <a:latin typeface="MS Reference Sans Serif" panose="020B0604030504040204" pitchFamily="34" charset="0"/>
              </a:rPr>
              <a:t>.</a:t>
            </a:r>
            <a:br>
              <a:rPr lang="en-US" altLang="ko-KR" sz="1000" dirty="0">
                <a:latin typeface="MS Reference Sans Serif" panose="020B0604030504040204" pitchFamily="34" charset="0"/>
              </a:rPr>
            </a:br>
            <a:r>
              <a:rPr lang="ko-KR" altLang="en-US" sz="1000" dirty="0">
                <a:latin typeface="MS Reference Sans Serif" panose="020B0604030504040204" pitchFamily="34" charset="0"/>
              </a:rPr>
              <a:t>내부적으로는 </a:t>
            </a:r>
            <a:r>
              <a:rPr lang="en-US" altLang="ko-KR" sz="1000" dirty="0">
                <a:latin typeface="MS Reference Sans Serif" panose="020B0604030504040204" pitchFamily="34" charset="0"/>
              </a:rPr>
              <a:t>int[] array</a:t>
            </a:r>
            <a:r>
              <a:rPr lang="ko-KR" altLang="en-US" sz="1000" dirty="0">
                <a:latin typeface="MS Reference Sans Serif" panose="020B0604030504040204" pitchFamily="34" charset="0"/>
              </a:rPr>
              <a:t>를 사용해 데이터를 저장합니다</a:t>
            </a:r>
            <a:r>
              <a:rPr lang="en-US" altLang="ko-KR" sz="1000" dirty="0">
                <a:latin typeface="MS Reference Sans Serif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483392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52DDE-D1D9-C2FF-A416-A1D457824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9. </a:t>
            </a:r>
            <a:r>
              <a:rPr lang="ko-KR" altLang="en-US" dirty="0" err="1">
                <a:latin typeface="MS Reference Sans Serif" panose="020B0604030504040204" pitchFamily="34" charset="0"/>
              </a:rPr>
              <a:t>인덱서</a:t>
            </a:r>
            <a:r>
              <a:rPr lang="en-US" altLang="ko-KR" dirty="0">
                <a:latin typeface="MS Reference Sans Serif" panose="020B0604030504040204" pitchFamily="34" charset="0"/>
              </a:rPr>
              <a:t>(Indexer)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E16B8A7-0E90-65E7-9D47-8C79DFEEE2A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6616151-0710-744E-F993-8B63BD255548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E409F59-5EDF-88B4-6F59-5E6E70877AC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Indexer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B883512-7C28-8400-3A7E-FBB13BD1F4A1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54A193C-0B98-E4EE-0787-73581CAA926F}"/>
              </a:ext>
            </a:extLst>
          </p:cNvPr>
          <p:cNvSpPr txBox="1"/>
          <p:nvPr/>
        </p:nvSpPr>
        <p:spPr>
          <a:xfrm>
            <a:off x="224290" y="1526876"/>
            <a:ext cx="858448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050" b="1" dirty="0">
              <a:latin typeface="MS Reference Sans Serif" panose="020B0604030504040204" pitchFamily="34" charset="0"/>
            </a:endParaRP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public int Length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get { return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array.Length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; }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}</a:t>
            </a:r>
          </a:p>
          <a:p>
            <a:endParaRPr lang="en-US" altLang="ko-KR" sz="1050" b="1" dirty="0">
              <a:latin typeface="MS Reference Sans Serif" panose="020B0604030504040204" pitchFamily="34" charset="0"/>
            </a:endParaRP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050" b="1" dirty="0">
              <a:latin typeface="MS Reference Sans Serif" panose="020B0604030504040204" pitchFamily="34" charset="0"/>
            </a:endParaRP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MyList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 list = new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MyList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for (int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 &lt; 5;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++)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    list[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] =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;</a:t>
            </a:r>
          </a:p>
          <a:p>
            <a:endParaRPr lang="en-US" altLang="ko-KR" sz="1050" b="1" dirty="0">
              <a:latin typeface="MS Reference Sans Serif" panose="020B0604030504040204" pitchFamily="34" charset="0"/>
            </a:endParaRP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for (int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 &lt;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list.Length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;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++)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(list[</a:t>
            </a:r>
            <a:r>
              <a:rPr lang="en-US" altLang="ko-KR" sz="105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50" b="1" dirty="0">
                <a:latin typeface="MS Reference Sans Serif" panose="020B0604030504040204" pitchFamily="34" charset="0"/>
              </a:rPr>
              <a:t>]);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050" b="1" dirty="0">
                <a:latin typeface="MS Reference Sans Serif" panose="020B0604030504040204" pitchFamily="34" charset="0"/>
              </a:rPr>
              <a:t>}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5A44D11-B71A-B406-64A1-F43B698AE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537" y="3188869"/>
            <a:ext cx="1705213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0237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52DDE-D1D9-C2FF-A416-A1D457824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9. </a:t>
            </a:r>
            <a:r>
              <a:rPr lang="ko-KR" altLang="en-US" dirty="0" err="1">
                <a:latin typeface="MS Reference Sans Serif" panose="020B0604030504040204" pitchFamily="34" charset="0"/>
              </a:rPr>
              <a:t>인덱서</a:t>
            </a:r>
            <a:r>
              <a:rPr lang="en-US" altLang="ko-KR" dirty="0">
                <a:latin typeface="MS Reference Sans Serif" panose="020B0604030504040204" pitchFamily="34" charset="0"/>
              </a:rPr>
              <a:t>(Indexer)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E16B8A7-0E90-65E7-9D47-8C79DFEEE2A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6616151-0710-744E-F993-8B63BD255548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E409F59-5EDF-88B4-6F59-5E6E70877AC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Indexer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B883512-7C28-8400-3A7E-FBB13BD1F4A1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D480C4B-15DD-C680-C154-177F976EC1A9}"/>
              </a:ext>
            </a:extLst>
          </p:cNvPr>
          <p:cNvSpPr txBox="1"/>
          <p:nvPr/>
        </p:nvSpPr>
        <p:spPr>
          <a:xfrm>
            <a:off x="221417" y="1613157"/>
            <a:ext cx="8701166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600" b="1" dirty="0">
                <a:latin typeface="MS Reference Sans Serif" panose="020B0604030504040204" pitchFamily="34" charset="0"/>
              </a:rPr>
              <a:t>클래스 구조 요약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class 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MyList</a:t>
            </a:r>
            <a:endParaRPr lang="en-US" altLang="ko-KR" sz="1600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{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    private int[] array;  // </a:t>
            </a:r>
            <a:r>
              <a:rPr lang="ko-KR" altLang="en-US" sz="1600" dirty="0">
                <a:latin typeface="MS Reference Sans Serif" panose="020B0604030504040204" pitchFamily="34" charset="0"/>
              </a:rPr>
              <a:t>실제 데이터를 저장할 내부 배열</a:t>
            </a:r>
          </a:p>
          <a:p>
            <a:pPr rtl="0">
              <a:buNone/>
            </a:pPr>
            <a:r>
              <a:rPr lang="ko-KR" altLang="en-US" sz="1600" dirty="0">
                <a:latin typeface="MS Reference Sans Serif" panose="020B0604030504040204" pitchFamily="34" charset="0"/>
              </a:rPr>
              <a:t>    </a:t>
            </a:r>
            <a:r>
              <a:rPr lang="en-US" altLang="ko-KR" sz="1600" dirty="0">
                <a:latin typeface="MS Reference Sans Serif" panose="020B0604030504040204" pitchFamily="34" charset="0"/>
              </a:rPr>
              <a:t>public 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MyList</a:t>
            </a:r>
            <a:r>
              <a:rPr lang="en-US" altLang="ko-KR" sz="1600" dirty="0">
                <a:latin typeface="MS Reference Sans Serif" panose="020B0604030504040204" pitchFamily="34" charset="0"/>
              </a:rPr>
              <a:t>() { array = new int[3]; }  // </a:t>
            </a:r>
            <a:r>
              <a:rPr lang="ko-KR" altLang="en-US" sz="1600" dirty="0">
                <a:latin typeface="MS Reference Sans Serif" panose="020B0604030504040204" pitchFamily="34" charset="0"/>
              </a:rPr>
              <a:t>초기 크기 </a:t>
            </a:r>
            <a:r>
              <a:rPr lang="en-US" altLang="ko-KR" sz="1600" dirty="0">
                <a:latin typeface="MS Reference Sans Serif" panose="020B0604030504040204" pitchFamily="34" charset="0"/>
              </a:rPr>
              <a:t>3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    public int this[int index] { get; set; } // </a:t>
            </a:r>
            <a:r>
              <a:rPr lang="ko-KR" altLang="en-US" sz="1600" dirty="0" err="1">
                <a:latin typeface="MS Reference Sans Serif" panose="020B0604030504040204" pitchFamily="34" charset="0"/>
              </a:rPr>
              <a:t>인덱서</a:t>
            </a:r>
            <a:r>
              <a:rPr lang="ko-KR" altLang="en-US" sz="1600" dirty="0">
                <a:latin typeface="MS Reference Sans Serif" panose="020B0604030504040204" pitchFamily="34" charset="0"/>
              </a:rPr>
              <a:t> 정의</a:t>
            </a:r>
          </a:p>
          <a:p>
            <a:pPr rtl="0">
              <a:buNone/>
            </a:pPr>
            <a:r>
              <a:rPr lang="ko-KR" altLang="en-US" sz="1600" dirty="0">
                <a:latin typeface="MS Reference Sans Serif" panose="020B0604030504040204" pitchFamily="34" charset="0"/>
              </a:rPr>
              <a:t>    </a:t>
            </a:r>
            <a:r>
              <a:rPr lang="en-US" altLang="ko-KR" sz="1600" dirty="0">
                <a:latin typeface="MS Reference Sans Serif" panose="020B0604030504040204" pitchFamily="34" charset="0"/>
              </a:rPr>
              <a:t>public int Length { get; }  // </a:t>
            </a:r>
            <a:r>
              <a:rPr lang="ko-KR" altLang="en-US" sz="1600" dirty="0">
                <a:latin typeface="MS Reference Sans Serif" panose="020B0604030504040204" pitchFamily="34" charset="0"/>
              </a:rPr>
              <a:t>배열 길이 반환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}</a:t>
            </a:r>
          </a:p>
          <a:p>
            <a:pPr>
              <a:buNone/>
            </a:pPr>
            <a:r>
              <a:rPr lang="ko-KR" altLang="en-US" sz="1600" dirty="0">
                <a:latin typeface="MS Reference Sans Serif" panose="020B0604030504040204" pitchFamily="34" charset="0"/>
              </a:rPr>
              <a:t>이 클래스는 실제로 </a:t>
            </a:r>
            <a:r>
              <a:rPr lang="ko-KR" altLang="en-US" sz="1600" b="1" dirty="0">
                <a:latin typeface="MS Reference Sans Serif" panose="020B0604030504040204" pitchFamily="34" charset="0"/>
              </a:rPr>
              <a:t>배열처럼 작동하는 사용자 정의 컬렉션 클래스</a:t>
            </a:r>
            <a:r>
              <a:rPr lang="ko-KR" altLang="en-US" sz="1600" dirty="0">
                <a:latin typeface="MS Reference Sans Serif" panose="020B0604030504040204" pitchFamily="34" charset="0"/>
              </a:rPr>
              <a:t>입니다</a:t>
            </a:r>
            <a:r>
              <a:rPr lang="en-US" altLang="ko-KR" sz="1600" dirty="0">
                <a:latin typeface="MS Reference Sans Serif" panose="020B0604030504040204" pitchFamily="34" charset="0"/>
              </a:rPr>
              <a:t>.</a:t>
            </a:r>
            <a:br>
              <a:rPr lang="en-US" altLang="ko-KR" sz="1600" dirty="0">
                <a:latin typeface="MS Reference Sans Serif" panose="020B0604030504040204" pitchFamily="34" charset="0"/>
              </a:rPr>
            </a:br>
            <a:r>
              <a:rPr lang="ko-KR" altLang="en-US" sz="1600" dirty="0">
                <a:latin typeface="MS Reference Sans Serif" panose="020B0604030504040204" pitchFamily="34" charset="0"/>
              </a:rPr>
              <a:t>내부적으로는 </a:t>
            </a:r>
            <a:r>
              <a:rPr lang="en-US" altLang="ko-KR" sz="1600" dirty="0">
                <a:latin typeface="MS Reference Sans Serif" panose="020B0604030504040204" pitchFamily="34" charset="0"/>
              </a:rPr>
              <a:t>int[] array</a:t>
            </a:r>
            <a:r>
              <a:rPr lang="ko-KR" altLang="en-US" sz="1600" dirty="0">
                <a:latin typeface="MS Reference Sans Serif" panose="020B0604030504040204" pitchFamily="34" charset="0"/>
              </a:rPr>
              <a:t>를 사용해 데이터를 저장합니다</a:t>
            </a:r>
            <a:r>
              <a:rPr lang="en-US" altLang="ko-KR" sz="1600" dirty="0">
                <a:latin typeface="MS Reference Sans Serif" panose="020B0604030504040204" pitchFamily="34" charset="0"/>
              </a:rPr>
              <a:t>.</a:t>
            </a:r>
          </a:p>
          <a:p>
            <a:pPr>
              <a:buNone/>
            </a:pPr>
            <a:br>
              <a:rPr lang="en-US" altLang="ko-KR" sz="1600" dirty="0">
                <a:latin typeface="MS Reference Sans Serif" panose="020B0604030504040204" pitchFamily="34" charset="0"/>
              </a:rPr>
            </a:br>
            <a:endParaRPr lang="en-US" altLang="ko-KR" sz="1600" dirty="0">
              <a:latin typeface="MS Reference Sans Serif" panose="020B0604030504040204" pitchFamily="34" charset="0"/>
            </a:endParaRPr>
          </a:p>
          <a:p>
            <a:pPr>
              <a:buNone/>
            </a:pPr>
            <a:r>
              <a:rPr lang="ko-KR" altLang="en-US" sz="1600" b="1" dirty="0">
                <a:latin typeface="MS Reference Sans Serif" panose="020B0604030504040204" pitchFamily="34" charset="0"/>
              </a:rPr>
              <a:t>생성자 </a:t>
            </a:r>
            <a:r>
              <a:rPr lang="en-US" altLang="ko-KR" sz="1600" b="1" dirty="0">
                <a:latin typeface="MS Reference Sans Serif" panose="020B0604030504040204" pitchFamily="34" charset="0"/>
              </a:rPr>
              <a:t>(Constructor)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public </a:t>
            </a:r>
            <a:r>
              <a:rPr lang="en-US" altLang="ko-KR" sz="1600" dirty="0" err="1">
                <a:latin typeface="MS Reference Sans Serif" panose="020B0604030504040204" pitchFamily="34" charset="0"/>
              </a:rPr>
              <a:t>MyList</a:t>
            </a:r>
            <a:r>
              <a:rPr lang="en-US" altLang="ko-KR" sz="1600" dirty="0">
                <a:latin typeface="MS Reference Sans Serif" panose="020B0604030504040204" pitchFamily="34" charset="0"/>
              </a:rPr>
              <a:t>()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{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    array = new int[3];</a:t>
            </a:r>
          </a:p>
          <a:p>
            <a:pPr rtl="0">
              <a:buNone/>
            </a:pPr>
            <a:r>
              <a:rPr lang="en-US" altLang="ko-KR" sz="1600" dirty="0">
                <a:latin typeface="MS Reference Sans Serif" panose="020B0604030504040204" pitchFamily="34" charset="0"/>
              </a:rPr>
              <a:t>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MS Reference Sans Serif" panose="020B0604030504040204" pitchFamily="34" charset="0"/>
              </a:rPr>
              <a:t>처음에 내부 배열의 크기를 </a:t>
            </a:r>
            <a:r>
              <a:rPr lang="en-US" altLang="ko-KR" sz="1600" dirty="0">
                <a:latin typeface="MS Reference Sans Serif" panose="020B0604030504040204" pitchFamily="34" charset="0"/>
              </a:rPr>
              <a:t>3</a:t>
            </a:r>
            <a:r>
              <a:rPr lang="ko-KR" altLang="en-US" sz="1600" dirty="0">
                <a:latin typeface="MS Reference Sans Serif" panose="020B0604030504040204" pitchFamily="34" charset="0"/>
              </a:rPr>
              <a:t>으로 고정 생성합니다</a:t>
            </a:r>
            <a:r>
              <a:rPr lang="en-US" altLang="ko-KR" sz="1600" dirty="0">
                <a:latin typeface="MS Reference Sans Serif" panose="020B0604030504040204" pitchFamily="34" charset="0"/>
              </a:rPr>
              <a:t>.</a:t>
            </a:r>
            <a:br>
              <a:rPr lang="en-US" altLang="ko-KR" sz="1600" dirty="0">
                <a:latin typeface="MS Reference Sans Serif" panose="020B0604030504040204" pitchFamily="34" charset="0"/>
              </a:rPr>
            </a:br>
            <a:r>
              <a:rPr lang="ko-KR" altLang="en-US" sz="1600" dirty="0">
                <a:latin typeface="MS Reference Sans Serif" panose="020B0604030504040204" pitchFamily="34" charset="0"/>
              </a:rPr>
              <a:t>즉</a:t>
            </a:r>
            <a:r>
              <a:rPr lang="en-US" altLang="ko-KR" sz="1600" dirty="0">
                <a:latin typeface="MS Reference Sans Serif" panose="020B0604030504040204" pitchFamily="34" charset="0"/>
              </a:rPr>
              <a:t>, </a:t>
            </a:r>
            <a:r>
              <a:rPr lang="ko-KR" altLang="en-US" sz="1600" dirty="0">
                <a:latin typeface="MS Reference Sans Serif" panose="020B0604030504040204" pitchFamily="34" charset="0"/>
              </a:rPr>
              <a:t>초기 상태</a:t>
            </a:r>
            <a:r>
              <a:rPr lang="en-US" altLang="ko-KR" sz="1600" dirty="0">
                <a:latin typeface="MS Reference Sans Serif" panose="020B0604030504040204" pitchFamily="34" charset="0"/>
              </a:rPr>
              <a:t>: [0, 0, 0]</a:t>
            </a:r>
            <a:endParaRPr lang="ko-KR" altLang="en-US" sz="1600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95247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52DDE-D1D9-C2FF-A416-A1D457824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9. </a:t>
            </a:r>
            <a:r>
              <a:rPr lang="ko-KR" altLang="en-US" dirty="0" err="1">
                <a:latin typeface="MS Reference Sans Serif" panose="020B0604030504040204" pitchFamily="34" charset="0"/>
              </a:rPr>
              <a:t>인덱서</a:t>
            </a:r>
            <a:r>
              <a:rPr lang="en-US" altLang="ko-KR" dirty="0">
                <a:latin typeface="MS Reference Sans Serif" panose="020B0604030504040204" pitchFamily="34" charset="0"/>
              </a:rPr>
              <a:t>(Indexer)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E16B8A7-0E90-65E7-9D47-8C79DFEEE2A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6616151-0710-744E-F993-8B63BD255548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E409F59-5EDF-88B4-6F59-5E6E70877AC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Indexer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B883512-7C28-8400-3A7E-FBB13BD1F4A1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5C196E7-456C-8652-0C4D-B1115B4BBBAF}"/>
              </a:ext>
            </a:extLst>
          </p:cNvPr>
          <p:cNvSpPr txBox="1"/>
          <p:nvPr/>
        </p:nvSpPr>
        <p:spPr>
          <a:xfrm>
            <a:off x="198408" y="1581397"/>
            <a:ext cx="874718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b="1" dirty="0" err="1">
                <a:latin typeface="MS Reference Sans Serif" panose="020B0604030504040204" pitchFamily="34" charset="0"/>
                <a:ea typeface="+mj-ea"/>
              </a:rPr>
              <a:t>인덱서</a:t>
            </a:r>
            <a:r>
              <a:rPr lang="ko-KR" altLang="en-US" sz="1400" b="1" dirty="0">
                <a:latin typeface="MS Reference Sans Serif" panose="020B0604030504040204" pitchFamily="34" charset="0"/>
                <a:ea typeface="+mj-ea"/>
              </a:rPr>
              <a:t> </a:t>
            </a:r>
            <a:r>
              <a:rPr lang="en-US" altLang="ko-KR" sz="1400" b="1" dirty="0">
                <a:latin typeface="MS Reference Sans Serif" panose="020B0604030504040204" pitchFamily="34" charset="0"/>
                <a:ea typeface="+mj-ea"/>
              </a:rPr>
              <a:t>(Indexer) </a:t>
            </a:r>
            <a:r>
              <a:rPr lang="ko-KR" altLang="en-US" sz="1400" b="1" dirty="0">
                <a:latin typeface="MS Reference Sans Serif" panose="020B0604030504040204" pitchFamily="34" charset="0"/>
                <a:ea typeface="+mj-ea"/>
              </a:rPr>
              <a:t>정의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public int this[int index]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{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    get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    {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        return array[index];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    }</a:t>
            </a:r>
          </a:p>
          <a:p>
            <a:pPr rtl="0">
              <a:buNone/>
            </a:pPr>
            <a:endParaRPr lang="en-US" altLang="ko-KR" sz="1400" dirty="0">
              <a:latin typeface="MS Reference Sans Serif" panose="020B0604030504040204" pitchFamily="34" charset="0"/>
              <a:ea typeface="+mj-ea"/>
            </a:endParaRP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    set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    {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        if (index &gt;= </a:t>
            </a:r>
            <a:r>
              <a:rPr lang="en-US" altLang="ko-KR" sz="1400" dirty="0" err="1">
                <a:latin typeface="MS Reference Sans Serif" panose="020B0604030504040204" pitchFamily="34" charset="0"/>
                <a:ea typeface="+mj-ea"/>
              </a:rPr>
              <a:t>array.Length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)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        {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            </a:t>
            </a:r>
            <a:r>
              <a:rPr lang="en-US" altLang="ko-KR" sz="1400" dirty="0" err="1">
                <a:latin typeface="MS Reference Sans Serif" panose="020B0604030504040204" pitchFamily="34" charset="0"/>
                <a:ea typeface="+mj-ea"/>
              </a:rPr>
              <a:t>Array.Resize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&lt;int&gt;(ref array, index + 1);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            </a:t>
            </a:r>
            <a:r>
              <a:rPr lang="en-US" altLang="ko-KR" sz="1400" dirty="0" err="1">
                <a:latin typeface="MS Reference Sans Serif" panose="020B0604030504040204" pitchFamily="34" charset="0"/>
                <a:ea typeface="+mj-ea"/>
              </a:rPr>
              <a:t>Console.WriteLine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($"Array Resized : {</a:t>
            </a:r>
            <a:r>
              <a:rPr lang="en-US" altLang="ko-KR" sz="1400" dirty="0" err="1">
                <a:latin typeface="MS Reference Sans Serif" panose="020B0604030504040204" pitchFamily="34" charset="0"/>
                <a:ea typeface="+mj-ea"/>
              </a:rPr>
              <a:t>array.Length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}");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        }</a:t>
            </a:r>
          </a:p>
          <a:p>
            <a:pPr rtl="0">
              <a:buNone/>
            </a:pPr>
            <a:endParaRPr lang="en-US" altLang="ko-KR" sz="1400" dirty="0">
              <a:latin typeface="MS Reference Sans Serif" panose="020B0604030504040204" pitchFamily="34" charset="0"/>
              <a:ea typeface="+mj-ea"/>
            </a:endParaRP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        array[index] = value;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    }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}</a:t>
            </a:r>
          </a:p>
          <a:p>
            <a:pPr>
              <a:buNone/>
            </a:pPr>
            <a:endParaRPr lang="ko-KR" altLang="en-US" sz="1400" dirty="0">
              <a:latin typeface="MS Reference Sans Serif" panose="020B060403050404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4310053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52DDE-D1D9-C2FF-A416-A1D457824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9. </a:t>
            </a:r>
            <a:r>
              <a:rPr lang="ko-KR" altLang="en-US" dirty="0" err="1">
                <a:latin typeface="MS Reference Sans Serif" panose="020B0604030504040204" pitchFamily="34" charset="0"/>
              </a:rPr>
              <a:t>인덱서</a:t>
            </a:r>
            <a:r>
              <a:rPr lang="en-US" altLang="ko-KR" dirty="0">
                <a:latin typeface="MS Reference Sans Serif" panose="020B0604030504040204" pitchFamily="34" charset="0"/>
              </a:rPr>
              <a:t>(Indexer)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E16B8A7-0E90-65E7-9D47-8C79DFEEE2A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6616151-0710-744E-F993-8B63BD255548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E409F59-5EDF-88B4-6F59-5E6E70877AC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Indexer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B883512-7C28-8400-3A7E-FBB13BD1F4A1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5C196E7-456C-8652-0C4D-B1115B4BBBAF}"/>
              </a:ext>
            </a:extLst>
          </p:cNvPr>
          <p:cNvSpPr txBox="1"/>
          <p:nvPr/>
        </p:nvSpPr>
        <p:spPr>
          <a:xfrm>
            <a:off x="198408" y="1581397"/>
            <a:ext cx="874718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b="1" dirty="0">
                <a:latin typeface="MS Reference Sans Serif" panose="020B0604030504040204" pitchFamily="34" charset="0"/>
                <a:ea typeface="+mj-ea"/>
              </a:rPr>
              <a:t>🔹 역할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MS Reference Sans Serif" panose="020B0604030504040204" pitchFamily="34" charset="0"/>
                <a:ea typeface="+mj-ea"/>
              </a:rPr>
              <a:t>get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: list[</a:t>
            </a:r>
            <a:r>
              <a:rPr lang="en-US" altLang="ko-KR" sz="1400" dirty="0" err="1">
                <a:latin typeface="MS Reference Sans Serif" panose="020B0604030504040204" pitchFamily="34" charset="0"/>
                <a:ea typeface="+mj-ea"/>
              </a:rPr>
              <a:t>i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]</a:t>
            </a:r>
            <a:r>
              <a:rPr lang="ko-KR" altLang="en-US" sz="1400" dirty="0">
                <a:latin typeface="MS Reference Sans Serif" panose="020B0604030504040204" pitchFamily="34" charset="0"/>
                <a:ea typeface="+mj-ea"/>
              </a:rPr>
              <a:t>로 값을 읽을 때 호출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MS Reference Sans Serif" panose="020B0604030504040204" pitchFamily="34" charset="0"/>
                <a:ea typeface="+mj-ea"/>
              </a:rPr>
              <a:t>set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: list[</a:t>
            </a:r>
            <a:r>
              <a:rPr lang="en-US" altLang="ko-KR" sz="1400" dirty="0" err="1">
                <a:latin typeface="MS Reference Sans Serif" panose="020B0604030504040204" pitchFamily="34" charset="0"/>
                <a:ea typeface="+mj-ea"/>
              </a:rPr>
              <a:t>i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] = </a:t>
            </a:r>
            <a:r>
              <a:rPr lang="ko-KR" altLang="en-US" sz="1400" dirty="0">
                <a:latin typeface="MS Reference Sans Serif" panose="020B0604030504040204" pitchFamily="34" charset="0"/>
                <a:ea typeface="+mj-ea"/>
              </a:rPr>
              <a:t>값 으로 쓸 때 호출</a:t>
            </a:r>
          </a:p>
          <a:p>
            <a:pPr>
              <a:buNone/>
            </a:pPr>
            <a:r>
              <a:rPr lang="ko-KR" altLang="en-US" sz="1400" dirty="0">
                <a:latin typeface="MS Reference Sans Serif" panose="020B0604030504040204" pitchFamily="34" charset="0"/>
                <a:ea typeface="+mj-ea"/>
              </a:rPr>
              <a:t>즉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, </a:t>
            </a:r>
            <a:r>
              <a:rPr lang="ko-KR" altLang="en-US" sz="1400" dirty="0">
                <a:latin typeface="MS Reference Sans Serif" panose="020B0604030504040204" pitchFamily="34" charset="0"/>
                <a:ea typeface="+mj-ea"/>
              </a:rPr>
              <a:t>이 </a:t>
            </a:r>
            <a:r>
              <a:rPr lang="ko-KR" altLang="en-US" sz="1400" dirty="0" err="1">
                <a:latin typeface="MS Reference Sans Serif" panose="020B0604030504040204" pitchFamily="34" charset="0"/>
                <a:ea typeface="+mj-ea"/>
              </a:rPr>
              <a:t>인덱서는</a:t>
            </a:r>
            <a:r>
              <a:rPr lang="ko-KR" altLang="en-US" sz="1400" dirty="0">
                <a:latin typeface="MS Reference Sans Serif" panose="020B0604030504040204" pitchFamily="34" charset="0"/>
                <a:ea typeface="+mj-ea"/>
              </a:rPr>
              <a:t> 내부 배열에 접근하는 “게이트웨이” 역할을 합니다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.</a:t>
            </a:r>
          </a:p>
          <a:p>
            <a:pPr>
              <a:buNone/>
            </a:pPr>
            <a:br>
              <a:rPr lang="en-US" altLang="ko-KR" sz="1400" dirty="0">
                <a:latin typeface="MS Reference Sans Serif" panose="020B0604030504040204" pitchFamily="34" charset="0"/>
                <a:ea typeface="+mj-ea"/>
              </a:rPr>
            </a:br>
            <a:endParaRPr lang="en-US" altLang="ko-KR" sz="1400" dirty="0">
              <a:latin typeface="MS Reference Sans Serif" panose="020B0604030504040204" pitchFamily="34" charset="0"/>
              <a:ea typeface="+mj-ea"/>
            </a:endParaRPr>
          </a:p>
          <a:p>
            <a:pPr>
              <a:buNone/>
            </a:pPr>
            <a:r>
              <a:rPr lang="ko-KR" altLang="en-US" sz="1400" b="1" dirty="0">
                <a:latin typeface="MS Reference Sans Serif" panose="020B0604030504040204" pitchFamily="34" charset="0"/>
                <a:ea typeface="+mj-ea"/>
              </a:rPr>
              <a:t>🔸 </a:t>
            </a:r>
            <a:r>
              <a:rPr lang="en-US" altLang="ko-KR" sz="1400" b="1" dirty="0">
                <a:latin typeface="MS Reference Sans Serif" panose="020B0604030504040204" pitchFamily="34" charset="0"/>
                <a:ea typeface="+mj-ea"/>
              </a:rPr>
              <a:t>set </a:t>
            </a:r>
            <a:r>
              <a:rPr lang="ko-KR" altLang="en-US" sz="1400" b="1" dirty="0">
                <a:latin typeface="MS Reference Sans Serif" panose="020B0604030504040204" pitchFamily="34" charset="0"/>
                <a:ea typeface="+mj-ea"/>
              </a:rPr>
              <a:t>부분 상세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if (index &gt;= </a:t>
            </a:r>
            <a:r>
              <a:rPr lang="en-US" altLang="ko-KR" sz="1400" dirty="0" err="1">
                <a:latin typeface="MS Reference Sans Serif" panose="020B0604030504040204" pitchFamily="34" charset="0"/>
                <a:ea typeface="+mj-ea"/>
              </a:rPr>
              <a:t>array.Length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)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{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    </a:t>
            </a:r>
            <a:r>
              <a:rPr lang="en-US" altLang="ko-KR" sz="1400" dirty="0" err="1">
                <a:latin typeface="MS Reference Sans Serif" panose="020B0604030504040204" pitchFamily="34" charset="0"/>
                <a:ea typeface="+mj-ea"/>
              </a:rPr>
              <a:t>Array.Resize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&lt;int&gt;(ref array, index + 1);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    </a:t>
            </a:r>
            <a:r>
              <a:rPr lang="en-US" altLang="ko-KR" sz="1400" dirty="0" err="1">
                <a:latin typeface="MS Reference Sans Serif" panose="020B0604030504040204" pitchFamily="34" charset="0"/>
                <a:ea typeface="+mj-ea"/>
              </a:rPr>
              <a:t>Console.WriteLine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($"Array Resized : {</a:t>
            </a:r>
            <a:r>
              <a:rPr lang="en-US" altLang="ko-KR" sz="1400" dirty="0" err="1">
                <a:latin typeface="MS Reference Sans Serif" panose="020B0604030504040204" pitchFamily="34" charset="0"/>
                <a:ea typeface="+mj-ea"/>
              </a:rPr>
              <a:t>array.Length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}");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}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array[index] = value;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MS Reference Sans Serif" panose="020B0604030504040204" pitchFamily="34" charset="0"/>
                <a:ea typeface="+mj-ea"/>
              </a:rPr>
              <a:t>사용자가 현재 배열 범위를 벗어난 인덱스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(index &gt;= Length)</a:t>
            </a:r>
            <a:r>
              <a:rPr lang="ko-KR" altLang="en-US" sz="1400" dirty="0">
                <a:latin typeface="MS Reference Sans Serif" panose="020B0604030504040204" pitchFamily="34" charset="0"/>
                <a:ea typeface="+mj-ea"/>
              </a:rPr>
              <a:t>에 값을 저장하려고 하면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,</a:t>
            </a:r>
            <a:br>
              <a:rPr lang="en-US" altLang="ko-KR" sz="1400" dirty="0">
                <a:latin typeface="MS Reference Sans Serif" panose="020B0604030504040204" pitchFamily="34" charset="0"/>
                <a:ea typeface="+mj-ea"/>
              </a:rPr>
            </a:br>
            <a:r>
              <a:rPr lang="ko-KR" altLang="en-US" sz="1400" dirty="0">
                <a:latin typeface="MS Reference Sans Serif" panose="020B0604030504040204" pitchFamily="34" charset="0"/>
                <a:ea typeface="+mj-ea"/>
              </a:rPr>
              <a:t>자동으로 배열 크기를 늘립니다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.</a:t>
            </a:r>
          </a:p>
          <a:p>
            <a:pPr>
              <a:buNone/>
            </a:pPr>
            <a:r>
              <a:rPr lang="ko-KR" altLang="en-US" sz="1400" dirty="0">
                <a:latin typeface="MS Reference Sans Serif" panose="020B0604030504040204" pitchFamily="34" charset="0"/>
                <a:ea typeface="+mj-ea"/>
              </a:rPr>
              <a:t>예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MS Reference Sans Serif" panose="020B0604030504040204" pitchFamily="34" charset="0"/>
                <a:ea typeface="+mj-ea"/>
              </a:rPr>
              <a:t>현재 크기 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=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list[4] = 4; </a:t>
            </a:r>
            <a:r>
              <a:rPr lang="ko-KR" altLang="en-US" sz="1400" dirty="0">
                <a:latin typeface="MS Reference Sans Serif" panose="020B0604030504040204" pitchFamily="34" charset="0"/>
                <a:ea typeface="+mj-ea"/>
              </a:rPr>
              <a:t>수행 시</a:t>
            </a:r>
            <a:br>
              <a:rPr lang="ko-KR" altLang="en-US" sz="1400" dirty="0">
                <a:latin typeface="MS Reference Sans Serif" panose="020B0604030504040204" pitchFamily="34" charset="0"/>
                <a:ea typeface="+mj-ea"/>
              </a:rPr>
            </a:br>
            <a:r>
              <a:rPr lang="ko-KR" altLang="en-US" sz="1400" dirty="0">
                <a:latin typeface="MS Reference Sans Serif" panose="020B0604030504040204" pitchFamily="34" charset="0"/>
                <a:ea typeface="+mj-ea"/>
              </a:rPr>
              <a:t>→ </a:t>
            </a:r>
            <a:r>
              <a:rPr lang="en-US" altLang="ko-KR" sz="1400" dirty="0" err="1">
                <a:latin typeface="MS Reference Sans Serif" panose="020B0604030504040204" pitchFamily="34" charset="0"/>
                <a:ea typeface="+mj-ea"/>
              </a:rPr>
              <a:t>Array.Resize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(ref array, 5) </a:t>
            </a:r>
            <a:r>
              <a:rPr lang="ko-KR" altLang="en-US" sz="1400" dirty="0">
                <a:latin typeface="MS Reference Sans Serif" panose="020B0604030504040204" pitchFamily="34" charset="0"/>
                <a:ea typeface="+mj-ea"/>
              </a:rPr>
              <a:t>실행</a:t>
            </a:r>
            <a:br>
              <a:rPr lang="ko-KR" altLang="en-US" sz="1400" dirty="0">
                <a:latin typeface="MS Reference Sans Serif" panose="020B0604030504040204" pitchFamily="34" charset="0"/>
                <a:ea typeface="+mj-ea"/>
              </a:rPr>
            </a:br>
            <a:r>
              <a:rPr lang="ko-KR" altLang="en-US" sz="1400" dirty="0">
                <a:latin typeface="MS Reference Sans Serif" panose="020B0604030504040204" pitchFamily="34" charset="0"/>
                <a:ea typeface="+mj-ea"/>
              </a:rPr>
              <a:t>→ </a:t>
            </a:r>
            <a:r>
              <a:rPr lang="en-US" altLang="ko-KR" sz="1400" dirty="0">
                <a:latin typeface="MS Reference Sans Serif" panose="020B0604030504040204" pitchFamily="34" charset="0"/>
                <a:ea typeface="+mj-ea"/>
              </a:rPr>
              <a:t>"Array Resized : 5" </a:t>
            </a:r>
            <a:r>
              <a:rPr lang="ko-KR" altLang="en-US" sz="1400" dirty="0">
                <a:latin typeface="MS Reference Sans Serif" panose="020B0604030504040204" pitchFamily="34" charset="0"/>
                <a:ea typeface="+mj-ea"/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329924215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52DDE-D1D9-C2FF-A416-A1D457824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9. </a:t>
            </a:r>
            <a:r>
              <a:rPr lang="ko-KR" altLang="en-US" dirty="0" err="1">
                <a:latin typeface="MS Reference Sans Serif" panose="020B0604030504040204" pitchFamily="34" charset="0"/>
              </a:rPr>
              <a:t>인덱서</a:t>
            </a:r>
            <a:r>
              <a:rPr lang="en-US" altLang="ko-KR" dirty="0">
                <a:latin typeface="MS Reference Sans Serif" panose="020B0604030504040204" pitchFamily="34" charset="0"/>
              </a:rPr>
              <a:t>(Indexer)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E16B8A7-0E90-65E7-9D47-8C79DFEEE2A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6616151-0710-744E-F993-8B63BD255548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E409F59-5EDF-88B4-6F59-5E6E70877AC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Indexer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B883512-7C28-8400-3A7E-FBB13BD1F4A1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21743D8-1F96-2A00-EA22-D7AB5A9703D7}"/>
              </a:ext>
            </a:extLst>
          </p:cNvPr>
          <p:cNvSpPr txBox="1"/>
          <p:nvPr/>
        </p:nvSpPr>
        <p:spPr>
          <a:xfrm>
            <a:off x="221417" y="1669529"/>
            <a:ext cx="870116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latin typeface="MS Reference Sans Serif" panose="020B0604030504040204" pitchFamily="34" charset="0"/>
              </a:rPr>
              <a:t>Length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프로퍼티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public int Length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{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    get { return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array.Length</a:t>
            </a:r>
            <a:r>
              <a:rPr lang="en-US" altLang="ko-KR" sz="1400" dirty="0">
                <a:latin typeface="MS Reference Sans Serif" panose="020B0604030504040204" pitchFamily="34" charset="0"/>
              </a:rPr>
              <a:t>; }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MS Reference Sans Serif" panose="020B0604030504040204" pitchFamily="34" charset="0"/>
              </a:rPr>
              <a:t>현재 배열의 길이를 읽기 전용으로 제공합니다</a:t>
            </a:r>
            <a:r>
              <a:rPr lang="en-US" altLang="ko-KR" sz="1400" dirty="0">
                <a:latin typeface="MS Reference Sans Serif" panose="020B0604030504040204" pitchFamily="34" charset="0"/>
              </a:rPr>
              <a:t>.</a:t>
            </a:r>
            <a:br>
              <a:rPr lang="en-US" altLang="ko-KR" sz="1400" dirty="0">
                <a:latin typeface="MS Reference Sans Serif" panose="020B0604030504040204" pitchFamily="34" charset="0"/>
              </a:rPr>
            </a:br>
            <a:r>
              <a:rPr lang="en-US" altLang="ko-KR" sz="1400" dirty="0">
                <a:latin typeface="MS Reference Sans Serif" panose="020B0604030504040204" pitchFamily="34" charset="0"/>
              </a:rPr>
              <a:t>(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array.Length</a:t>
            </a:r>
            <a:r>
              <a:rPr lang="ko-KR" altLang="en-US" sz="1400" dirty="0">
                <a:latin typeface="MS Reference Sans Serif" panose="020B0604030504040204" pitchFamily="34" charset="0"/>
              </a:rPr>
              <a:t>의 외부 접근 버전</a:t>
            </a:r>
            <a:r>
              <a:rPr lang="en-US" altLang="ko-KR" sz="1400" dirty="0">
                <a:latin typeface="MS Reference Sans Serif" panose="020B0604030504040204" pitchFamily="34" charset="0"/>
              </a:rPr>
              <a:t>)</a:t>
            </a:r>
          </a:p>
          <a:p>
            <a:pPr>
              <a:buNone/>
            </a:pPr>
            <a:br>
              <a:rPr lang="en-US" altLang="ko-KR" sz="1400" dirty="0">
                <a:latin typeface="MS Reference Sans Serif" panose="020B0604030504040204" pitchFamily="34" charset="0"/>
              </a:rPr>
            </a:br>
            <a:endParaRPr lang="en-US" altLang="ko-KR" sz="1400" dirty="0">
              <a:latin typeface="MS Reference Sans Serif" panose="020B0604030504040204" pitchFamily="34" charset="0"/>
            </a:endParaRPr>
          </a:p>
          <a:p>
            <a:pPr>
              <a:buNone/>
            </a:pPr>
            <a:r>
              <a:rPr lang="en-US" altLang="ko-KR" sz="1400" b="1" dirty="0">
                <a:latin typeface="MS Reference Sans Serif" panose="020B0604030504040204" pitchFamily="34" charset="0"/>
              </a:rPr>
              <a:t>Main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메서드 실행 흐름</a:t>
            </a:r>
          </a:p>
          <a:p>
            <a:pPr rtl="0">
              <a:buNone/>
            </a:pPr>
            <a:r>
              <a:rPr lang="en-US" altLang="ko-KR" sz="1400" dirty="0" err="1">
                <a:latin typeface="MS Reference Sans Serif" panose="020B0604030504040204" pitchFamily="34" charset="0"/>
              </a:rPr>
              <a:t>MyList</a:t>
            </a:r>
            <a:r>
              <a:rPr lang="en-US" altLang="ko-KR" sz="1400" dirty="0">
                <a:latin typeface="MS Reference Sans Serif" panose="020B0604030504040204" pitchFamily="34" charset="0"/>
              </a:rPr>
              <a:t> list = new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MyList</a:t>
            </a:r>
            <a:r>
              <a:rPr lang="en-US" altLang="ko-KR" sz="1400" dirty="0">
                <a:latin typeface="MS Reference Sans Serif" panose="020B0604030504040204" pitchFamily="34" charset="0"/>
              </a:rPr>
              <a:t>();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for (int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dirty="0">
                <a:latin typeface="MS Reference Sans Serif" panose="020B0604030504040204" pitchFamily="34" charset="0"/>
              </a:rPr>
              <a:t> &lt; 5;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dirty="0">
                <a:latin typeface="MS Reference Sans Serif" panose="020B0604030504040204" pitchFamily="34" charset="0"/>
              </a:rPr>
              <a:t>++)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    list[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dirty="0">
                <a:latin typeface="MS Reference Sans Serif" panose="020B0604030504040204" pitchFamily="34" charset="0"/>
              </a:rPr>
              <a:t>] =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dirty="0">
                <a:latin typeface="MS Reference Sans Serif" panose="020B0604030504040204" pitchFamily="34" charset="0"/>
              </a:rPr>
              <a:t>;</a:t>
            </a:r>
          </a:p>
          <a:p>
            <a:pPr>
              <a:buNone/>
            </a:pPr>
            <a:r>
              <a:rPr lang="ko-KR" altLang="en-US" sz="1400" b="1" dirty="0">
                <a:latin typeface="MS Reference Sans Serif" panose="020B0604030504040204" pitchFamily="34" charset="0"/>
              </a:rPr>
              <a:t>🔹 실행 단계별 상황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87CC372-1D20-7F18-0F6E-DEF3918E0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803002"/>
              </p:ext>
            </p:extLst>
          </p:nvPr>
        </p:nvGraphicFramePr>
        <p:xfrm>
          <a:off x="518922" y="4969042"/>
          <a:ext cx="7886700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53969857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39620568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691928728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4014076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i</a:t>
                      </a:r>
                      <a:endParaRPr lang="en-US" sz="12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동작</a:t>
                      </a:r>
                      <a:endParaRPr lang="ko-KR" altLang="en-US" sz="12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결과</a:t>
                      </a:r>
                      <a:endParaRPr lang="ko-KR" altLang="en-US" sz="12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출력</a:t>
                      </a:r>
                      <a:endParaRPr lang="ko-KR" altLang="en-US" sz="12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940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</a:t>
                      </a:r>
                      <a:endParaRPr lang="en-US" altLang="ko-KR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list[0] = 0</a:t>
                      </a:r>
                      <a:endParaRPr lang="en-US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OK (</a:t>
                      </a:r>
                      <a:r>
                        <a:rPr lang="ko-KR" altLang="en-US" sz="1200"/>
                        <a:t>배열 크기 </a:t>
                      </a:r>
                      <a:r>
                        <a:rPr lang="en-US" altLang="ko-KR" sz="1200"/>
                        <a:t>3)</a:t>
                      </a:r>
                      <a:endParaRPr lang="en-US" altLang="ko-KR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1663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</a:t>
                      </a:r>
                      <a:endParaRPr lang="en-US" altLang="ko-KR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list[1] = 1</a:t>
                      </a:r>
                      <a:endParaRPr lang="en-US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OK</a:t>
                      </a:r>
                      <a:endParaRPr lang="en-US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9586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2</a:t>
                      </a:r>
                      <a:endParaRPr lang="en-US" altLang="ko-KR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list[2] = 2</a:t>
                      </a:r>
                      <a:endParaRPr lang="en-US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OK</a:t>
                      </a:r>
                      <a:endParaRPr lang="en-US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39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3</a:t>
                      </a:r>
                      <a:endParaRPr lang="en-US" altLang="ko-KR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list[3] = 3</a:t>
                      </a:r>
                      <a:endParaRPr lang="en-US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배열 크기 </a:t>
                      </a:r>
                      <a:r>
                        <a:rPr lang="en-US" altLang="ko-KR" sz="1200"/>
                        <a:t>3 → 4</a:t>
                      </a:r>
                      <a:r>
                        <a:rPr lang="ko-KR" altLang="en-US" sz="1200"/>
                        <a:t>로 </a:t>
                      </a:r>
                      <a:r>
                        <a:rPr lang="en-US" altLang="ko-KR" sz="1200"/>
                        <a:t>Resize</a:t>
                      </a:r>
                      <a:endParaRPr lang="en-US" altLang="ko-KR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Array Resized : 4</a:t>
                      </a:r>
                      <a:endParaRPr lang="en-US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841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4</a:t>
                      </a:r>
                      <a:endParaRPr lang="en-US" altLang="ko-KR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list[4] = 4</a:t>
                      </a:r>
                      <a:endParaRPr lang="en-US" sz="12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배열 크기 </a:t>
                      </a:r>
                      <a:r>
                        <a:rPr lang="en-US" altLang="ko-KR" sz="1200"/>
                        <a:t>4 → 5</a:t>
                      </a:r>
                      <a:r>
                        <a:rPr lang="ko-KR" altLang="en-US" sz="1200"/>
                        <a:t>로 </a:t>
                      </a:r>
                      <a:r>
                        <a:rPr lang="en-US" altLang="ko-KR" sz="1200"/>
                        <a:t>Resize</a:t>
                      </a:r>
                      <a:endParaRPr lang="en-US" altLang="ko-KR" sz="120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Array Resized : 5</a:t>
                      </a:r>
                      <a:endParaRPr lang="en-US" sz="1200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586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21947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52DDE-D1D9-C2FF-A416-A1D457824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9. </a:t>
            </a:r>
            <a:r>
              <a:rPr lang="ko-KR" altLang="en-US" dirty="0" err="1">
                <a:latin typeface="MS Reference Sans Serif" panose="020B0604030504040204" pitchFamily="34" charset="0"/>
              </a:rPr>
              <a:t>인덱서</a:t>
            </a:r>
            <a:r>
              <a:rPr lang="en-US" altLang="ko-KR" dirty="0">
                <a:latin typeface="MS Reference Sans Serif" panose="020B0604030504040204" pitchFamily="34" charset="0"/>
              </a:rPr>
              <a:t>(Indexer)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E16B8A7-0E90-65E7-9D47-8C79DFEEE2A6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6616151-0710-744E-F993-8B63BD255548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E409F59-5EDF-88B4-6F59-5E6E70877AC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Indexer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B883512-7C28-8400-3A7E-FBB13BD1F4A1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4098173-B213-A7E7-FD24-E0D5CB6D86FE}"/>
              </a:ext>
            </a:extLst>
          </p:cNvPr>
          <p:cNvSpPr txBox="1"/>
          <p:nvPr/>
        </p:nvSpPr>
        <p:spPr>
          <a:xfrm>
            <a:off x="198408" y="1585389"/>
            <a:ext cx="874718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dirty="0">
                <a:latin typeface="MS Reference Sans Serif" panose="020B0604030504040204" pitchFamily="34" charset="0"/>
              </a:rPr>
              <a:t>배열 최종 상태</a:t>
            </a:r>
            <a:r>
              <a:rPr lang="en-US" altLang="ko-KR" sz="1400" dirty="0">
                <a:latin typeface="MS Reference Sans Serif" panose="020B0604030504040204" pitchFamily="34" charset="0"/>
              </a:rPr>
              <a:t>: [0, 1, 2, 3, 4]</a:t>
            </a:r>
            <a:br>
              <a:rPr lang="ko-KR" altLang="en-US" sz="1400" dirty="0">
                <a:latin typeface="MS Reference Sans Serif" panose="020B0604030504040204" pitchFamily="34" charset="0"/>
              </a:rPr>
            </a:br>
            <a:r>
              <a:rPr lang="ko-KR" altLang="en-US" sz="1400" dirty="0">
                <a:latin typeface="MS Reference Sans Serif" panose="020B0604030504040204" pitchFamily="34" charset="0"/>
              </a:rPr>
              <a:t>콘솔 출력 중간 메시지</a:t>
            </a:r>
            <a:r>
              <a:rPr lang="en-US" altLang="ko-KR" sz="1400" dirty="0">
                <a:latin typeface="MS Reference Sans Serif" panose="020B0604030504040204" pitchFamily="34" charset="0"/>
              </a:rPr>
              <a:t>: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Array Resized : 4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Array Resized : 5</a:t>
            </a:r>
          </a:p>
          <a:p>
            <a:pPr>
              <a:buNone/>
            </a:pPr>
            <a:br>
              <a:rPr lang="en-US" altLang="ko-KR" sz="1400" dirty="0">
                <a:latin typeface="MS Reference Sans Serif" panose="020B0604030504040204" pitchFamily="34" charset="0"/>
              </a:rPr>
            </a:br>
            <a:endParaRPr lang="en-US" altLang="ko-KR" sz="1400" dirty="0">
              <a:latin typeface="MS Reference Sans Serif" panose="020B0604030504040204" pitchFamily="34" charset="0"/>
            </a:endParaRPr>
          </a:p>
          <a:p>
            <a:pPr>
              <a:buNone/>
            </a:pPr>
            <a:r>
              <a:rPr lang="ko-KR" altLang="en-US" sz="1400" dirty="0">
                <a:latin typeface="MS Reference Sans Serif" panose="020B0604030504040204" pitchFamily="34" charset="0"/>
              </a:rPr>
              <a:t>다음 </a:t>
            </a:r>
            <a:r>
              <a:rPr lang="ko-KR" altLang="en-US" sz="1400" dirty="0" err="1">
                <a:latin typeface="MS Reference Sans Serif" panose="020B0604030504040204" pitchFamily="34" charset="0"/>
              </a:rPr>
              <a:t>반복문</a:t>
            </a:r>
            <a:r>
              <a:rPr lang="en-US" altLang="ko-KR" sz="1400" dirty="0">
                <a:latin typeface="MS Reference Sans Serif" panose="020B0604030504040204" pitchFamily="34" charset="0"/>
              </a:rPr>
              <a:t>: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for (int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dirty="0">
                <a:latin typeface="MS Reference Sans Serif" panose="020B0604030504040204" pitchFamily="34" charset="0"/>
              </a:rPr>
              <a:t> &lt;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list.Length</a:t>
            </a:r>
            <a:r>
              <a:rPr lang="en-US" altLang="ko-KR" sz="1400" dirty="0">
                <a:latin typeface="MS Reference Sans Serif" panose="020B0604030504040204" pitchFamily="34" charset="0"/>
              </a:rPr>
              <a:t>;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dirty="0">
                <a:latin typeface="MS Reference Sans Serif" panose="020B0604030504040204" pitchFamily="34" charset="0"/>
              </a:rPr>
              <a:t>++)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   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400" dirty="0">
                <a:latin typeface="MS Reference Sans Serif" panose="020B0604030504040204" pitchFamily="34" charset="0"/>
              </a:rPr>
              <a:t>(list[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400" dirty="0">
                <a:latin typeface="MS Reference Sans Serif" panose="020B0604030504040204" pitchFamily="34" charset="0"/>
              </a:rPr>
              <a:t>]);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MS Reference Sans Serif" panose="020B0604030504040204" pitchFamily="34" charset="0"/>
              </a:rPr>
              <a:t>list.Length</a:t>
            </a:r>
            <a:r>
              <a:rPr lang="en-US" altLang="ko-KR" sz="1400" dirty="0">
                <a:latin typeface="MS Reference Sans Serif" panose="020B0604030504040204" pitchFamily="34" charset="0"/>
              </a:rPr>
              <a:t> = 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MS Reference Sans Serif" panose="020B0604030504040204" pitchFamily="34" charset="0"/>
              </a:rPr>
              <a:t>따라서 </a:t>
            </a:r>
            <a:r>
              <a:rPr lang="en-US" altLang="ko-KR" sz="1400" dirty="0">
                <a:latin typeface="MS Reference Sans Serif" panose="020B0604030504040204" pitchFamily="34" charset="0"/>
              </a:rPr>
              <a:t>0, 1, 2, 3, 4</a:t>
            </a:r>
            <a:r>
              <a:rPr lang="ko-KR" altLang="en-US" sz="1400" dirty="0">
                <a:latin typeface="MS Reference Sans Serif" panose="020B0604030504040204" pitchFamily="34" charset="0"/>
              </a:rPr>
              <a:t> 순서로 출력됩니다</a:t>
            </a:r>
            <a:r>
              <a:rPr lang="en-US" altLang="ko-KR" sz="1400" dirty="0">
                <a:latin typeface="MS Reference Sans Serif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080675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7AC1D-52A4-05AD-D48D-B4CD4DEC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0D74E-6C05-E5E0-1EA1-29B384F6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CB8882E-938B-E8C3-9F99-5EBC67164DCD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BF029DC-1C99-4888-3F0D-5152832A866F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8426454-6C4E-CF41-9903-F0FA74F4C05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Yield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FDDCB4B-3CD4-C70E-6D50-2295EA927BCF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05628DC-5C2A-1159-A416-E696398CE8C8}"/>
              </a:ext>
            </a:extLst>
          </p:cNvPr>
          <p:cNvSpPr txBox="1"/>
          <p:nvPr/>
        </p:nvSpPr>
        <p:spPr>
          <a:xfrm>
            <a:off x="198408" y="1723888"/>
            <a:ext cx="874718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yield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는 </a:t>
            </a: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C#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에서 </a:t>
            </a:r>
            <a:r>
              <a:rPr lang="ko-KR" altLang="en-US" sz="2000" b="1" dirty="0" err="1">
                <a:latin typeface="MS Reference Sans Serif" panose="020B0604030504040204" pitchFamily="34" charset="0"/>
                <a:ea typeface="+mj-ea"/>
              </a:rPr>
              <a:t>이터레이터</a:t>
            </a: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(Iterator)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를 쉽게 만들기 위한 특수 키워드입니다</a:t>
            </a: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. 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즉</a:t>
            </a: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, yield return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을 사용하면 </a:t>
            </a:r>
            <a:r>
              <a:rPr lang="en-US" altLang="ko-KR" sz="2000" b="1" dirty="0" err="1">
                <a:latin typeface="MS Reference Sans Serif" panose="020B0604030504040204" pitchFamily="34" charset="0"/>
                <a:ea typeface="+mj-ea"/>
              </a:rPr>
              <a:t>IEnumerator</a:t>
            </a: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 / </a:t>
            </a:r>
            <a:r>
              <a:rPr lang="en-US" altLang="ko-KR" sz="2000" b="1" dirty="0" err="1">
                <a:latin typeface="MS Reference Sans Serif" panose="020B0604030504040204" pitchFamily="34" charset="0"/>
                <a:ea typeface="+mj-ea"/>
              </a:rPr>
              <a:t>IEnumerable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을 직접 구현하지 않고도 반복 가능한 객체를 만들 수 있습니다</a:t>
            </a: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.</a:t>
            </a:r>
          </a:p>
          <a:p>
            <a:pPr>
              <a:buNone/>
            </a:pP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기본적으로 </a:t>
            </a:r>
            <a:r>
              <a:rPr lang="en-US" altLang="ko-KR" sz="2000" b="1" dirty="0" err="1">
                <a:latin typeface="MS Reference Sans Serif" panose="020B0604030504040204" pitchFamily="34" charset="0"/>
                <a:ea typeface="+mj-ea"/>
              </a:rPr>
              <a:t>IEnumerator</a:t>
            </a: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 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구현은 매우 복잡합니다</a:t>
            </a: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:</a:t>
            </a:r>
          </a:p>
          <a:p>
            <a:pPr>
              <a:buNone/>
            </a:pPr>
            <a:endParaRPr lang="en-US" altLang="ko-KR" sz="2000" b="1" dirty="0">
              <a:latin typeface="MS Reference Sans Serif" panose="020B0604030504040204" pitchFamily="34" charset="0"/>
              <a:ea typeface="+mj-ea"/>
            </a:endParaRPr>
          </a:p>
          <a:p>
            <a:pPr>
              <a:buNone/>
            </a:pPr>
            <a:r>
              <a:rPr lang="en-US" altLang="ko-KR" sz="1600" b="1" dirty="0">
                <a:latin typeface="MS Reference Sans Serif" panose="020B0604030504040204" pitchFamily="34" charset="0"/>
                <a:ea typeface="+mj-ea"/>
              </a:rPr>
              <a:t>public </a:t>
            </a:r>
            <a:r>
              <a:rPr lang="en-US" altLang="ko-KR" sz="1600" b="1" dirty="0" err="1">
                <a:latin typeface="MS Reference Sans Serif" panose="020B0604030504040204" pitchFamily="34" charset="0"/>
                <a:ea typeface="+mj-ea"/>
              </a:rPr>
              <a:t>IEnumerator</a:t>
            </a:r>
            <a:r>
              <a:rPr lang="en-US" altLang="ko-KR" sz="1600" b="1" dirty="0">
                <a:latin typeface="MS Reference Sans Serif" panose="020B0604030504040204" pitchFamily="34" charset="0"/>
                <a:ea typeface="+mj-ea"/>
              </a:rPr>
              <a:t> </a:t>
            </a:r>
            <a:r>
              <a:rPr lang="en-US" altLang="ko-KR" sz="1600" b="1" dirty="0" err="1">
                <a:latin typeface="MS Reference Sans Serif" panose="020B0604030504040204" pitchFamily="34" charset="0"/>
                <a:ea typeface="+mj-ea"/>
              </a:rPr>
              <a:t>GetEnumerator</a:t>
            </a:r>
            <a:r>
              <a:rPr lang="en-US" altLang="ko-KR" sz="1600" b="1" dirty="0">
                <a:latin typeface="MS Reference Sans Serif" panose="020B0604030504040204" pitchFamily="34" charset="0"/>
                <a:ea typeface="+mj-ea"/>
              </a:rPr>
              <a:t>()</a:t>
            </a:r>
          </a:p>
          <a:p>
            <a:pPr>
              <a:buNone/>
            </a:pPr>
            <a:r>
              <a:rPr lang="en-US" altLang="ko-KR" sz="1600" b="1" dirty="0">
                <a:latin typeface="MS Reference Sans Serif" panose="020B0604030504040204" pitchFamily="34" charset="0"/>
                <a:ea typeface="+mj-ea"/>
              </a:rPr>
              <a:t>{</a:t>
            </a:r>
          </a:p>
          <a:p>
            <a:pPr>
              <a:buNone/>
            </a:pPr>
            <a:r>
              <a:rPr lang="en-US" altLang="ko-KR" sz="1600" b="1" dirty="0">
                <a:latin typeface="MS Reference Sans Serif" panose="020B0604030504040204" pitchFamily="34" charset="0"/>
                <a:ea typeface="+mj-ea"/>
              </a:rPr>
              <a:t>    int index = -1;</a:t>
            </a:r>
          </a:p>
          <a:p>
            <a:pPr>
              <a:buNone/>
            </a:pPr>
            <a:r>
              <a:rPr lang="en-US" altLang="ko-KR" sz="1600" b="1" dirty="0">
                <a:latin typeface="MS Reference Sans Serif" panose="020B0604030504040204" pitchFamily="34" charset="0"/>
                <a:ea typeface="+mj-ea"/>
              </a:rPr>
              <a:t>    while (index &lt; </a:t>
            </a:r>
            <a:r>
              <a:rPr lang="en-US" altLang="ko-KR" sz="1600" b="1" dirty="0" err="1">
                <a:latin typeface="MS Reference Sans Serif" panose="020B0604030504040204" pitchFamily="34" charset="0"/>
                <a:ea typeface="+mj-ea"/>
              </a:rPr>
              <a:t>numbers.Length</a:t>
            </a:r>
            <a:r>
              <a:rPr lang="en-US" altLang="ko-KR" sz="1600" b="1" dirty="0">
                <a:latin typeface="MS Reference Sans Serif" panose="020B0604030504040204" pitchFamily="34" charset="0"/>
                <a:ea typeface="+mj-ea"/>
              </a:rPr>
              <a:t> - 1)</a:t>
            </a:r>
          </a:p>
          <a:p>
            <a:pPr>
              <a:buNone/>
            </a:pPr>
            <a:r>
              <a:rPr lang="en-US" altLang="ko-KR" sz="1600" b="1" dirty="0">
                <a:latin typeface="MS Reference Sans Serif" panose="020B0604030504040204" pitchFamily="34" charset="0"/>
                <a:ea typeface="+mj-ea"/>
              </a:rPr>
              <a:t>    {</a:t>
            </a:r>
          </a:p>
          <a:p>
            <a:pPr>
              <a:buNone/>
            </a:pPr>
            <a:r>
              <a:rPr lang="en-US" altLang="ko-KR" sz="1600" b="1" dirty="0">
                <a:latin typeface="MS Reference Sans Serif" panose="020B0604030504040204" pitchFamily="34" charset="0"/>
                <a:ea typeface="+mj-ea"/>
              </a:rPr>
              <a:t>        index++;</a:t>
            </a:r>
          </a:p>
          <a:p>
            <a:pPr>
              <a:buNone/>
            </a:pPr>
            <a:r>
              <a:rPr lang="en-US" altLang="ko-KR" sz="1600" b="1" dirty="0">
                <a:latin typeface="MS Reference Sans Serif" panose="020B0604030504040204" pitchFamily="34" charset="0"/>
                <a:ea typeface="+mj-ea"/>
              </a:rPr>
              <a:t>        yield return numbers[index];</a:t>
            </a:r>
          </a:p>
          <a:p>
            <a:pPr>
              <a:buNone/>
            </a:pPr>
            <a:r>
              <a:rPr lang="en-US" altLang="ko-KR" sz="1600" b="1" dirty="0">
                <a:latin typeface="MS Reference Sans Serif" panose="020B0604030504040204" pitchFamily="34" charset="0"/>
                <a:ea typeface="+mj-ea"/>
              </a:rPr>
              <a:t>    }</a:t>
            </a:r>
          </a:p>
          <a:p>
            <a:pPr>
              <a:buNone/>
            </a:pPr>
            <a:r>
              <a:rPr lang="en-US" altLang="ko-KR" sz="1600" b="1" dirty="0">
                <a:latin typeface="MS Reference Sans Serif" panose="020B0604030504040204" pitchFamily="34" charset="0"/>
                <a:ea typeface="+mj-ea"/>
              </a:rPr>
              <a:t>}</a:t>
            </a:r>
          </a:p>
          <a:p>
            <a:pPr>
              <a:buNone/>
            </a:pPr>
            <a:endParaRPr lang="en-US" altLang="ko-KR" sz="2000" b="1" dirty="0">
              <a:latin typeface="MS Reference Sans Serif" panose="020B0604030504040204" pitchFamily="34" charset="0"/>
              <a:ea typeface="+mj-ea"/>
            </a:endParaRPr>
          </a:p>
          <a:p>
            <a:pPr>
              <a:buNone/>
            </a:pPr>
            <a:endParaRPr lang="en-US" altLang="ko-KR" sz="2000" b="1" dirty="0">
              <a:latin typeface="MS Reference Sans Serif" panose="020B0604030504040204" pitchFamily="34" charset="0"/>
              <a:ea typeface="+mj-ea"/>
            </a:endParaRPr>
          </a:p>
          <a:p>
            <a:pPr>
              <a:buNone/>
            </a:pP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→ yield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는 이 과정을 자동 생성해줍니다</a:t>
            </a: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882026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7AC1D-52A4-05AD-D48D-B4CD4DEC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0D74E-6C05-E5E0-1EA1-29B384F6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CB8882E-938B-E8C3-9F99-5EBC67164DCD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BF029DC-1C99-4888-3F0D-5152832A866F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8426454-6C4E-CF41-9903-F0FA74F4C05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Yield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FDDCB4B-3CD4-C70E-6D50-2295EA927BCF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05628DC-5C2A-1159-A416-E696398CE8C8}"/>
              </a:ext>
            </a:extLst>
          </p:cNvPr>
          <p:cNvSpPr txBox="1"/>
          <p:nvPr/>
        </p:nvSpPr>
        <p:spPr>
          <a:xfrm>
            <a:off x="198408" y="1723888"/>
            <a:ext cx="8747184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MS Reference Sans Serif" panose="020B0604030504040204" pitchFamily="34" charset="0"/>
                <a:ea typeface="+mj-ea"/>
              </a:rPr>
              <a:t>C# </a:t>
            </a:r>
            <a:r>
              <a:rPr lang="ko-KR" altLang="en-US" sz="2400" b="1" dirty="0">
                <a:latin typeface="MS Reference Sans Serif" panose="020B0604030504040204" pitchFamily="34" charset="0"/>
                <a:ea typeface="+mj-ea"/>
              </a:rPr>
              <a:t>컴파일러는 </a:t>
            </a:r>
            <a:r>
              <a:rPr lang="en-US" altLang="ko-KR" sz="2400" b="1" dirty="0">
                <a:latin typeface="MS Reference Sans Serif" panose="020B0604030504040204" pitchFamily="34" charset="0"/>
                <a:ea typeface="+mj-ea"/>
              </a:rPr>
              <a:t>yield return</a:t>
            </a:r>
            <a:r>
              <a:rPr lang="ko-KR" altLang="en-US" sz="2400" b="1" dirty="0">
                <a:latin typeface="MS Reference Sans Serif" panose="020B0604030504040204" pitchFamily="34" charset="0"/>
                <a:ea typeface="+mj-ea"/>
              </a:rPr>
              <a:t>이 들어 있는 메서드를 보면</a:t>
            </a:r>
            <a:br>
              <a:rPr lang="ko-KR" altLang="en-US" sz="2400" b="1" dirty="0">
                <a:latin typeface="MS Reference Sans Serif" panose="020B0604030504040204" pitchFamily="34" charset="0"/>
                <a:ea typeface="+mj-ea"/>
              </a:rPr>
            </a:br>
            <a:r>
              <a:rPr lang="ko-KR" altLang="en-US" sz="2400" b="1" dirty="0">
                <a:latin typeface="MS Reference Sans Serif" panose="020B0604030504040204" pitchFamily="34" charset="0"/>
                <a:ea typeface="+mj-ea"/>
              </a:rPr>
              <a:t>자동으로 상태 머신</a:t>
            </a:r>
            <a:r>
              <a:rPr lang="en-US" altLang="ko-KR" sz="2400" b="1" dirty="0">
                <a:latin typeface="MS Reference Sans Serif" panose="020B0604030504040204" pitchFamily="34" charset="0"/>
                <a:ea typeface="+mj-ea"/>
              </a:rPr>
              <a:t>(State Machine)</a:t>
            </a:r>
            <a:r>
              <a:rPr lang="ko-KR" altLang="en-US" sz="2400" b="1" dirty="0">
                <a:latin typeface="MS Reference Sans Serif" panose="020B0604030504040204" pitchFamily="34" charset="0"/>
                <a:ea typeface="+mj-ea"/>
              </a:rPr>
              <a:t> 형태의 클래스를 생성합니다</a:t>
            </a:r>
            <a:r>
              <a:rPr lang="en-US" altLang="ko-KR" sz="2400" b="1" dirty="0">
                <a:latin typeface="MS Reference Sans Serif" panose="020B0604030504040204" pitchFamily="34" charset="0"/>
                <a:ea typeface="+mj-ea"/>
              </a:rPr>
              <a:t>. 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덕분에 개발자가 </a:t>
            </a:r>
            <a:r>
              <a:rPr lang="en-US" altLang="ko-KR" sz="2400" b="1" dirty="0" err="1">
                <a:latin typeface="MS Reference Sans Serif" panose="020B0604030504040204" pitchFamily="34" charset="0"/>
              </a:rPr>
              <a:t>IEnumerator</a:t>
            </a:r>
            <a:r>
              <a:rPr lang="ko-KR" altLang="en-US" sz="2400" b="1" dirty="0">
                <a:latin typeface="MS Reference Sans Serif" panose="020B0604030504040204" pitchFamily="34" charset="0"/>
              </a:rPr>
              <a:t> 인터페이스를 직접 구현할 필요가 없습니다</a:t>
            </a:r>
            <a:r>
              <a:rPr lang="en-US" altLang="ko-KR" sz="2400" b="1" dirty="0">
                <a:latin typeface="MS Reference Sans Serif" panose="020B0604030504040204" pitchFamily="34" charset="0"/>
              </a:rPr>
              <a:t>.</a:t>
            </a:r>
          </a:p>
          <a:p>
            <a:pPr>
              <a:buNone/>
            </a:pPr>
            <a:br>
              <a:rPr lang="en-US" altLang="ko-KR" sz="2400" b="1" dirty="0">
                <a:latin typeface="MS Reference Sans Serif" panose="020B0604030504040204" pitchFamily="34" charset="0"/>
                <a:ea typeface="+mj-ea"/>
              </a:rPr>
            </a:br>
            <a:r>
              <a:rPr lang="ko-KR" altLang="en-US" sz="2400" b="1" dirty="0">
                <a:latin typeface="MS Reference Sans Serif" panose="020B0604030504040204" pitchFamily="34" charset="0"/>
                <a:ea typeface="+mj-ea"/>
              </a:rPr>
              <a:t>즉</a:t>
            </a:r>
            <a:r>
              <a:rPr lang="en-US" altLang="ko-KR" sz="2400" b="1" dirty="0">
                <a:latin typeface="MS Reference Sans Serif" panose="020B0604030504040204" pitchFamily="34" charset="0"/>
                <a:ea typeface="+mj-ea"/>
              </a:rPr>
              <a:t>, </a:t>
            </a:r>
            <a:r>
              <a:rPr lang="en-US" altLang="ko-KR" sz="2400" b="1" dirty="0" err="1">
                <a:latin typeface="MS Reference Sans Serif" panose="020B0604030504040204" pitchFamily="34" charset="0"/>
                <a:ea typeface="+mj-ea"/>
              </a:rPr>
              <a:t>GetEnumerator</a:t>
            </a:r>
            <a:r>
              <a:rPr lang="en-US" altLang="ko-KR" sz="2400" b="1" dirty="0">
                <a:latin typeface="MS Reference Sans Serif" panose="020B0604030504040204" pitchFamily="34" charset="0"/>
                <a:ea typeface="+mj-ea"/>
              </a:rPr>
              <a:t>()</a:t>
            </a:r>
            <a:r>
              <a:rPr lang="ko-KR" altLang="en-US" sz="2400" b="1" dirty="0">
                <a:latin typeface="MS Reference Sans Serif" panose="020B0604030504040204" pitchFamily="34" charset="0"/>
                <a:ea typeface="+mj-ea"/>
              </a:rPr>
              <a:t> 안에서</a:t>
            </a:r>
            <a:r>
              <a:rPr lang="en-US" altLang="ko-KR" sz="2400" b="1" dirty="0">
                <a:latin typeface="MS Reference Sans Serif" panose="020B0604030504040204" pitchFamily="34" charset="0"/>
                <a:ea typeface="+mj-ea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yield return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은 내부적으로 </a:t>
            </a:r>
            <a:r>
              <a:rPr lang="en-US" altLang="ko-KR" sz="2000" b="1" dirty="0" err="1">
                <a:latin typeface="MS Reference Sans Serif" panose="020B0604030504040204" pitchFamily="34" charset="0"/>
                <a:ea typeface="+mj-ea"/>
              </a:rPr>
              <a:t>MoveNext</a:t>
            </a: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()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 → </a:t>
            </a: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Current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 반환을 자동 구현</a:t>
            </a:r>
            <a:endParaRPr lang="en-US" altLang="ko-KR" sz="2000" b="1" dirty="0">
              <a:latin typeface="MS Reference Sans Serif" panose="020B0604030504040204" pitchFamily="34" charset="0"/>
              <a:ea typeface="+mj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MS Reference Sans Serif" panose="020B0604030504040204" pitchFamily="34" charset="0"/>
              </a:rPr>
              <a:t>yield break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는 </a:t>
            </a:r>
            <a:r>
              <a:rPr lang="en-US" altLang="ko-KR" sz="2000" b="1" dirty="0" err="1">
                <a:latin typeface="MS Reference Sans Serif" panose="020B0604030504040204" pitchFamily="34" charset="0"/>
              </a:rPr>
              <a:t>MoveNext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()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가 </a:t>
            </a:r>
            <a:r>
              <a:rPr lang="en-US" altLang="ko-KR" sz="2000" b="1" dirty="0">
                <a:latin typeface="MS Reference Sans Serif" panose="020B0604030504040204" pitchFamily="34" charset="0"/>
              </a:rPr>
              <a:t>false</a:t>
            </a:r>
            <a:r>
              <a:rPr lang="ko-KR" altLang="en-US" sz="2000" b="1" dirty="0">
                <a:latin typeface="MS Reference Sans Serif" panose="020B0604030504040204" pitchFamily="34" charset="0"/>
              </a:rPr>
              <a:t>를 반환하도록 처리</a:t>
            </a:r>
          </a:p>
          <a:p>
            <a:pPr>
              <a:buFont typeface="Arial" panose="020B0604020202020204" pitchFamily="34" charset="0"/>
              <a:buChar char="•"/>
            </a:pPr>
            <a:endParaRPr lang="ko-KR" altLang="en-US" sz="2000" b="1" dirty="0">
              <a:latin typeface="MS Reference Sans Serif" panose="020B0604030504040204" pitchFamily="34" charset="0"/>
              <a:ea typeface="+mj-ea"/>
            </a:endParaRPr>
          </a:p>
          <a:p>
            <a:r>
              <a:rPr lang="en-US" altLang="ko-KR" sz="1400" b="1" dirty="0">
                <a:latin typeface="MS Reference Sans Serif" panose="020B0604030504040204" pitchFamily="34" charset="0"/>
                <a:ea typeface="+mj-ea"/>
              </a:rPr>
              <a:t>yield return numbers[0];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  <a:ea typeface="+mj-ea"/>
              </a:rPr>
              <a:t>yield return numbers[1];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  <a:ea typeface="+mj-ea"/>
              </a:rPr>
              <a:t>yield return numbers[2];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  <a:ea typeface="+mj-ea"/>
              </a:rPr>
              <a:t>yield break;</a:t>
            </a:r>
          </a:p>
          <a:p>
            <a:r>
              <a:rPr lang="en-US" altLang="ko-KR" sz="1400" b="1" dirty="0">
                <a:latin typeface="MS Reference Sans Serif" panose="020B0604030504040204" pitchFamily="34" charset="0"/>
                <a:ea typeface="+mj-ea"/>
              </a:rPr>
              <a:t>yield return numbers[3];</a:t>
            </a:r>
            <a:endParaRPr lang="en-US" altLang="ko-KR" sz="1600" b="1" dirty="0">
              <a:latin typeface="MS Reference Sans Serif" panose="020B060403050404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0450666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7AC1D-52A4-05AD-D48D-B4CD4DEC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0D74E-6C05-E5E0-1EA1-29B384F6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CB8882E-938B-E8C3-9F99-5EBC67164DCD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BF029DC-1C99-4888-3F0D-5152832A866F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8426454-6C4E-CF41-9903-F0FA74F4C05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Yield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FDDCB4B-3CD4-C70E-6D50-2295EA927BCF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05628DC-5C2A-1159-A416-E696398CE8C8}"/>
              </a:ext>
            </a:extLst>
          </p:cNvPr>
          <p:cNvSpPr txBox="1"/>
          <p:nvPr/>
        </p:nvSpPr>
        <p:spPr>
          <a:xfrm>
            <a:off x="198408" y="1723888"/>
            <a:ext cx="874718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  <a:ea typeface="+mj-ea"/>
              </a:rPr>
              <a:t>이 동작은 다음과 같습니다</a:t>
            </a:r>
            <a:r>
              <a:rPr lang="en-US" altLang="ko-KR" sz="2400" b="1" dirty="0">
                <a:latin typeface="MS Reference Sans Serif" panose="020B0604030504040204" pitchFamily="34" charset="0"/>
                <a:ea typeface="+mj-ea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2000" b="1" dirty="0">
              <a:latin typeface="MS Reference Sans Serif" panose="020B0604030504040204" pitchFamily="34" charset="0"/>
              <a:ea typeface="+mj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foreach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가 실행되면 → </a:t>
            </a:r>
            <a:r>
              <a:rPr lang="en-US" altLang="ko-KR" sz="2000" b="1" dirty="0" err="1">
                <a:latin typeface="MS Reference Sans Serif" panose="020B0604030504040204" pitchFamily="34" charset="0"/>
                <a:ea typeface="+mj-ea"/>
              </a:rPr>
              <a:t>GetEnumerator</a:t>
            </a: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() 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호출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yield return numbers[0] → 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첫 번째 값 반환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yield return numbers[1] → 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두 번째 값 반환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yield return numbers[2] → 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세 번째 값 반환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yield break → 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반복 종료 </a:t>
            </a: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(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더 이상 값 반환 안 함</a:t>
            </a: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아래 코드는 실행되지 않음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yield return numbers[3]; (</a:t>
            </a:r>
            <a:r>
              <a:rPr lang="ko-KR" altLang="en-US" sz="2000" b="1" dirty="0">
                <a:latin typeface="MS Reference Sans Serif" panose="020B0604030504040204" pitchFamily="34" charset="0"/>
                <a:ea typeface="+mj-ea"/>
              </a:rPr>
              <a:t>절대 실행되지 않음</a:t>
            </a:r>
            <a:r>
              <a:rPr lang="en-US" altLang="ko-KR" sz="2000" b="1" dirty="0">
                <a:latin typeface="MS Reference Sans Serif" panose="020B0604030504040204" pitchFamily="34" charset="0"/>
                <a:ea typeface="+mj-ea"/>
              </a:rPr>
              <a:t>)</a:t>
            </a:r>
            <a:endParaRPr lang="en-US" altLang="ko-KR" sz="2400" b="1" dirty="0">
              <a:latin typeface="MS Reference Sans Serif" panose="020B060403050404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7887887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7AC1D-52A4-05AD-D48D-B4CD4DEC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0D74E-6C05-E5E0-1EA1-29B384F6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CB8882E-938B-E8C3-9F99-5EBC67164DCD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BF029DC-1C99-4888-3F0D-5152832A866F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8426454-6C4E-CF41-9903-F0FA74F4C05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Yield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FDDCB4B-3CD4-C70E-6D50-2295EA927BCF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365532C-D646-DC31-1FC0-5C65029A826E}"/>
              </a:ext>
            </a:extLst>
          </p:cNvPr>
          <p:cNvSpPr txBox="1"/>
          <p:nvPr/>
        </p:nvSpPr>
        <p:spPr>
          <a:xfrm>
            <a:off x="224290" y="1526876"/>
            <a:ext cx="858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</a:t>
            </a:r>
            <a:endParaRPr lang="en-US" altLang="ko-KR" sz="2000" b="1" dirty="0">
              <a:latin typeface="MS Reference Sans Serif" panose="020B060403050404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61E51B-844E-FEED-6ADA-9B59BD664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49" y="2346845"/>
            <a:ext cx="5161550" cy="338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04669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7AC1D-52A4-05AD-D48D-B4CD4DEC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0D74E-6C05-E5E0-1EA1-29B384F6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CB8882E-938B-E8C3-9F99-5EBC67164DCD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BF029DC-1C99-4888-3F0D-5152832A866F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8426454-6C4E-CF41-9903-F0FA74F4C05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Yield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FDDCB4B-3CD4-C70E-6D50-2295EA927BCF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365532C-D646-DC31-1FC0-5C65029A826E}"/>
              </a:ext>
            </a:extLst>
          </p:cNvPr>
          <p:cNvSpPr txBox="1"/>
          <p:nvPr/>
        </p:nvSpPr>
        <p:spPr>
          <a:xfrm>
            <a:off x="224290" y="1526876"/>
            <a:ext cx="858448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MS Reference Sans Serif" panose="020B0604030504040204" pitchFamily="34" charset="0"/>
              </a:rPr>
              <a:t>using System;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using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System.Collections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;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namespace Yield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class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MyEnumerator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int[] numbers = { 1, 2, 3, 4 };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public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IEnumerator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GetEnumerator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yield return numbers[0];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yield return numbers[1];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yield return numbers[2];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yield break;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yield return numbers[3];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}</a:t>
            </a:r>
          </a:p>
          <a:p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200" b="1" dirty="0">
              <a:latin typeface="MS Reference Sans Serif" panose="020B0604030504040204" pitchFamily="34" charset="0"/>
            </a:endParaRP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var obj = new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MyEnumerator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foreach (int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 in obj)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(</a:t>
            </a:r>
            <a:r>
              <a:rPr lang="en-US" altLang="ko-KR" sz="12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200" b="1" dirty="0">
                <a:latin typeface="MS Reference Sans Serif" panose="020B0604030504040204" pitchFamily="34" charset="0"/>
              </a:rPr>
              <a:t>);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200" b="1" dirty="0">
                <a:latin typeface="MS Reference Sans Serif" panose="020B0604030504040204" pitchFamily="34" charset="0"/>
              </a:rPr>
              <a:t>}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0A37DED-524E-638D-5496-63935098F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278" y="3339757"/>
            <a:ext cx="800212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13898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7AC1D-52A4-05AD-D48D-B4CD4DEC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0D74E-6C05-E5E0-1EA1-29B384F6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CB8882E-938B-E8C3-9F99-5EBC67164DCD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BF029DC-1C99-4888-3F0D-5152832A866F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8426454-6C4E-CF41-9903-F0FA74F4C05C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Yield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FDDCB4B-3CD4-C70E-6D50-2295EA927BCF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21A6733-1EC7-8EF7-13F2-F6DC4DBB2739}"/>
              </a:ext>
            </a:extLst>
          </p:cNvPr>
          <p:cNvSpPr txBox="1"/>
          <p:nvPr/>
        </p:nvSpPr>
        <p:spPr>
          <a:xfrm>
            <a:off x="258792" y="1958953"/>
            <a:ext cx="83859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MS Reference Sans Serif" panose="020B0604030504040204" pitchFamily="34" charset="0"/>
              </a:rPr>
              <a:t>실제 실행 순서</a:t>
            </a:r>
          </a:p>
          <a:p>
            <a:pPr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1️⃣ foreach → </a:t>
            </a:r>
            <a:r>
              <a:rPr lang="en-US" altLang="ko-KR" dirty="0" err="1">
                <a:latin typeface="MS Reference Sans Serif" panose="020B0604030504040204" pitchFamily="34" charset="0"/>
              </a:rPr>
              <a:t>GetEnumerator</a:t>
            </a:r>
            <a:r>
              <a:rPr lang="en-US" altLang="ko-KR" dirty="0">
                <a:latin typeface="MS Reference Sans Serif" panose="020B0604030504040204" pitchFamily="34" charset="0"/>
              </a:rPr>
              <a:t>() </a:t>
            </a:r>
            <a:r>
              <a:rPr lang="ko-KR" altLang="en-US" dirty="0">
                <a:latin typeface="MS Reference Sans Serif" panose="020B0604030504040204" pitchFamily="34" charset="0"/>
              </a:rPr>
              <a:t>호출</a:t>
            </a:r>
            <a:br>
              <a:rPr lang="ko-KR" altLang="en-US" dirty="0">
                <a:latin typeface="MS Reference Sans Serif" panose="020B0604030504040204" pitchFamily="34" charset="0"/>
              </a:rPr>
            </a:br>
            <a:r>
              <a:rPr lang="en-US" altLang="ko-KR" dirty="0">
                <a:latin typeface="MS Reference Sans Serif" panose="020B0604030504040204" pitchFamily="34" charset="0"/>
              </a:rPr>
              <a:t>2️⃣ yield return numbers[0]; → 1 </a:t>
            </a:r>
            <a:r>
              <a:rPr lang="ko-KR" altLang="en-US" dirty="0">
                <a:latin typeface="MS Reference Sans Serif" panose="020B0604030504040204" pitchFamily="34" charset="0"/>
              </a:rPr>
              <a:t>반환</a:t>
            </a:r>
            <a:br>
              <a:rPr lang="ko-KR" altLang="en-US" dirty="0">
                <a:latin typeface="MS Reference Sans Serif" panose="020B0604030504040204" pitchFamily="34" charset="0"/>
              </a:rPr>
            </a:br>
            <a:r>
              <a:rPr lang="ko-KR" altLang="en-US" dirty="0">
                <a:latin typeface="MS Reference Sans Serif" panose="020B0604030504040204" pitchFamily="34" charset="0"/>
              </a:rPr>
              <a:t>→ </a:t>
            </a:r>
            <a:r>
              <a:rPr lang="en-US" altLang="ko-KR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dirty="0">
                <a:latin typeface="MS Reference Sans Serif" panose="020B0604030504040204" pitchFamily="34" charset="0"/>
              </a:rPr>
              <a:t>(1) </a:t>
            </a:r>
            <a:r>
              <a:rPr lang="ko-KR" altLang="en-US" dirty="0">
                <a:latin typeface="MS Reference Sans Serif" panose="020B0604030504040204" pitchFamily="34" charset="0"/>
              </a:rPr>
              <a:t>출력</a:t>
            </a:r>
            <a:br>
              <a:rPr lang="ko-KR" altLang="en-US" dirty="0">
                <a:latin typeface="MS Reference Sans Serif" panose="020B0604030504040204" pitchFamily="34" charset="0"/>
              </a:rPr>
            </a:br>
            <a:r>
              <a:rPr lang="en-US" altLang="ko-KR" dirty="0">
                <a:latin typeface="MS Reference Sans Serif" panose="020B0604030504040204" pitchFamily="34" charset="0"/>
              </a:rPr>
              <a:t>3️⃣ </a:t>
            </a:r>
            <a:r>
              <a:rPr lang="ko-KR" altLang="en-US" dirty="0">
                <a:latin typeface="MS Reference Sans Serif" panose="020B0604030504040204" pitchFamily="34" charset="0"/>
              </a:rPr>
              <a:t>다음 반복에서 </a:t>
            </a:r>
            <a:r>
              <a:rPr lang="en-US" altLang="ko-KR" dirty="0">
                <a:latin typeface="MS Reference Sans Serif" panose="020B0604030504040204" pitchFamily="34" charset="0"/>
              </a:rPr>
              <a:t>yield return numbers[1]; → 2 </a:t>
            </a:r>
            <a:r>
              <a:rPr lang="ko-KR" altLang="en-US" dirty="0">
                <a:latin typeface="MS Reference Sans Serif" panose="020B0604030504040204" pitchFamily="34" charset="0"/>
              </a:rPr>
              <a:t>반환</a:t>
            </a:r>
            <a:br>
              <a:rPr lang="ko-KR" altLang="en-US" dirty="0">
                <a:latin typeface="MS Reference Sans Serif" panose="020B0604030504040204" pitchFamily="34" charset="0"/>
              </a:rPr>
            </a:br>
            <a:r>
              <a:rPr lang="ko-KR" altLang="en-US" dirty="0">
                <a:latin typeface="MS Reference Sans Serif" panose="020B0604030504040204" pitchFamily="34" charset="0"/>
              </a:rPr>
              <a:t>→ </a:t>
            </a:r>
            <a:r>
              <a:rPr lang="en-US" altLang="ko-KR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dirty="0">
                <a:latin typeface="MS Reference Sans Serif" panose="020B0604030504040204" pitchFamily="34" charset="0"/>
              </a:rPr>
              <a:t>(2) </a:t>
            </a:r>
            <a:r>
              <a:rPr lang="ko-KR" altLang="en-US" dirty="0">
                <a:latin typeface="MS Reference Sans Serif" panose="020B0604030504040204" pitchFamily="34" charset="0"/>
              </a:rPr>
              <a:t>출력</a:t>
            </a:r>
            <a:br>
              <a:rPr lang="ko-KR" altLang="en-US" dirty="0">
                <a:latin typeface="MS Reference Sans Serif" panose="020B0604030504040204" pitchFamily="34" charset="0"/>
              </a:rPr>
            </a:br>
            <a:r>
              <a:rPr lang="en-US" altLang="ko-KR" dirty="0">
                <a:latin typeface="MS Reference Sans Serif" panose="020B0604030504040204" pitchFamily="34" charset="0"/>
              </a:rPr>
              <a:t>4️⃣ </a:t>
            </a:r>
            <a:r>
              <a:rPr lang="ko-KR" altLang="en-US" dirty="0">
                <a:latin typeface="MS Reference Sans Serif" panose="020B0604030504040204" pitchFamily="34" charset="0"/>
              </a:rPr>
              <a:t>다음 반복에서 </a:t>
            </a:r>
            <a:r>
              <a:rPr lang="en-US" altLang="ko-KR" dirty="0">
                <a:latin typeface="MS Reference Sans Serif" panose="020B0604030504040204" pitchFamily="34" charset="0"/>
              </a:rPr>
              <a:t>yield return numbers[2]; → 3 </a:t>
            </a:r>
            <a:r>
              <a:rPr lang="ko-KR" altLang="en-US" dirty="0">
                <a:latin typeface="MS Reference Sans Serif" panose="020B0604030504040204" pitchFamily="34" charset="0"/>
              </a:rPr>
              <a:t>반환</a:t>
            </a:r>
            <a:br>
              <a:rPr lang="ko-KR" altLang="en-US" dirty="0">
                <a:latin typeface="MS Reference Sans Serif" panose="020B0604030504040204" pitchFamily="34" charset="0"/>
              </a:rPr>
            </a:br>
            <a:r>
              <a:rPr lang="ko-KR" altLang="en-US" dirty="0">
                <a:latin typeface="MS Reference Sans Serif" panose="020B0604030504040204" pitchFamily="34" charset="0"/>
              </a:rPr>
              <a:t>→ </a:t>
            </a:r>
            <a:r>
              <a:rPr lang="en-US" altLang="ko-KR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dirty="0">
                <a:latin typeface="MS Reference Sans Serif" panose="020B0604030504040204" pitchFamily="34" charset="0"/>
              </a:rPr>
              <a:t>(3) </a:t>
            </a:r>
            <a:r>
              <a:rPr lang="ko-KR" altLang="en-US" dirty="0">
                <a:latin typeface="MS Reference Sans Serif" panose="020B0604030504040204" pitchFamily="34" charset="0"/>
              </a:rPr>
              <a:t>출력</a:t>
            </a:r>
            <a:br>
              <a:rPr lang="ko-KR" altLang="en-US" dirty="0">
                <a:latin typeface="MS Reference Sans Serif" panose="020B0604030504040204" pitchFamily="34" charset="0"/>
              </a:rPr>
            </a:br>
            <a:r>
              <a:rPr lang="en-US" altLang="ko-KR" dirty="0">
                <a:latin typeface="MS Reference Sans Serif" panose="020B0604030504040204" pitchFamily="34" charset="0"/>
              </a:rPr>
              <a:t>5️⃣ yield break; → </a:t>
            </a:r>
            <a:r>
              <a:rPr lang="ko-KR" altLang="en-US" dirty="0">
                <a:latin typeface="MS Reference Sans Serif" panose="020B0604030504040204" pitchFamily="34" charset="0"/>
              </a:rPr>
              <a:t>즉시 종료</a:t>
            </a:r>
            <a:r>
              <a:rPr lang="en-US" altLang="ko-KR" dirty="0">
                <a:latin typeface="MS Reference Sans Serif" panose="020B0604030504040204" pitchFamily="34" charset="0"/>
              </a:rPr>
              <a:t>!</a:t>
            </a:r>
            <a:br>
              <a:rPr lang="ko-KR" altLang="en-US" dirty="0">
                <a:latin typeface="MS Reference Sans Serif" panose="020B0604030504040204" pitchFamily="34" charset="0"/>
              </a:rPr>
            </a:br>
            <a:r>
              <a:rPr lang="ko-KR" altLang="en-US" dirty="0">
                <a:latin typeface="MS Reference Sans Serif" panose="020B0604030504040204" pitchFamily="34" charset="0"/>
              </a:rPr>
              <a:t>→ </a:t>
            </a:r>
            <a:r>
              <a:rPr lang="en-US" altLang="ko-KR" dirty="0">
                <a:latin typeface="MS Reference Sans Serif" panose="020B0604030504040204" pitchFamily="34" charset="0"/>
              </a:rPr>
              <a:t>yield return numbers[3];</a:t>
            </a:r>
            <a:r>
              <a:rPr lang="ko-KR" altLang="en-US" dirty="0">
                <a:latin typeface="MS Reference Sans Serif" panose="020B0604030504040204" pitchFamily="34" charset="0"/>
              </a:rPr>
              <a:t>은 실행되지 않음</a:t>
            </a:r>
          </a:p>
        </p:txBody>
      </p:sp>
    </p:spTree>
    <p:extLst>
      <p:ext uri="{BB962C8B-B14F-4D97-AF65-F5344CB8AC3E}">
        <p14:creationId xmlns:p14="http://schemas.microsoft.com/office/powerpoint/2010/main" val="73596923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44B5-0F88-26D6-4877-5EDA9D36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DD273-BA17-2CB9-D9C9-93574813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3F4D3B4-6F4A-96CA-C581-D0413E63B6BF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2D7CE97-5FAE-0611-AD50-6D8FF93A596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B9BF8DE-B272-A7C3-DAB4-4766026A94B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Enumerable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B8D15D1-F5CB-15DC-4A59-210BE2D4806C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EECA454-2BBB-92FD-91B7-3C040CA9A4AA}"/>
              </a:ext>
            </a:extLst>
          </p:cNvPr>
          <p:cNvSpPr txBox="1"/>
          <p:nvPr/>
        </p:nvSpPr>
        <p:spPr>
          <a:xfrm>
            <a:off x="224290" y="1526876"/>
            <a:ext cx="858448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MS Reference Sans Serif" panose="020B0604030504040204" pitchFamily="34" charset="0"/>
              </a:rPr>
              <a:t>새 프로젝트 구성</a:t>
            </a:r>
            <a:endParaRPr lang="en-US" altLang="ko-KR" sz="2400" b="1" dirty="0">
              <a:latin typeface="MS Reference Sans Serif" panose="020B0604030504040204" pitchFamily="34" charset="0"/>
            </a:endParaRPr>
          </a:p>
          <a:p>
            <a:r>
              <a:rPr lang="en-US" altLang="ko-KR" b="1" dirty="0" err="1">
                <a:latin typeface="MS Reference Sans Serif" panose="020B0604030504040204" pitchFamily="34" charset="0"/>
              </a:rPr>
              <a:t>IEnumerable</a:t>
            </a:r>
            <a:r>
              <a:rPr lang="en-US" altLang="ko-KR" b="1" dirty="0">
                <a:latin typeface="MS Reference Sans Serif" panose="020B0604030504040204" pitchFamily="34" charset="0"/>
              </a:rPr>
              <a:t> + </a:t>
            </a:r>
            <a:r>
              <a:rPr lang="en-US" altLang="ko-KR" b="1" dirty="0" err="1">
                <a:latin typeface="MS Reference Sans Serif" panose="020B0604030504040204" pitchFamily="34" charset="0"/>
              </a:rPr>
              <a:t>IEnumerator</a:t>
            </a:r>
            <a:r>
              <a:rPr lang="en-US" altLang="ko-KR" b="1" dirty="0">
                <a:latin typeface="MS Reference Sans Serif" panose="020B0604030504040204" pitchFamily="34" charset="0"/>
              </a:rPr>
              <a:t> </a:t>
            </a:r>
            <a:r>
              <a:rPr lang="ko-KR" altLang="en-US" b="1" dirty="0">
                <a:latin typeface="MS Reference Sans Serif" panose="020B0604030504040204" pitchFamily="34" charset="0"/>
              </a:rPr>
              <a:t>인터페이스를 직접 구현</a:t>
            </a:r>
          </a:p>
          <a:p>
            <a:r>
              <a:rPr lang="en-US" altLang="ko-KR" b="1" dirty="0" err="1">
                <a:latin typeface="MS Reference Sans Serif" panose="020B0604030504040204" pitchFamily="34" charset="0"/>
              </a:rPr>
              <a:t>MyList</a:t>
            </a:r>
            <a:r>
              <a:rPr lang="en-US" altLang="ko-KR" b="1" dirty="0">
                <a:latin typeface="MS Reference Sans Serif" panose="020B0604030504040204" pitchFamily="34" charset="0"/>
              </a:rPr>
              <a:t> </a:t>
            </a:r>
            <a:r>
              <a:rPr lang="ko-KR" altLang="en-US" b="1" dirty="0">
                <a:latin typeface="MS Reference Sans Serif" panose="020B0604030504040204" pitchFamily="34" charset="0"/>
              </a:rPr>
              <a:t>객체를 배열처럼 접근</a:t>
            </a:r>
            <a:r>
              <a:rPr lang="en-US" altLang="ko-KR" b="1" dirty="0">
                <a:latin typeface="MS Reference Sans Serif" panose="020B0604030504040204" pitchFamily="34" charset="0"/>
              </a:rPr>
              <a:t>(list[</a:t>
            </a:r>
            <a:r>
              <a:rPr lang="en-US" altLang="ko-KR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b="1" dirty="0">
                <a:latin typeface="MS Reference Sans Serif" panose="020B0604030504040204" pitchFamily="34" charset="0"/>
              </a:rPr>
              <a:t>])</a:t>
            </a:r>
            <a:r>
              <a:rPr lang="ko-KR" altLang="en-US" b="1" dirty="0">
                <a:latin typeface="MS Reference Sans Serif" panose="020B0604030504040204" pitchFamily="34" charset="0"/>
              </a:rPr>
              <a:t>할 수 있고</a:t>
            </a:r>
            <a:r>
              <a:rPr lang="en-US" altLang="ko-KR" b="1" dirty="0">
                <a:latin typeface="MS Reference Sans Serif" panose="020B0604030504040204" pitchFamily="34" charset="0"/>
              </a:rPr>
              <a:t>,</a:t>
            </a:r>
            <a:r>
              <a:rPr lang="ko-KR" altLang="en-US" b="1" dirty="0">
                <a:latin typeface="MS Reference Sans Serif" panose="020B0604030504040204" pitchFamily="34" charset="0"/>
              </a:rPr>
              <a:t>동시에 </a:t>
            </a:r>
            <a:r>
              <a:rPr lang="en-US" altLang="ko-KR" b="1" dirty="0">
                <a:latin typeface="MS Reference Sans Serif" panose="020B0604030504040204" pitchFamily="34" charset="0"/>
              </a:rPr>
              <a:t>foreach </a:t>
            </a:r>
            <a:r>
              <a:rPr lang="ko-KR" altLang="en-US" b="1" dirty="0">
                <a:latin typeface="MS Reference Sans Serif" panose="020B0604030504040204" pitchFamily="34" charset="0"/>
              </a:rPr>
              <a:t>문으로 순회</a:t>
            </a:r>
            <a:r>
              <a:rPr lang="en-US" altLang="ko-KR" b="1" dirty="0">
                <a:latin typeface="MS Reference Sans Serif" panose="020B0604030504040204" pitchFamily="34" charset="0"/>
              </a:rPr>
              <a:t>(iteration) </a:t>
            </a:r>
            <a:r>
              <a:rPr lang="ko-KR" altLang="en-US" b="1" dirty="0">
                <a:latin typeface="MS Reference Sans Serif" panose="020B0604030504040204" pitchFamily="34" charset="0"/>
              </a:rPr>
              <a:t>할 수 있게 만든 구조</a:t>
            </a:r>
            <a:endParaRPr lang="en-US" altLang="ko-KR" b="1" dirty="0">
              <a:latin typeface="MS Reference Sans Serif" panose="020B060403050404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B7D46D7-1C9E-C8DC-E3D2-E8CE8725A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92" y="2960188"/>
            <a:ext cx="5677705" cy="368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0309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44B5-0F88-26D6-4877-5EDA9D36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DD273-BA17-2CB9-D9C9-93574813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3F4D3B4-6F4A-96CA-C581-D0413E63B6BF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2D7CE97-5FAE-0611-AD50-6D8FF93A596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B9BF8DE-B272-A7C3-DAB4-4766026A94B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Enumerable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B8D15D1-F5CB-15DC-4A59-210BE2D4806C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EECA454-2BBB-92FD-91B7-3C040CA9A4AA}"/>
              </a:ext>
            </a:extLst>
          </p:cNvPr>
          <p:cNvSpPr txBox="1"/>
          <p:nvPr/>
        </p:nvSpPr>
        <p:spPr>
          <a:xfrm>
            <a:off x="224290" y="1526876"/>
            <a:ext cx="858448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MS Reference Sans Serif" panose="020B0604030504040204" pitchFamily="34" charset="0"/>
              </a:rPr>
              <a:t>using System;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using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System.Collections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namespace Enumerable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class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MyList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: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IEnumerable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,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IEnumerator</a:t>
            </a:r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private int[] array;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int position = -1;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public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MyList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array = new int[3];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public int this[int index]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get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return array[index];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}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set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if (index &gt;=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Array.Resize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&lt;int&gt;(ref array, index + 1);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($"Array Resized : {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}");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}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array[index] = value;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</a:t>
            </a:r>
          </a:p>
        </p:txBody>
      </p: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9061DFB4-8C75-0FBF-2FDC-BC6334CFFCE3}"/>
              </a:ext>
            </a:extLst>
          </p:cNvPr>
          <p:cNvSpPr/>
          <p:nvPr/>
        </p:nvSpPr>
        <p:spPr>
          <a:xfrm>
            <a:off x="4572000" y="2310048"/>
            <a:ext cx="4347710" cy="674744"/>
          </a:xfrm>
          <a:prstGeom prst="wedgeRectCallout">
            <a:avLst>
              <a:gd name="adj1" fmla="val -53549"/>
              <a:gd name="adj2" fmla="val 209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내부 데이터 저장용 배열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초기 크기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3</a:t>
            </a:r>
          </a:p>
          <a:p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position = -1 →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아직 반복이 시작되지 않은 상태</a:t>
            </a:r>
          </a:p>
          <a:p>
            <a:b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</a:br>
            <a:endParaRPr lang="ko-KR" altLang="en-US" sz="1000" dirty="0">
              <a:solidFill>
                <a:schemeClr val="tx1"/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115A3797-F200-113F-E3C5-967FB5E6B5C0}"/>
              </a:ext>
            </a:extLst>
          </p:cNvPr>
          <p:cNvSpPr/>
          <p:nvPr/>
        </p:nvSpPr>
        <p:spPr>
          <a:xfrm>
            <a:off x="4572000" y="4845984"/>
            <a:ext cx="4347710" cy="674744"/>
          </a:xfrm>
          <a:prstGeom prst="wedgeRectCallout">
            <a:avLst>
              <a:gd name="adj1" fmla="val -53549"/>
              <a:gd name="adj2" fmla="val 209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list[</a:t>
            </a:r>
            <a:r>
              <a:rPr lang="en-US" altLang="ko-KR" sz="1000" dirty="0" err="1">
                <a:solidFill>
                  <a:schemeClr val="tx1"/>
                </a:solidFill>
                <a:latin typeface="MS Reference Sans Serif" panose="020B0604030504040204" pitchFamily="34" charset="0"/>
              </a:rPr>
              <a:t>i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] =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값 형태로 접근 가능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인덱스가 배열 길이를 초과하면 자동으로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Resize()</a:t>
            </a:r>
            <a:b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</a:b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→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배열 크기를 </a:t>
            </a:r>
            <a:r>
              <a:rPr lang="ko-KR" altLang="en-US" sz="1000" dirty="0" err="1">
                <a:solidFill>
                  <a:schemeClr val="tx1"/>
                </a:solidFill>
                <a:latin typeface="MS Reference Sans Serif" panose="020B0604030504040204" pitchFamily="34" charset="0"/>
              </a:rPr>
              <a:t>늘려줌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 즉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동적으로 커지는 배열 구조</a:t>
            </a:r>
          </a:p>
        </p:txBody>
      </p:sp>
    </p:spTree>
    <p:extLst>
      <p:ext uri="{BB962C8B-B14F-4D97-AF65-F5344CB8AC3E}">
        <p14:creationId xmlns:p14="http://schemas.microsoft.com/office/powerpoint/2010/main" val="288134696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44B5-0F88-26D6-4877-5EDA9D36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DD273-BA17-2CB9-D9C9-93574813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3F4D3B4-6F4A-96CA-C581-D0413E63B6BF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2D7CE97-5FAE-0611-AD50-6D8FF93A596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B9BF8DE-B272-A7C3-DAB4-4766026A94B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Enumerable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B8D15D1-F5CB-15DC-4A59-210BE2D4806C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EECA454-2BBB-92FD-91B7-3C040CA9A4AA}"/>
              </a:ext>
            </a:extLst>
          </p:cNvPr>
          <p:cNvSpPr txBox="1"/>
          <p:nvPr/>
        </p:nvSpPr>
        <p:spPr>
          <a:xfrm>
            <a:off x="224290" y="1526876"/>
            <a:ext cx="8584488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//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IEnumerator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멤버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public object Current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get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return array[position];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//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IEnumerator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멤버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public bool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MoveNext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if (position ==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- 1)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Reset();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return false;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}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position++;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return (position &lt;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array.Length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//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IEnumerator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멤버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public void Reset()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position = -1;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//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IEnumerable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1000" b="1" dirty="0">
                <a:latin typeface="MS Reference Sans Serif" panose="020B0604030504040204" pitchFamily="34" charset="0"/>
              </a:rPr>
              <a:t>멤버</a:t>
            </a:r>
          </a:p>
          <a:p>
            <a:r>
              <a:rPr lang="ko-KR" altLang="en-US" sz="1000" b="1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public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IEnumerator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GetEnumerator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return this;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}</a:t>
            </a:r>
          </a:p>
        </p:txBody>
      </p:sp>
      <p:sp>
        <p:nvSpPr>
          <p:cNvPr id="5" name="말풍선: 사각형 4">
            <a:extLst>
              <a:ext uri="{FF2B5EF4-FFF2-40B4-BE49-F238E27FC236}">
                <a16:creationId xmlns:a16="http://schemas.microsoft.com/office/drawing/2014/main" id="{4C532852-B0D2-505C-7221-BD532D797FF2}"/>
              </a:ext>
            </a:extLst>
          </p:cNvPr>
          <p:cNvSpPr/>
          <p:nvPr/>
        </p:nvSpPr>
        <p:spPr>
          <a:xfrm>
            <a:off x="4572000" y="4870368"/>
            <a:ext cx="4347710" cy="674744"/>
          </a:xfrm>
          <a:prstGeom prst="wedgeRectCallout">
            <a:avLst>
              <a:gd name="adj1" fmla="val -53549"/>
              <a:gd name="adj2" fmla="val 209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반복 상태를 처음으로 되돌림</a:t>
            </a:r>
            <a:b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</a:b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(foreach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가 다시 시작될 때 처음부터 돌 수 있도록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)</a:t>
            </a:r>
          </a:p>
        </p:txBody>
      </p:sp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6D95A8EA-314F-F98B-533E-E0A018DC483A}"/>
              </a:ext>
            </a:extLst>
          </p:cNvPr>
          <p:cNvSpPr/>
          <p:nvPr/>
        </p:nvSpPr>
        <p:spPr>
          <a:xfrm>
            <a:off x="4572000" y="5831455"/>
            <a:ext cx="4347710" cy="674744"/>
          </a:xfrm>
          <a:prstGeom prst="wedgeRectCallout">
            <a:avLst>
              <a:gd name="adj1" fmla="val -53549"/>
              <a:gd name="adj2" fmla="val 209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foreach (var e in list)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구문이 실행될 때 자동으로 호출됩니다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.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즉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, </a:t>
            </a:r>
            <a:r>
              <a:rPr lang="en-US" altLang="ko-KR" sz="1000" dirty="0" err="1">
                <a:solidFill>
                  <a:schemeClr val="tx1"/>
                </a:solidFill>
                <a:latin typeface="MS Reference Sans Serif" panose="020B0604030504040204" pitchFamily="34" charset="0"/>
              </a:rPr>
              <a:t>MyList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자체가 반복자 객체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(</a:t>
            </a:r>
            <a:r>
              <a:rPr lang="en-US" altLang="ko-KR" sz="1000" dirty="0" err="1">
                <a:solidFill>
                  <a:schemeClr val="tx1"/>
                </a:solidFill>
                <a:latin typeface="MS Reference Sans Serif" panose="020B0604030504040204" pitchFamily="34" charset="0"/>
              </a:rPr>
              <a:t>IEnumerator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)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역할을 함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.</a:t>
            </a:r>
          </a:p>
        </p:txBody>
      </p: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86A5A59B-E8B0-D5D2-CCF8-718370E2E268}"/>
              </a:ext>
            </a:extLst>
          </p:cNvPr>
          <p:cNvSpPr/>
          <p:nvPr/>
        </p:nvSpPr>
        <p:spPr>
          <a:xfrm>
            <a:off x="4572000" y="3114296"/>
            <a:ext cx="4347710" cy="674744"/>
          </a:xfrm>
          <a:prstGeom prst="wedgeRectCallout">
            <a:avLst>
              <a:gd name="adj1" fmla="val -53549"/>
              <a:gd name="adj2" fmla="val 209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position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을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씩 증가시켜가며 다음 요소를 가리킴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배열 끝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(position == </a:t>
            </a:r>
            <a:r>
              <a:rPr lang="en-US" altLang="ko-KR" sz="1000" dirty="0" err="1">
                <a:solidFill>
                  <a:schemeClr val="tx1"/>
                </a:solidFill>
                <a:latin typeface="MS Reference Sans Serif" panose="020B0604030504040204" pitchFamily="34" charset="0"/>
              </a:rPr>
              <a:t>array.Length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 - 1)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에 도달하면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:</a:t>
            </a:r>
          </a:p>
          <a:p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Reset()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호출 →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position = -1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로 초기화</a:t>
            </a:r>
          </a:p>
          <a:p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false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반환 → 반복 종료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(foreach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끝남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)</a:t>
            </a:r>
          </a:p>
        </p:txBody>
      </p:sp>
      <p:sp>
        <p:nvSpPr>
          <p:cNvPr id="10" name="말풍선: 사각형 9">
            <a:extLst>
              <a:ext uri="{FF2B5EF4-FFF2-40B4-BE49-F238E27FC236}">
                <a16:creationId xmlns:a16="http://schemas.microsoft.com/office/drawing/2014/main" id="{4021EECD-E7A3-5158-C5F5-F043736974C6}"/>
              </a:ext>
            </a:extLst>
          </p:cNvPr>
          <p:cNvSpPr/>
          <p:nvPr/>
        </p:nvSpPr>
        <p:spPr>
          <a:xfrm>
            <a:off x="4572000" y="1994658"/>
            <a:ext cx="4347710" cy="674744"/>
          </a:xfrm>
          <a:prstGeom prst="wedgeRectCallout">
            <a:avLst>
              <a:gd name="adj1" fmla="val -53549"/>
              <a:gd name="adj2" fmla="val 209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foreach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에서 현재 요소를 반환할 때 사용됨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74812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44B5-0F88-26D6-4877-5EDA9D36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DD273-BA17-2CB9-D9C9-93574813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3F4D3B4-6F4A-96CA-C581-D0413E63B6BF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2D7CE97-5FAE-0611-AD50-6D8FF93A596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B9BF8DE-B272-A7C3-DAB4-4766026A94B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Enumerable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B8D15D1-F5CB-15DC-4A59-210BE2D4806C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EECA454-2BBB-92FD-91B7-3C040CA9A4AA}"/>
              </a:ext>
            </a:extLst>
          </p:cNvPr>
          <p:cNvSpPr txBox="1"/>
          <p:nvPr/>
        </p:nvSpPr>
        <p:spPr>
          <a:xfrm>
            <a:off x="224290" y="1526876"/>
            <a:ext cx="85844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internal class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MainApp</a:t>
            </a:r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static void Main(string[]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args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{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MyList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list = new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MyList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for (int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= 0;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 &lt; 5;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++)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list[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] =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i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;</a:t>
            </a:r>
          </a:p>
          <a:p>
            <a:endParaRPr lang="en-US" altLang="ko-KR" sz="1000" b="1" dirty="0">
              <a:latin typeface="MS Reference Sans Serif" panose="020B0604030504040204" pitchFamily="34" charset="0"/>
            </a:endParaRP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foreach (int e in list)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        </a:t>
            </a:r>
            <a:r>
              <a:rPr lang="en-US" altLang="ko-KR" sz="1000" b="1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sz="1000" b="1" dirty="0">
                <a:latin typeface="MS Reference Sans Serif" panose="020B0604030504040204" pitchFamily="34" charset="0"/>
              </a:rPr>
              <a:t>(e);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    }</a:t>
            </a:r>
          </a:p>
          <a:p>
            <a:r>
              <a:rPr lang="en-US" altLang="ko-KR" sz="1000" b="1" dirty="0">
                <a:latin typeface="MS Reference Sans Serif" panose="020B0604030504040204" pitchFamily="34" charset="0"/>
              </a:rPr>
              <a:t>}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DDC9A4-2F91-287A-9CB2-97BC64DD2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33" y="4464396"/>
            <a:ext cx="2019582" cy="1162212"/>
          </a:xfrm>
          <a:prstGeom prst="rect">
            <a:avLst/>
          </a:prstGeom>
        </p:spPr>
      </p:pic>
      <p:sp>
        <p:nvSpPr>
          <p:cNvPr id="5" name="말풍선: 사각형 4">
            <a:extLst>
              <a:ext uri="{FF2B5EF4-FFF2-40B4-BE49-F238E27FC236}">
                <a16:creationId xmlns:a16="http://schemas.microsoft.com/office/drawing/2014/main" id="{3F9AA7A1-1981-C5B0-B1BC-B95374AEC888}"/>
              </a:ext>
            </a:extLst>
          </p:cNvPr>
          <p:cNvSpPr/>
          <p:nvPr/>
        </p:nvSpPr>
        <p:spPr>
          <a:xfrm>
            <a:off x="4572000" y="1852408"/>
            <a:ext cx="4347710" cy="1463815"/>
          </a:xfrm>
          <a:prstGeom prst="wedgeRectCallout">
            <a:avLst>
              <a:gd name="adj1" fmla="val -53549"/>
              <a:gd name="adj2" fmla="val 209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처음에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array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크기는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3</a:t>
            </a:r>
          </a:p>
          <a:p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list[3] = 3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실행 시 →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Array Resized : 4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출력</a:t>
            </a:r>
          </a:p>
          <a:p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list[4] = 4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실행 시 → 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Array Resized : 5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출력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즉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내부 배열 최종 상태</a:t>
            </a: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:</a:t>
            </a:r>
            <a:b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</a:br>
            <a:r>
              <a:rPr lang="en-US" altLang="ko-KR" sz="1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[0, 1, 2, 3, 4]</a:t>
            </a:r>
          </a:p>
        </p:txBody>
      </p:sp>
    </p:spTree>
    <p:extLst>
      <p:ext uri="{BB962C8B-B14F-4D97-AF65-F5344CB8AC3E}">
        <p14:creationId xmlns:p14="http://schemas.microsoft.com/office/powerpoint/2010/main" val="231820002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44B5-0F88-26D6-4877-5EDA9D36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DD273-BA17-2CB9-D9C9-93574813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3F4D3B4-6F4A-96CA-C581-D0413E63B6BF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2D7CE97-5FAE-0611-AD50-6D8FF93A596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B9BF8DE-B272-A7C3-DAB4-4766026A94B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Enumerable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B8D15D1-F5CB-15DC-4A59-210BE2D4806C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529C969-6F63-F275-042A-6D7633037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307501"/>
              </p:ext>
            </p:extLst>
          </p:nvPr>
        </p:nvGraphicFramePr>
        <p:xfrm>
          <a:off x="335222" y="4068350"/>
          <a:ext cx="7886700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61258237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390265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인터페이스</a:t>
                      </a:r>
                      <a:endParaRPr lang="ko-KR" alt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역할</a:t>
                      </a:r>
                      <a:endParaRPr lang="ko-KR" alt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385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IEnumerable</a:t>
                      </a:r>
                      <a:endParaRPr 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foreach</a:t>
                      </a:r>
                      <a:r>
                        <a:rPr lang="ko-KR" altLang="en-US"/>
                        <a:t>가 사용할 **반복자</a:t>
                      </a:r>
                      <a:r>
                        <a:rPr lang="en-US" altLang="ko-KR"/>
                        <a:t>(Enumerator)**</a:t>
                      </a:r>
                      <a:r>
                        <a:rPr lang="ko-KR" altLang="en-US"/>
                        <a:t>를 제공</a:t>
                      </a:r>
                      <a:endParaRPr lang="ko-KR" altLang="en-US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9203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IEnumerator</a:t>
                      </a:r>
                      <a:endParaRPr 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실제 **반복 상태</a:t>
                      </a:r>
                      <a:r>
                        <a:rPr lang="en-US" altLang="ko-KR" dirty="0"/>
                        <a:t>(position)**</a:t>
                      </a:r>
                      <a:r>
                        <a:rPr lang="ko-KR" altLang="en-US" dirty="0"/>
                        <a:t>를 추적하면서 요소를 하나씩 반환</a:t>
                      </a:r>
                      <a:endParaRPr lang="ko-KR" altLang="en-US" dirty="0">
                        <a:latin typeface="MS Reference Sans Serif" panose="020B0604030504040204" pitchFamily="34" charset="0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800670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EBB00720-B944-4D2F-979E-DDBE85D0A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22" y="1880242"/>
            <a:ext cx="827233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S Reference Sans Serif" panose="020B0604030504040204" pitchFamily="34" charset="0"/>
              </a:rPr>
              <a:t>인터페이스 역할 정리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S Reference Sans Serif" panose="020B0604030504040204" pitchFamily="34" charset="0"/>
              </a:rPr>
              <a:t>IEnumerable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S Reference Sans Serif" panose="020B0604030504040204" pitchFamily="34" charset="0"/>
              </a:rPr>
              <a:t> → “반복할 수 있는 객체”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S Reference Sans Serif" panose="020B0604030504040204" pitchFamily="34" charset="0"/>
              </a:rPr>
              <a:t>IEnumerator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S Reference Sans Serif" panose="020B0604030504040204" pitchFamily="34" charset="0"/>
              </a:rPr>
              <a:t> → “어떻게 반복할지를 정의한 객체”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43171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44B5-0F88-26D6-4877-5EDA9D36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DD273-BA17-2CB9-D9C9-93574813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3F4D3B4-6F4A-96CA-C581-D0413E63B6BF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2D7CE97-5FAE-0611-AD50-6D8FF93A596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B9BF8DE-B272-A7C3-DAB4-4766026A94B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Enumerable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B8D15D1-F5CB-15DC-4A59-210BE2D4806C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CB9E744-4791-8619-B86C-6A7B370EC87B}"/>
              </a:ext>
            </a:extLst>
          </p:cNvPr>
          <p:cNvSpPr txBox="1"/>
          <p:nvPr/>
        </p:nvSpPr>
        <p:spPr>
          <a:xfrm>
            <a:off x="109728" y="1852409"/>
            <a:ext cx="892454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>
                <a:latin typeface="MS Reference Sans Serif" panose="020B0604030504040204" pitchFamily="34" charset="0"/>
                <a:ea typeface="+mj-ea"/>
              </a:rPr>
              <a:t>필드 및 생성자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private int[] array;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int position = -1;</a:t>
            </a:r>
          </a:p>
          <a:p>
            <a:pPr rtl="0">
              <a:buNone/>
            </a:pPr>
            <a:endParaRPr lang="en-US" altLang="ko-KR" dirty="0">
              <a:latin typeface="MS Reference Sans Serif" panose="020B0604030504040204" pitchFamily="34" charset="0"/>
              <a:ea typeface="+mj-ea"/>
            </a:endParaRP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public </a:t>
            </a:r>
            <a:r>
              <a:rPr lang="en-US" altLang="ko-KR" dirty="0" err="1">
                <a:latin typeface="MS Reference Sans Serif" panose="020B0604030504040204" pitchFamily="34" charset="0"/>
                <a:ea typeface="+mj-ea"/>
              </a:rPr>
              <a:t>MyList</a:t>
            </a: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()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{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    array = new int[3];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MS Reference Sans Serif" panose="020B0604030504040204" pitchFamily="34" charset="0"/>
                <a:ea typeface="+mj-ea"/>
              </a:rPr>
              <a:t>내부 데이터 저장용 배열</a:t>
            </a: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: </a:t>
            </a:r>
            <a:r>
              <a:rPr lang="ko-KR" altLang="en-US" dirty="0">
                <a:latin typeface="MS Reference Sans Serif" panose="020B0604030504040204" pitchFamily="34" charset="0"/>
                <a:ea typeface="+mj-ea"/>
              </a:rPr>
              <a:t>초기 크기 </a:t>
            </a: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position = -1 → </a:t>
            </a:r>
            <a:r>
              <a:rPr lang="ko-KR" altLang="en-US" dirty="0">
                <a:latin typeface="MS Reference Sans Serif" panose="020B0604030504040204" pitchFamily="34" charset="0"/>
                <a:ea typeface="+mj-ea"/>
              </a:rPr>
              <a:t>아직 반복이 시작되지 않은 상태</a:t>
            </a:r>
          </a:p>
          <a:p>
            <a:pPr>
              <a:buNone/>
            </a:pPr>
            <a:br>
              <a:rPr lang="ko-KR" altLang="en-US" dirty="0">
                <a:latin typeface="MS Reference Sans Serif" panose="020B0604030504040204" pitchFamily="34" charset="0"/>
                <a:ea typeface="+mj-ea"/>
              </a:rPr>
            </a:br>
            <a:endParaRPr lang="ko-KR" altLang="en-US" dirty="0">
              <a:latin typeface="MS Reference Sans Serif" panose="020B0604030504040204" pitchFamily="34" charset="0"/>
              <a:ea typeface="+mj-ea"/>
            </a:endParaRPr>
          </a:p>
          <a:p>
            <a:pPr>
              <a:buNone/>
            </a:pPr>
            <a:endParaRPr lang="ko-KR" altLang="en-US" dirty="0">
              <a:latin typeface="MS Reference Sans Serif" panose="020B060403050404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1332631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44B5-0F88-26D6-4877-5EDA9D36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DD273-BA17-2CB9-D9C9-93574813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3F4D3B4-6F4A-96CA-C581-D0413E63B6BF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2D7CE97-5FAE-0611-AD50-6D8FF93A596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B9BF8DE-B272-A7C3-DAB4-4766026A94B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Enumerable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B8D15D1-F5CB-15DC-4A59-210BE2D4806C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CB9E744-4791-8619-B86C-6A7B370EC87B}"/>
              </a:ext>
            </a:extLst>
          </p:cNvPr>
          <p:cNvSpPr txBox="1"/>
          <p:nvPr/>
        </p:nvSpPr>
        <p:spPr>
          <a:xfrm>
            <a:off x="109728" y="1581397"/>
            <a:ext cx="892454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 err="1">
                <a:latin typeface="MS Reference Sans Serif" panose="020B0604030504040204" pitchFamily="34" charset="0"/>
                <a:ea typeface="+mj-ea"/>
              </a:rPr>
              <a:t>인덱서</a:t>
            </a:r>
            <a:r>
              <a:rPr lang="ko-KR" altLang="en-US" b="1" dirty="0">
                <a:latin typeface="MS Reference Sans Serif" panose="020B0604030504040204" pitchFamily="34" charset="0"/>
                <a:ea typeface="+mj-ea"/>
              </a:rPr>
              <a:t> </a:t>
            </a:r>
            <a:r>
              <a:rPr lang="en-US" altLang="ko-KR" b="1" dirty="0">
                <a:latin typeface="MS Reference Sans Serif" panose="020B0604030504040204" pitchFamily="34" charset="0"/>
                <a:ea typeface="+mj-ea"/>
              </a:rPr>
              <a:t>(this[int index])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public int this[int index]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{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    get { return array[index]; }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    set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    {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        if (index &gt;= </a:t>
            </a:r>
            <a:r>
              <a:rPr lang="en-US" altLang="ko-KR" dirty="0" err="1">
                <a:latin typeface="MS Reference Sans Serif" panose="020B0604030504040204" pitchFamily="34" charset="0"/>
                <a:ea typeface="+mj-ea"/>
              </a:rPr>
              <a:t>array.Length</a:t>
            </a: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)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        {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            </a:t>
            </a:r>
            <a:r>
              <a:rPr lang="en-US" altLang="ko-KR" dirty="0" err="1">
                <a:latin typeface="MS Reference Sans Serif" panose="020B0604030504040204" pitchFamily="34" charset="0"/>
                <a:ea typeface="+mj-ea"/>
              </a:rPr>
              <a:t>Array.Resize</a:t>
            </a: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&lt;int&gt;(ref array, index + 1);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            </a:t>
            </a:r>
            <a:r>
              <a:rPr lang="en-US" altLang="ko-KR" dirty="0" err="1">
                <a:latin typeface="MS Reference Sans Serif" panose="020B0604030504040204" pitchFamily="34" charset="0"/>
                <a:ea typeface="+mj-ea"/>
              </a:rPr>
              <a:t>Console.WriteLine</a:t>
            </a: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($"Array Resized : {</a:t>
            </a:r>
            <a:r>
              <a:rPr lang="en-US" altLang="ko-KR" dirty="0" err="1">
                <a:latin typeface="MS Reference Sans Serif" panose="020B0604030504040204" pitchFamily="34" charset="0"/>
                <a:ea typeface="+mj-ea"/>
              </a:rPr>
              <a:t>array.Length</a:t>
            </a: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}");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        }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        array[index] = value;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    }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list[</a:t>
            </a:r>
            <a:r>
              <a:rPr lang="en-US" altLang="ko-KR" dirty="0" err="1">
                <a:latin typeface="MS Reference Sans Serif" panose="020B0604030504040204" pitchFamily="34" charset="0"/>
                <a:ea typeface="+mj-ea"/>
              </a:rPr>
              <a:t>i</a:t>
            </a: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] = </a:t>
            </a:r>
            <a:r>
              <a:rPr lang="ko-KR" altLang="en-US" dirty="0">
                <a:latin typeface="MS Reference Sans Serif" panose="020B0604030504040204" pitchFamily="34" charset="0"/>
                <a:ea typeface="+mj-ea"/>
              </a:rPr>
              <a:t>값 형태로 접근 가능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MS Reference Sans Serif" panose="020B0604030504040204" pitchFamily="34" charset="0"/>
                <a:ea typeface="+mj-ea"/>
              </a:rPr>
              <a:t>인덱스가 배열 길이를 초과하면 자동으로 </a:t>
            </a: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Resize()</a:t>
            </a:r>
            <a:br>
              <a:rPr lang="en-US" altLang="ko-KR" dirty="0">
                <a:latin typeface="MS Reference Sans Serif" panose="020B0604030504040204" pitchFamily="34" charset="0"/>
                <a:ea typeface="+mj-ea"/>
              </a:rPr>
            </a:b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→ </a:t>
            </a:r>
            <a:r>
              <a:rPr lang="ko-KR" altLang="en-US" dirty="0">
                <a:latin typeface="MS Reference Sans Serif" panose="020B0604030504040204" pitchFamily="34" charset="0"/>
                <a:ea typeface="+mj-ea"/>
              </a:rPr>
              <a:t>배열 크기를 </a:t>
            </a:r>
            <a:r>
              <a:rPr lang="ko-KR" altLang="en-US" dirty="0" err="1">
                <a:latin typeface="MS Reference Sans Serif" panose="020B0604030504040204" pitchFamily="34" charset="0"/>
                <a:ea typeface="+mj-ea"/>
              </a:rPr>
              <a:t>늘려줌</a:t>
            </a:r>
            <a:endParaRPr lang="ko-KR" altLang="en-US" dirty="0">
              <a:latin typeface="MS Reference Sans Serif" panose="020B0604030504040204" pitchFamily="34" charset="0"/>
              <a:ea typeface="+mj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MS Reference Sans Serif" panose="020B0604030504040204" pitchFamily="34" charset="0"/>
                <a:ea typeface="+mj-ea"/>
              </a:rPr>
              <a:t>즉</a:t>
            </a:r>
            <a:r>
              <a:rPr lang="en-US" altLang="ko-KR" dirty="0">
                <a:latin typeface="MS Reference Sans Serif" panose="020B0604030504040204" pitchFamily="34" charset="0"/>
                <a:ea typeface="+mj-ea"/>
              </a:rPr>
              <a:t>, </a:t>
            </a:r>
            <a:r>
              <a:rPr lang="ko-KR" altLang="en-US" dirty="0">
                <a:latin typeface="MS Reference Sans Serif" panose="020B0604030504040204" pitchFamily="34" charset="0"/>
                <a:ea typeface="+mj-ea"/>
              </a:rPr>
              <a:t>동적으로 커지는 배열 구조</a:t>
            </a:r>
          </a:p>
        </p:txBody>
      </p:sp>
    </p:spTree>
    <p:extLst>
      <p:ext uri="{BB962C8B-B14F-4D97-AF65-F5344CB8AC3E}">
        <p14:creationId xmlns:p14="http://schemas.microsoft.com/office/powerpoint/2010/main" val="92408870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44B5-0F88-26D6-4877-5EDA9D36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DD273-BA17-2CB9-D9C9-93574813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3F4D3B4-6F4A-96CA-C581-D0413E63B6BF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2D7CE97-5FAE-0611-AD50-6D8FF93A596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B9BF8DE-B272-A7C3-DAB4-4766026A94B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Enumerable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B8D15D1-F5CB-15DC-4A59-210BE2D4806C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9AFE3C4-7029-5028-77D7-2469FA82BDE0}"/>
              </a:ext>
            </a:extLst>
          </p:cNvPr>
          <p:cNvSpPr txBox="1"/>
          <p:nvPr/>
        </p:nvSpPr>
        <p:spPr>
          <a:xfrm>
            <a:off x="258792" y="1446927"/>
            <a:ext cx="8626416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 err="1">
                <a:latin typeface="MS Reference Sans Serif" panose="020B0604030504040204" pitchFamily="34" charset="0"/>
              </a:rPr>
              <a:t>IEnumerator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 </a:t>
            </a:r>
            <a:r>
              <a:rPr lang="ko-KR" altLang="en-US" sz="1400" b="1" dirty="0">
                <a:latin typeface="MS Reference Sans Serif" panose="020B0604030504040204" pitchFamily="34" charset="0"/>
              </a:rPr>
              <a:t>멤버 구현</a:t>
            </a:r>
          </a:p>
          <a:p>
            <a:pPr>
              <a:buNone/>
            </a:pPr>
            <a:r>
              <a:rPr lang="ko-KR" altLang="en-US" sz="1400" b="1" dirty="0">
                <a:latin typeface="MS Reference Sans Serif" panose="020B0604030504040204" pitchFamily="34" charset="0"/>
              </a:rPr>
              <a:t>🔸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object Current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public object Current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{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    get { return array[position]; }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MS Reference Sans Serif" panose="020B0604030504040204" pitchFamily="34" charset="0"/>
              </a:rPr>
              <a:t>foreach</a:t>
            </a:r>
            <a:r>
              <a:rPr lang="ko-KR" altLang="en-US" sz="1400" dirty="0">
                <a:latin typeface="MS Reference Sans Serif" panose="020B0604030504040204" pitchFamily="34" charset="0"/>
              </a:rPr>
              <a:t>에서 현재 요소를 반환할 때 사용됨</a:t>
            </a:r>
            <a:r>
              <a:rPr lang="en-US" altLang="ko-KR" sz="1400" dirty="0">
                <a:latin typeface="MS Reference Sans Serif" panose="020B0604030504040204" pitchFamily="34" charset="0"/>
              </a:rPr>
              <a:t>.</a:t>
            </a:r>
          </a:p>
          <a:p>
            <a:pPr>
              <a:buNone/>
            </a:pPr>
            <a:br>
              <a:rPr lang="en-US" altLang="ko-KR" sz="1400" dirty="0">
                <a:latin typeface="MS Reference Sans Serif" panose="020B0604030504040204" pitchFamily="34" charset="0"/>
              </a:rPr>
            </a:br>
            <a:endParaRPr lang="en-US" altLang="ko-KR" sz="1400" dirty="0">
              <a:latin typeface="MS Reference Sans Serif" panose="020B0604030504040204" pitchFamily="34" charset="0"/>
            </a:endParaRPr>
          </a:p>
          <a:p>
            <a:pPr>
              <a:buNone/>
            </a:pPr>
            <a:r>
              <a:rPr lang="ko-KR" altLang="en-US" sz="1400" b="1" dirty="0">
                <a:latin typeface="MS Reference Sans Serif" panose="020B0604030504040204" pitchFamily="34" charset="0"/>
              </a:rPr>
              <a:t>🔸 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bool </a:t>
            </a:r>
            <a:r>
              <a:rPr lang="en-US" altLang="ko-KR" sz="1400" b="1" dirty="0" err="1">
                <a:latin typeface="MS Reference Sans Serif" panose="020B0604030504040204" pitchFamily="34" charset="0"/>
              </a:rPr>
              <a:t>MoveNext</a:t>
            </a:r>
            <a:r>
              <a:rPr lang="en-US" altLang="ko-KR" sz="1400" b="1" dirty="0">
                <a:latin typeface="MS Reference Sans Serif" panose="020B0604030504040204" pitchFamily="34" charset="0"/>
              </a:rPr>
              <a:t>()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public bool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MoveNext</a:t>
            </a:r>
            <a:r>
              <a:rPr lang="en-US" altLang="ko-KR" sz="1400" dirty="0">
                <a:latin typeface="MS Reference Sans Serif" panose="020B0604030504040204" pitchFamily="34" charset="0"/>
              </a:rPr>
              <a:t>()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{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    if (position ==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array.Length</a:t>
            </a:r>
            <a:r>
              <a:rPr lang="en-US" altLang="ko-KR" sz="1400" dirty="0">
                <a:latin typeface="MS Reference Sans Serif" panose="020B0604030504040204" pitchFamily="34" charset="0"/>
              </a:rPr>
              <a:t> - 1)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    {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        Reset();     // </a:t>
            </a:r>
            <a:r>
              <a:rPr lang="ko-KR" altLang="en-US" sz="1400" dirty="0">
                <a:latin typeface="MS Reference Sans Serif" panose="020B0604030504040204" pitchFamily="34" charset="0"/>
              </a:rPr>
              <a:t>끝까지 갔으면 초기화</a:t>
            </a:r>
          </a:p>
          <a:p>
            <a:pPr rtl="0">
              <a:buNone/>
            </a:pPr>
            <a:r>
              <a:rPr lang="ko-KR" altLang="en-US" sz="1400" dirty="0">
                <a:latin typeface="MS Reference Sans Serif" panose="020B0604030504040204" pitchFamily="34" charset="0"/>
              </a:rPr>
              <a:t>        </a:t>
            </a:r>
            <a:r>
              <a:rPr lang="en-US" altLang="ko-KR" sz="1400" dirty="0">
                <a:latin typeface="MS Reference Sans Serif" panose="020B0604030504040204" pitchFamily="34" charset="0"/>
              </a:rPr>
              <a:t>return false; // </a:t>
            </a:r>
            <a:r>
              <a:rPr lang="ko-KR" altLang="en-US" sz="1400" dirty="0">
                <a:latin typeface="MS Reference Sans Serif" panose="020B0604030504040204" pitchFamily="34" charset="0"/>
              </a:rPr>
              <a:t>반복 종료</a:t>
            </a:r>
          </a:p>
          <a:p>
            <a:pPr rtl="0">
              <a:buNone/>
            </a:pPr>
            <a:r>
              <a:rPr lang="ko-KR" altLang="en-US" sz="1400" dirty="0">
                <a:latin typeface="MS Reference Sans Serif" panose="020B0604030504040204" pitchFamily="34" charset="0"/>
              </a:rPr>
              <a:t>    </a:t>
            </a:r>
            <a:r>
              <a:rPr lang="en-US" altLang="ko-KR" sz="1400" dirty="0">
                <a:latin typeface="MS Reference Sans Serif" panose="020B0604030504040204" pitchFamily="34" charset="0"/>
              </a:rPr>
              <a:t>}</a:t>
            </a:r>
          </a:p>
          <a:p>
            <a:pPr rtl="0">
              <a:buNone/>
            </a:pPr>
            <a:endParaRPr lang="en-US" altLang="ko-KR" sz="1400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    position++;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    return (position &lt;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array.Length</a:t>
            </a:r>
            <a:r>
              <a:rPr lang="en-US" altLang="ko-KR" sz="1400" dirty="0">
                <a:latin typeface="MS Reference Sans Serif" panose="020B0604030504040204" pitchFamily="34" charset="0"/>
              </a:rPr>
              <a:t>);</a:t>
            </a:r>
          </a:p>
          <a:p>
            <a:pPr rtl="0">
              <a:buNone/>
            </a:pPr>
            <a:r>
              <a:rPr lang="en-US" altLang="ko-KR" sz="1400" dirty="0">
                <a:latin typeface="MS Reference Sans Serif" panose="020B0604030504040204" pitchFamily="34" charset="0"/>
              </a:rPr>
              <a:t>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MS Reference Sans Serif" panose="020B0604030504040204" pitchFamily="34" charset="0"/>
              </a:rPr>
              <a:t>position</a:t>
            </a:r>
            <a:r>
              <a:rPr lang="ko-KR" altLang="en-US" sz="1400" dirty="0">
                <a:latin typeface="MS Reference Sans Serif" panose="020B0604030504040204" pitchFamily="34" charset="0"/>
              </a:rPr>
              <a:t>을 </a:t>
            </a:r>
            <a:r>
              <a:rPr lang="en-US" altLang="ko-KR" sz="1400" dirty="0">
                <a:latin typeface="MS Reference Sans Serif" panose="020B0604030504040204" pitchFamily="34" charset="0"/>
              </a:rPr>
              <a:t>1</a:t>
            </a:r>
            <a:r>
              <a:rPr lang="ko-KR" altLang="en-US" sz="1400" dirty="0">
                <a:latin typeface="MS Reference Sans Serif" panose="020B0604030504040204" pitchFamily="34" charset="0"/>
              </a:rPr>
              <a:t>씩 증가시켜가며 다음 요소를 가리킴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MS Reference Sans Serif" panose="020B0604030504040204" pitchFamily="34" charset="0"/>
              </a:rPr>
              <a:t>배열 끝</a:t>
            </a:r>
            <a:r>
              <a:rPr lang="en-US" altLang="ko-KR" sz="1400" dirty="0">
                <a:latin typeface="MS Reference Sans Serif" panose="020B0604030504040204" pitchFamily="34" charset="0"/>
              </a:rPr>
              <a:t>(position == </a:t>
            </a:r>
            <a:r>
              <a:rPr lang="en-US" altLang="ko-KR" sz="1400" dirty="0" err="1">
                <a:latin typeface="MS Reference Sans Serif" panose="020B0604030504040204" pitchFamily="34" charset="0"/>
              </a:rPr>
              <a:t>array.Length</a:t>
            </a:r>
            <a:r>
              <a:rPr lang="en-US" altLang="ko-KR" sz="1400" dirty="0">
                <a:latin typeface="MS Reference Sans Serif" panose="020B0604030504040204" pitchFamily="34" charset="0"/>
              </a:rPr>
              <a:t> - 1)</a:t>
            </a:r>
            <a:r>
              <a:rPr lang="ko-KR" altLang="en-US" sz="1400" dirty="0">
                <a:latin typeface="MS Reference Sans Serif" panose="020B0604030504040204" pitchFamily="34" charset="0"/>
              </a:rPr>
              <a:t>에 도달하면</a:t>
            </a:r>
            <a:r>
              <a:rPr lang="en-US" altLang="ko-KR" sz="1400" dirty="0">
                <a:latin typeface="MS Reference Sans Serif" panose="020B060403050404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MS Reference Sans Serif" panose="020B0604030504040204" pitchFamily="34" charset="0"/>
              </a:rPr>
              <a:t>Reset() </a:t>
            </a:r>
            <a:r>
              <a:rPr lang="ko-KR" altLang="en-US" sz="1400" dirty="0">
                <a:latin typeface="MS Reference Sans Serif" panose="020B0604030504040204" pitchFamily="34" charset="0"/>
              </a:rPr>
              <a:t>호출 → </a:t>
            </a:r>
            <a:r>
              <a:rPr lang="en-US" altLang="ko-KR" sz="1400" dirty="0">
                <a:latin typeface="MS Reference Sans Serif" panose="020B0604030504040204" pitchFamily="34" charset="0"/>
              </a:rPr>
              <a:t>position = -1</a:t>
            </a:r>
            <a:r>
              <a:rPr lang="ko-KR" altLang="en-US" sz="1400" dirty="0">
                <a:latin typeface="MS Reference Sans Serif" panose="020B0604030504040204" pitchFamily="34" charset="0"/>
              </a:rPr>
              <a:t>로 초기화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MS Reference Sans Serif" panose="020B0604030504040204" pitchFamily="34" charset="0"/>
              </a:rPr>
              <a:t>false </a:t>
            </a:r>
            <a:r>
              <a:rPr lang="ko-KR" altLang="en-US" sz="1400" dirty="0">
                <a:latin typeface="MS Reference Sans Serif" panose="020B0604030504040204" pitchFamily="34" charset="0"/>
              </a:rPr>
              <a:t>반환 → 반복 종료 </a:t>
            </a:r>
            <a:r>
              <a:rPr lang="en-US" altLang="ko-KR" sz="1400" dirty="0">
                <a:latin typeface="MS Reference Sans Serif" panose="020B0604030504040204" pitchFamily="34" charset="0"/>
              </a:rPr>
              <a:t>(foreach </a:t>
            </a:r>
            <a:r>
              <a:rPr lang="ko-KR" altLang="en-US" sz="1400" dirty="0">
                <a:latin typeface="MS Reference Sans Serif" panose="020B0604030504040204" pitchFamily="34" charset="0"/>
              </a:rPr>
              <a:t>끝남</a:t>
            </a:r>
            <a:r>
              <a:rPr lang="en-US" altLang="ko-KR" sz="1400" dirty="0">
                <a:latin typeface="MS Reference Sans Serif" panose="020B060403050404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9598563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44B5-0F88-26D6-4877-5EDA9D36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DD273-BA17-2CB9-D9C9-93574813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3F4D3B4-6F4A-96CA-C581-D0413E63B6BF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2D7CE97-5FAE-0611-AD50-6D8FF93A596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B9BF8DE-B272-A7C3-DAB4-4766026A94B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Enumerable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B8D15D1-F5CB-15DC-4A59-210BE2D4806C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335CBD5-8C6A-C254-2128-49E733B17755}"/>
              </a:ext>
            </a:extLst>
          </p:cNvPr>
          <p:cNvSpPr txBox="1"/>
          <p:nvPr/>
        </p:nvSpPr>
        <p:spPr>
          <a:xfrm>
            <a:off x="170112" y="2277886"/>
            <a:ext cx="88037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latin typeface="MS Reference Sans Serif" panose="020B0604030504040204" pitchFamily="34" charset="0"/>
              </a:rPr>
              <a:t>void Reset()</a:t>
            </a:r>
            <a:endParaRPr lang="ko-KR" altLang="en-US" b="1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public void Reset()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{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    position = -1;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MS Reference Sans Serif" panose="020B0604030504040204" pitchFamily="34" charset="0"/>
              </a:rPr>
              <a:t>반복 상태를 처음으로 되돌림</a:t>
            </a:r>
            <a:br>
              <a:rPr lang="ko-KR" altLang="en-US" dirty="0">
                <a:latin typeface="MS Reference Sans Serif" panose="020B0604030504040204" pitchFamily="34" charset="0"/>
              </a:rPr>
            </a:br>
            <a:r>
              <a:rPr lang="en-US" altLang="ko-KR" dirty="0">
                <a:latin typeface="MS Reference Sans Serif" panose="020B0604030504040204" pitchFamily="34" charset="0"/>
              </a:rPr>
              <a:t>(foreach</a:t>
            </a:r>
            <a:r>
              <a:rPr lang="ko-KR" altLang="en-US" dirty="0">
                <a:latin typeface="MS Reference Sans Serif" panose="020B0604030504040204" pitchFamily="34" charset="0"/>
              </a:rPr>
              <a:t>가 다시 시작될 때 처음부터 돌 수 있도록</a:t>
            </a:r>
            <a:r>
              <a:rPr lang="en-US" altLang="ko-KR" dirty="0">
                <a:latin typeface="MS Reference Sans Serif" panose="020B060403050404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9092829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44B5-0F88-26D6-4877-5EDA9D36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DD273-BA17-2CB9-D9C9-93574813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3F4D3B4-6F4A-96CA-C581-D0413E63B6BF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2D7CE97-5FAE-0611-AD50-6D8FF93A596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B9BF8DE-B272-A7C3-DAB4-4766026A94B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Enumerable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B8D15D1-F5CB-15DC-4A59-210BE2D4806C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2B0DC60-5B5D-DD6F-E5EA-661AF857CC7B}"/>
              </a:ext>
            </a:extLst>
          </p:cNvPr>
          <p:cNvSpPr txBox="1"/>
          <p:nvPr/>
        </p:nvSpPr>
        <p:spPr>
          <a:xfrm>
            <a:off x="198408" y="1514706"/>
            <a:ext cx="874718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 err="1">
                <a:latin typeface="MS Reference Sans Serif" panose="020B0604030504040204" pitchFamily="34" charset="0"/>
              </a:rPr>
              <a:t>IEnumerable</a:t>
            </a:r>
            <a:r>
              <a:rPr lang="en-US" altLang="ko-KR" b="1" dirty="0">
                <a:latin typeface="MS Reference Sans Serif" panose="020B0604030504040204" pitchFamily="34" charset="0"/>
              </a:rPr>
              <a:t> </a:t>
            </a:r>
            <a:r>
              <a:rPr lang="ko-KR" altLang="en-US" b="1" dirty="0">
                <a:latin typeface="MS Reference Sans Serif" panose="020B0604030504040204" pitchFamily="34" charset="0"/>
              </a:rPr>
              <a:t>멤버 구현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public </a:t>
            </a:r>
            <a:r>
              <a:rPr lang="en-US" altLang="ko-KR" dirty="0" err="1">
                <a:latin typeface="MS Reference Sans Serif" panose="020B0604030504040204" pitchFamily="34" charset="0"/>
              </a:rPr>
              <a:t>IEnumerator</a:t>
            </a:r>
            <a:r>
              <a:rPr lang="en-US" altLang="ko-KR" dirty="0">
                <a:latin typeface="MS Reference Sans Serif" panose="020B0604030504040204" pitchFamily="34" charset="0"/>
              </a:rPr>
              <a:t> </a:t>
            </a:r>
            <a:r>
              <a:rPr lang="en-US" altLang="ko-KR" dirty="0" err="1">
                <a:latin typeface="MS Reference Sans Serif" panose="020B0604030504040204" pitchFamily="34" charset="0"/>
              </a:rPr>
              <a:t>GetEnumerator</a:t>
            </a:r>
            <a:r>
              <a:rPr lang="en-US" altLang="ko-KR" dirty="0">
                <a:latin typeface="MS Reference Sans Serif" panose="020B0604030504040204" pitchFamily="34" charset="0"/>
              </a:rPr>
              <a:t>()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{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    return this;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MS Reference Sans Serif" panose="020B0604030504040204" pitchFamily="34" charset="0"/>
              </a:rPr>
              <a:t>foreach (var e in list) </a:t>
            </a:r>
            <a:r>
              <a:rPr lang="ko-KR" altLang="en-US" dirty="0">
                <a:latin typeface="MS Reference Sans Serif" panose="020B0604030504040204" pitchFamily="34" charset="0"/>
              </a:rPr>
              <a:t>구문이 실행될 때 자동으로 호출됩니다</a:t>
            </a:r>
            <a:r>
              <a:rPr lang="en-US" altLang="ko-KR" dirty="0">
                <a:latin typeface="MS Reference Sans Serif" panose="020B060403050404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MS Reference Sans Serif" panose="020B0604030504040204" pitchFamily="34" charset="0"/>
              </a:rPr>
              <a:t>즉</a:t>
            </a:r>
            <a:r>
              <a:rPr lang="en-US" altLang="ko-KR" dirty="0">
                <a:latin typeface="MS Reference Sans Serif" panose="020B0604030504040204" pitchFamily="34" charset="0"/>
              </a:rPr>
              <a:t>, </a:t>
            </a:r>
            <a:r>
              <a:rPr lang="en-US" altLang="ko-KR" dirty="0" err="1">
                <a:latin typeface="MS Reference Sans Serif" panose="020B0604030504040204" pitchFamily="34" charset="0"/>
              </a:rPr>
              <a:t>MyList</a:t>
            </a:r>
            <a:r>
              <a:rPr lang="en-US" altLang="ko-KR" dirty="0">
                <a:latin typeface="MS Reference Sans Serif" panose="020B0604030504040204" pitchFamily="34" charset="0"/>
              </a:rPr>
              <a:t> </a:t>
            </a:r>
            <a:r>
              <a:rPr lang="ko-KR" altLang="en-US" dirty="0">
                <a:latin typeface="MS Reference Sans Serif" panose="020B0604030504040204" pitchFamily="34" charset="0"/>
              </a:rPr>
              <a:t>자체가 </a:t>
            </a:r>
            <a:r>
              <a:rPr lang="ko-KR" altLang="en-US" b="1" dirty="0">
                <a:latin typeface="MS Reference Sans Serif" panose="020B0604030504040204" pitchFamily="34" charset="0"/>
              </a:rPr>
              <a:t>반복자 객체</a:t>
            </a:r>
            <a:r>
              <a:rPr lang="en-US" altLang="ko-KR" b="1" dirty="0">
                <a:latin typeface="MS Reference Sans Serif" panose="020B0604030504040204" pitchFamily="34" charset="0"/>
              </a:rPr>
              <a:t>(</a:t>
            </a:r>
            <a:r>
              <a:rPr lang="en-US" altLang="ko-KR" b="1" dirty="0" err="1">
                <a:latin typeface="MS Reference Sans Serif" panose="020B0604030504040204" pitchFamily="34" charset="0"/>
              </a:rPr>
              <a:t>IEnumerator</a:t>
            </a:r>
            <a:r>
              <a:rPr lang="en-US" altLang="ko-KR" b="1" dirty="0">
                <a:latin typeface="MS Reference Sans Serif" panose="020B0604030504040204" pitchFamily="34" charset="0"/>
              </a:rPr>
              <a:t>)</a:t>
            </a:r>
            <a:r>
              <a:rPr lang="en-US" altLang="ko-KR" dirty="0">
                <a:latin typeface="MS Reference Sans Serif" panose="020B0604030504040204" pitchFamily="34" charset="0"/>
              </a:rPr>
              <a:t> </a:t>
            </a:r>
            <a:r>
              <a:rPr lang="ko-KR" altLang="en-US" dirty="0">
                <a:latin typeface="MS Reference Sans Serif" panose="020B0604030504040204" pitchFamily="34" charset="0"/>
              </a:rPr>
              <a:t>역할을 함</a:t>
            </a:r>
            <a:r>
              <a:rPr lang="en-US" altLang="ko-KR" dirty="0">
                <a:latin typeface="MS Reference Sans Serif" panose="020B0604030504040204" pitchFamily="34" charset="0"/>
              </a:rPr>
              <a:t>.</a:t>
            </a:r>
          </a:p>
          <a:p>
            <a:pPr>
              <a:buNone/>
            </a:pPr>
            <a:br>
              <a:rPr lang="en-US" altLang="ko-KR" dirty="0">
                <a:latin typeface="MS Reference Sans Serif" panose="020B0604030504040204" pitchFamily="34" charset="0"/>
              </a:rPr>
            </a:br>
            <a:endParaRPr lang="en-US" altLang="ko-KR" dirty="0">
              <a:latin typeface="MS Reference Sans Serif" panose="020B0604030504040204" pitchFamily="34" charset="0"/>
            </a:endParaRPr>
          </a:p>
          <a:p>
            <a:pPr>
              <a:buNone/>
            </a:pPr>
            <a:r>
              <a:rPr lang="en-US" altLang="ko-KR" b="1" dirty="0">
                <a:latin typeface="MS Reference Sans Serif" panose="020B0604030504040204" pitchFamily="34" charset="0"/>
              </a:rPr>
              <a:t>Main() </a:t>
            </a:r>
            <a:r>
              <a:rPr lang="ko-KR" altLang="en-US" b="1" dirty="0">
                <a:latin typeface="MS Reference Sans Serif" panose="020B0604030504040204" pitchFamily="34" charset="0"/>
              </a:rPr>
              <a:t>실행 흐름</a:t>
            </a:r>
          </a:p>
          <a:p>
            <a:pPr rtl="0">
              <a:buNone/>
            </a:pPr>
            <a:r>
              <a:rPr lang="en-US" altLang="ko-KR" dirty="0" err="1">
                <a:latin typeface="MS Reference Sans Serif" panose="020B0604030504040204" pitchFamily="34" charset="0"/>
              </a:rPr>
              <a:t>MyList</a:t>
            </a:r>
            <a:r>
              <a:rPr lang="en-US" altLang="ko-KR" dirty="0">
                <a:latin typeface="MS Reference Sans Serif" panose="020B0604030504040204" pitchFamily="34" charset="0"/>
              </a:rPr>
              <a:t> list = new </a:t>
            </a:r>
            <a:r>
              <a:rPr lang="en-US" altLang="ko-KR" dirty="0" err="1">
                <a:latin typeface="MS Reference Sans Serif" panose="020B0604030504040204" pitchFamily="34" charset="0"/>
              </a:rPr>
              <a:t>MyList</a:t>
            </a:r>
            <a:r>
              <a:rPr lang="en-US" altLang="ko-KR" dirty="0">
                <a:latin typeface="MS Reference Sans Serif" panose="020B0604030504040204" pitchFamily="34" charset="0"/>
              </a:rPr>
              <a:t>();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for (int </a:t>
            </a:r>
            <a:r>
              <a:rPr lang="en-US" altLang="ko-KR" dirty="0" err="1">
                <a:latin typeface="MS Reference Sans Serif" panose="020B0604030504040204" pitchFamily="34" charset="0"/>
              </a:rPr>
              <a:t>i</a:t>
            </a:r>
            <a:r>
              <a:rPr lang="en-US" altLang="ko-KR" dirty="0">
                <a:latin typeface="MS Reference Sans Serif" panose="020B0604030504040204" pitchFamily="34" charset="0"/>
              </a:rPr>
              <a:t> = 0; </a:t>
            </a:r>
            <a:r>
              <a:rPr lang="en-US" altLang="ko-KR" dirty="0" err="1">
                <a:latin typeface="MS Reference Sans Serif" panose="020B0604030504040204" pitchFamily="34" charset="0"/>
              </a:rPr>
              <a:t>i</a:t>
            </a:r>
            <a:r>
              <a:rPr lang="en-US" altLang="ko-KR" dirty="0">
                <a:latin typeface="MS Reference Sans Serif" panose="020B0604030504040204" pitchFamily="34" charset="0"/>
              </a:rPr>
              <a:t> &lt; 5; </a:t>
            </a:r>
            <a:r>
              <a:rPr lang="en-US" altLang="ko-KR" dirty="0" err="1">
                <a:latin typeface="MS Reference Sans Serif" panose="020B0604030504040204" pitchFamily="34" charset="0"/>
              </a:rPr>
              <a:t>i</a:t>
            </a:r>
            <a:r>
              <a:rPr lang="en-US" altLang="ko-KR" dirty="0">
                <a:latin typeface="MS Reference Sans Serif" panose="020B0604030504040204" pitchFamily="34" charset="0"/>
              </a:rPr>
              <a:t>++)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    list[</a:t>
            </a:r>
            <a:r>
              <a:rPr lang="en-US" altLang="ko-KR" dirty="0" err="1">
                <a:latin typeface="MS Reference Sans Serif" panose="020B0604030504040204" pitchFamily="34" charset="0"/>
              </a:rPr>
              <a:t>i</a:t>
            </a:r>
            <a:r>
              <a:rPr lang="en-US" altLang="ko-KR" dirty="0">
                <a:latin typeface="MS Reference Sans Serif" panose="020B0604030504040204" pitchFamily="34" charset="0"/>
              </a:rPr>
              <a:t>] = </a:t>
            </a:r>
            <a:r>
              <a:rPr lang="en-US" altLang="ko-KR" dirty="0" err="1">
                <a:latin typeface="MS Reference Sans Serif" panose="020B0604030504040204" pitchFamily="34" charset="0"/>
              </a:rPr>
              <a:t>i</a:t>
            </a:r>
            <a:r>
              <a:rPr lang="en-US" altLang="ko-KR" dirty="0">
                <a:latin typeface="MS Reference Sans Serif" panose="020B0604030504040204" pitchFamily="34" charset="0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ko-KR" altLang="en-US" dirty="0">
                <a:latin typeface="MS Reference Sans Serif" panose="020B0604030504040204" pitchFamily="34" charset="0"/>
              </a:rPr>
              <a:t>처음에 </a:t>
            </a:r>
            <a:r>
              <a:rPr lang="en-US" altLang="ko-KR" dirty="0">
                <a:latin typeface="MS Reference Sans Serif" panose="020B0604030504040204" pitchFamily="34" charset="0"/>
              </a:rPr>
              <a:t>array </a:t>
            </a:r>
            <a:r>
              <a:rPr lang="ko-KR" altLang="en-US" dirty="0">
                <a:latin typeface="MS Reference Sans Serif" panose="020B0604030504040204" pitchFamily="34" charset="0"/>
              </a:rPr>
              <a:t>크기는 </a:t>
            </a:r>
            <a:r>
              <a:rPr lang="en-US" altLang="ko-KR" dirty="0">
                <a:latin typeface="MS Reference Sans Serif" panose="020B0604030504040204" pitchFamily="34" charset="0"/>
              </a:rPr>
              <a:t>3</a:t>
            </a:r>
          </a:p>
          <a:p>
            <a:pPr>
              <a:buFont typeface="+mj-lt"/>
              <a:buAutoNum type="arabicPeriod"/>
            </a:pPr>
            <a:r>
              <a:rPr lang="en-US" altLang="ko-KR" dirty="0">
                <a:latin typeface="MS Reference Sans Serif" panose="020B0604030504040204" pitchFamily="34" charset="0"/>
              </a:rPr>
              <a:t>list[3] = 3 </a:t>
            </a:r>
            <a:r>
              <a:rPr lang="ko-KR" altLang="en-US" dirty="0">
                <a:latin typeface="MS Reference Sans Serif" panose="020B0604030504040204" pitchFamily="34" charset="0"/>
              </a:rPr>
              <a:t>실행 시 → </a:t>
            </a:r>
            <a:r>
              <a:rPr lang="en-US" altLang="ko-KR" dirty="0">
                <a:latin typeface="MS Reference Sans Serif" panose="020B0604030504040204" pitchFamily="34" charset="0"/>
              </a:rPr>
              <a:t>Array Resized : 4 </a:t>
            </a:r>
            <a:r>
              <a:rPr lang="ko-KR" altLang="en-US" dirty="0">
                <a:latin typeface="MS Reference Sans Serif" panose="020B0604030504040204" pitchFamily="34" charset="0"/>
              </a:rPr>
              <a:t>출력</a:t>
            </a:r>
          </a:p>
          <a:p>
            <a:pPr>
              <a:buFont typeface="+mj-lt"/>
              <a:buAutoNum type="arabicPeriod"/>
            </a:pPr>
            <a:r>
              <a:rPr lang="en-US" altLang="ko-KR" dirty="0">
                <a:latin typeface="MS Reference Sans Serif" panose="020B0604030504040204" pitchFamily="34" charset="0"/>
              </a:rPr>
              <a:t>list[4] = 4 </a:t>
            </a:r>
            <a:r>
              <a:rPr lang="ko-KR" altLang="en-US" dirty="0">
                <a:latin typeface="MS Reference Sans Serif" panose="020B0604030504040204" pitchFamily="34" charset="0"/>
              </a:rPr>
              <a:t>실행 시 → </a:t>
            </a:r>
            <a:r>
              <a:rPr lang="en-US" altLang="ko-KR" dirty="0">
                <a:latin typeface="MS Reference Sans Serif" panose="020B0604030504040204" pitchFamily="34" charset="0"/>
              </a:rPr>
              <a:t>Array Resized : 5 </a:t>
            </a:r>
            <a:r>
              <a:rPr lang="ko-KR" altLang="en-US" dirty="0">
                <a:latin typeface="MS Reference Sans Serif" panose="020B0604030504040204" pitchFamily="34" charset="0"/>
              </a:rPr>
              <a:t>출력</a:t>
            </a:r>
          </a:p>
          <a:p>
            <a:pPr>
              <a:buNone/>
            </a:pPr>
            <a:r>
              <a:rPr lang="ko-KR" altLang="en-US" dirty="0">
                <a:latin typeface="MS Reference Sans Serif" panose="020B0604030504040204" pitchFamily="34" charset="0"/>
              </a:rPr>
              <a:t>즉</a:t>
            </a:r>
            <a:r>
              <a:rPr lang="en-US" altLang="ko-KR" dirty="0">
                <a:latin typeface="MS Reference Sans Serif" panose="020B0604030504040204" pitchFamily="34" charset="0"/>
              </a:rPr>
              <a:t>, </a:t>
            </a:r>
            <a:r>
              <a:rPr lang="ko-KR" altLang="en-US" dirty="0">
                <a:latin typeface="MS Reference Sans Serif" panose="020B0604030504040204" pitchFamily="34" charset="0"/>
              </a:rPr>
              <a:t>내부 배열 최종 상태</a:t>
            </a:r>
            <a:r>
              <a:rPr lang="en-US" altLang="ko-KR" dirty="0">
                <a:latin typeface="MS Reference Sans Serif" panose="020B0604030504040204" pitchFamily="34" charset="0"/>
              </a:rPr>
              <a:t>:</a:t>
            </a:r>
            <a:br>
              <a:rPr lang="en-US" altLang="ko-KR" dirty="0">
                <a:latin typeface="MS Reference Sans Serif" panose="020B0604030504040204" pitchFamily="34" charset="0"/>
              </a:rPr>
            </a:br>
            <a:r>
              <a:rPr lang="en-US" altLang="ko-KR" dirty="0">
                <a:latin typeface="MS Reference Sans Serif" panose="020B0604030504040204" pitchFamily="34" charset="0"/>
              </a:rPr>
              <a:t>[0, 1, 2, 3, 4]</a:t>
            </a:r>
            <a:endParaRPr lang="ko-KR" altLang="en-US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71507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44B5-0F88-26D6-4877-5EDA9D36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DD273-BA17-2CB9-D9C9-93574813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MS Reference Sans Serif" panose="020B0604030504040204" pitchFamily="34" charset="0"/>
              </a:rPr>
              <a:t>10. Foreach</a:t>
            </a:r>
            <a:r>
              <a:rPr lang="ko-KR" altLang="en-US" dirty="0">
                <a:latin typeface="MS Reference Sans Serif" panose="020B0604030504040204" pitchFamily="34" charset="0"/>
              </a:rPr>
              <a:t>가 가능한 객체 만들기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3F4D3B4-6F4A-96CA-C581-D0413E63B6BF}"/>
              </a:ext>
            </a:extLst>
          </p:cNvPr>
          <p:cNvGrpSpPr/>
          <p:nvPr/>
        </p:nvGrpSpPr>
        <p:grpSpPr>
          <a:xfrm>
            <a:off x="198408" y="1026545"/>
            <a:ext cx="7703387" cy="523220"/>
            <a:chOff x="198408" y="862644"/>
            <a:chExt cx="7703387" cy="52322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2D7CE97-5FAE-0611-AD50-6D8FF93A5962}"/>
                </a:ext>
              </a:extLst>
            </p:cNvPr>
            <p:cNvSpPr/>
            <p:nvPr/>
          </p:nvSpPr>
          <p:spPr>
            <a:xfrm>
              <a:off x="221417" y="954658"/>
              <a:ext cx="60384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B9BF8DE-B272-A7C3-DAB4-4766026A94B6}"/>
                </a:ext>
              </a:extLst>
            </p:cNvPr>
            <p:cNvSpPr/>
            <p:nvPr/>
          </p:nvSpPr>
          <p:spPr>
            <a:xfrm>
              <a:off x="335222" y="862644"/>
              <a:ext cx="75665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>
                <a:spcBef>
                  <a:spcPts val="171"/>
                </a:spcBef>
                <a:tabLst>
                  <a:tab pos="60873" algn="l"/>
                  <a:tab pos="97396" algn="l"/>
                </a:tabLst>
              </a:pPr>
              <a:r>
                <a:rPr lang="en-US" altLang="ko-KR" sz="28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Enumerable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B8D15D1-F5CB-15DC-4A59-210BE2D4806C}"/>
                </a:ext>
              </a:extLst>
            </p:cNvPr>
            <p:cNvSpPr/>
            <p:nvPr/>
          </p:nvSpPr>
          <p:spPr>
            <a:xfrm>
              <a:off x="198408" y="923026"/>
              <a:ext cx="60384" cy="360000"/>
            </a:xfrm>
            <a:prstGeom prst="rect">
              <a:avLst/>
            </a:prstGeom>
            <a:solidFill>
              <a:srgbClr val="20B3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S Reference Sans Serif" panose="020B060403050404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972A792-D4CB-667D-160C-1430E6336052}"/>
              </a:ext>
            </a:extLst>
          </p:cNvPr>
          <p:cNvSpPr txBox="1"/>
          <p:nvPr/>
        </p:nvSpPr>
        <p:spPr>
          <a:xfrm>
            <a:off x="335222" y="2139387"/>
            <a:ext cx="84735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latin typeface="MS Reference Sans Serif" panose="020B0604030504040204" pitchFamily="34" charset="0"/>
              </a:rPr>
              <a:t>foreach </a:t>
            </a:r>
            <a:r>
              <a:rPr lang="ko-KR" altLang="en-US" b="1" dirty="0" err="1">
                <a:latin typeface="MS Reference Sans Serif" panose="020B0604030504040204" pitchFamily="34" charset="0"/>
              </a:rPr>
              <a:t>반복문</a:t>
            </a:r>
            <a:endParaRPr lang="ko-KR" altLang="en-US" b="1" dirty="0">
              <a:latin typeface="MS Reference Sans Serif" panose="020B0604030504040204" pitchFamily="34" charset="0"/>
            </a:endParaRP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foreach (int e in list)</a:t>
            </a:r>
          </a:p>
          <a:p>
            <a:pPr rtl="0">
              <a:buNone/>
            </a:pPr>
            <a:r>
              <a:rPr lang="en-US" altLang="ko-KR" dirty="0">
                <a:latin typeface="MS Reference Sans Serif" panose="020B0604030504040204" pitchFamily="34" charset="0"/>
              </a:rPr>
              <a:t>    </a:t>
            </a:r>
            <a:r>
              <a:rPr lang="en-US" altLang="ko-KR" dirty="0" err="1">
                <a:latin typeface="MS Reference Sans Serif" panose="020B0604030504040204" pitchFamily="34" charset="0"/>
              </a:rPr>
              <a:t>Console.WriteLine</a:t>
            </a:r>
            <a:r>
              <a:rPr lang="en-US" altLang="ko-KR" dirty="0">
                <a:latin typeface="MS Reference Sans Serif" panose="020B0604030504040204" pitchFamily="34" charset="0"/>
              </a:rPr>
              <a:t>(e);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MS Reference Sans Serif" panose="020B0604030504040204" pitchFamily="34" charset="0"/>
              </a:rPr>
              <a:t>foreach → </a:t>
            </a:r>
            <a:r>
              <a:rPr lang="ko-KR" altLang="en-US" dirty="0">
                <a:latin typeface="MS Reference Sans Serif" panose="020B0604030504040204" pitchFamily="34" charset="0"/>
              </a:rPr>
              <a:t>내부적으로 다음 동작 수행</a:t>
            </a:r>
            <a:r>
              <a:rPr lang="en-US" altLang="ko-KR" dirty="0">
                <a:latin typeface="MS Reference Sans Serif" panose="020B060403050404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MS Reference Sans Serif" panose="020B0604030504040204" pitchFamily="34" charset="0"/>
              </a:rPr>
              <a:t>GetEnumerator</a:t>
            </a:r>
            <a:r>
              <a:rPr lang="en-US" altLang="ko-KR" dirty="0">
                <a:latin typeface="MS Reference Sans Serif" panose="020B0604030504040204" pitchFamily="34" charset="0"/>
              </a:rPr>
              <a:t>() </a:t>
            </a:r>
            <a:r>
              <a:rPr lang="ko-KR" altLang="en-US" dirty="0">
                <a:latin typeface="MS Reference Sans Serif" panose="020B0604030504040204" pitchFamily="34" charset="0"/>
              </a:rPr>
              <a:t>호출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MS Reference Sans Serif" panose="020B0604030504040204" pitchFamily="34" charset="0"/>
              </a:rPr>
              <a:t>MoveNext</a:t>
            </a:r>
            <a:r>
              <a:rPr lang="en-US" altLang="ko-KR" dirty="0">
                <a:latin typeface="MS Reference Sans Serif" panose="020B0604030504040204" pitchFamily="34" charset="0"/>
              </a:rPr>
              <a:t>() </a:t>
            </a:r>
            <a:r>
              <a:rPr lang="ko-KR" altLang="en-US" dirty="0">
                <a:latin typeface="MS Reference Sans Serif" panose="020B0604030504040204" pitchFamily="34" charset="0"/>
              </a:rPr>
              <a:t>반복 호출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MS Reference Sans Serif" panose="020B0604030504040204" pitchFamily="34" charset="0"/>
              </a:rPr>
              <a:t>Current </a:t>
            </a:r>
            <a:r>
              <a:rPr lang="ko-KR" altLang="en-US" dirty="0">
                <a:latin typeface="MS Reference Sans Serif" panose="020B0604030504040204" pitchFamily="34" charset="0"/>
              </a:rPr>
              <a:t>값 읽기 → </a:t>
            </a:r>
            <a:r>
              <a:rPr lang="en-US" altLang="ko-KR" dirty="0">
                <a:latin typeface="MS Reference Sans Serif" panose="020B0604030504040204" pitchFamily="34" charset="0"/>
              </a:rPr>
              <a:t>e </a:t>
            </a:r>
            <a:r>
              <a:rPr lang="ko-KR" altLang="en-US" dirty="0">
                <a:latin typeface="MS Reference Sans Serif" panose="020B0604030504040204" pitchFamily="34" charset="0"/>
              </a:rPr>
              <a:t>변수에 저장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MS Reference Sans Serif" panose="020B0604030504040204" pitchFamily="34" charset="0"/>
              </a:rPr>
              <a:t>MoveNext</a:t>
            </a:r>
            <a:r>
              <a:rPr lang="en-US" altLang="ko-KR" dirty="0">
                <a:latin typeface="MS Reference Sans Serif" panose="020B0604030504040204" pitchFamily="34" charset="0"/>
              </a:rPr>
              <a:t>()</a:t>
            </a:r>
            <a:r>
              <a:rPr lang="ko-KR" altLang="en-US" dirty="0">
                <a:latin typeface="MS Reference Sans Serif" panose="020B0604030504040204" pitchFamily="34" charset="0"/>
              </a:rPr>
              <a:t>가 </a:t>
            </a:r>
            <a:r>
              <a:rPr lang="en-US" altLang="ko-KR" dirty="0">
                <a:latin typeface="MS Reference Sans Serif" panose="020B0604030504040204" pitchFamily="34" charset="0"/>
              </a:rPr>
              <a:t>false</a:t>
            </a:r>
            <a:r>
              <a:rPr lang="ko-KR" altLang="en-US" dirty="0">
                <a:latin typeface="MS Reference Sans Serif" panose="020B0604030504040204" pitchFamily="34" charset="0"/>
              </a:rPr>
              <a:t>를 반환하면 종료</a:t>
            </a:r>
          </a:p>
        </p:txBody>
      </p:sp>
    </p:spTree>
    <p:extLst>
      <p:ext uri="{BB962C8B-B14F-4D97-AF65-F5344CB8AC3E}">
        <p14:creationId xmlns:p14="http://schemas.microsoft.com/office/powerpoint/2010/main" val="95607622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6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214" y="1604574"/>
            <a:ext cx="3851782" cy="3242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직사각형 3"/>
          <p:cNvSpPr>
            <a:spLocks noChangeArrowheads="1"/>
          </p:cNvSpPr>
          <p:nvPr/>
        </p:nvSpPr>
        <p:spPr bwMode="auto">
          <a:xfrm>
            <a:off x="1352848" y="2636913"/>
            <a:ext cx="2232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hangingPunct="1">
              <a:defRPr/>
            </a:pPr>
            <a:r>
              <a:rPr lang="ko-KR" altLang="en-US" sz="2400" dirty="0">
                <a:ln>
                  <a:solidFill>
                    <a:schemeClr val="bg1">
                      <a:alpha val="73000"/>
                    </a:schemeClr>
                  </a:solidFill>
                </a:ln>
                <a:gradFill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16200000" scaled="0"/>
                </a:gradFill>
                <a:latin typeface="Georgia" panose="02040502050405020303" pitchFamily="18" charset="0"/>
                <a:ea typeface="맑은 고딕" panose="020B0503020000020004" pitchFamily="50" charset="-127"/>
                <a:cs typeface="Arial" pitchFamily="34" charset="0"/>
              </a:rPr>
              <a:t>감사합니다</a:t>
            </a:r>
            <a:r>
              <a:rPr lang="en-US" altLang="ko-KR" sz="2400" dirty="0">
                <a:ln>
                  <a:solidFill>
                    <a:schemeClr val="bg1">
                      <a:alpha val="73000"/>
                    </a:schemeClr>
                  </a:solidFill>
                </a:ln>
                <a:gradFill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16200000" scaled="0"/>
                </a:gradFill>
                <a:latin typeface="Georgia" panose="02040502050405020303" pitchFamily="18" charset="0"/>
                <a:ea typeface="맑은 고딕" panose="020B0503020000020004" pitchFamily="50" charset="-127"/>
                <a:cs typeface="Arial" pitchFamily="34" charset="0"/>
              </a:rPr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0660FD-8F06-4D3D-AEEE-06CA9FEF8AFB}"/>
              </a:ext>
            </a:extLst>
          </p:cNvPr>
          <p:cNvSpPr/>
          <p:nvPr/>
        </p:nvSpPr>
        <p:spPr>
          <a:xfrm>
            <a:off x="5314430" y="3244334"/>
            <a:ext cx="36997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1400" b="1" dirty="0">
                <a:solidFill>
                  <a:schemeClr val="bg1"/>
                </a:solidFill>
                <a:latin typeface="Georgia" panose="02040502050405020303" pitchFamily="18" charset="0"/>
              </a:rPr>
              <a:t>Mobile: 010-9591-1401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1400" b="1" dirty="0">
                <a:solidFill>
                  <a:schemeClr val="bg1"/>
                </a:solidFill>
                <a:latin typeface="Georgia" panose="02040502050405020303" pitchFamily="18" charset="0"/>
              </a:rPr>
              <a:t>E-mail: onlooker2zip@naver.com</a:t>
            </a:r>
            <a:endParaRPr lang="ko-KR" altLang="en-US" sz="1400" b="1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707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14441</TotalTime>
  <Words>20389</Words>
  <Application>Microsoft Office PowerPoint</Application>
  <PresentationFormat>화면 슬라이드 쇼(4:3)</PresentationFormat>
  <Paragraphs>3339</Paragraphs>
  <Slides>159</Slides>
  <Notes>156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159</vt:i4>
      </vt:variant>
    </vt:vector>
  </HeadingPairs>
  <TitlesOfParts>
    <vt:vector size="171" baseType="lpstr">
      <vt:lpstr>Lora</vt:lpstr>
      <vt:lpstr>HY견명조</vt:lpstr>
      <vt:lpstr>MS Reference Sans Serif</vt:lpstr>
      <vt:lpstr>나눔고딕</vt:lpstr>
      <vt:lpstr>HY헤드라인M</vt:lpstr>
      <vt:lpstr>Courier New</vt:lpstr>
      <vt:lpstr>Arial</vt:lpstr>
      <vt:lpstr>Georgia</vt:lpstr>
      <vt:lpstr>맑은 고딕</vt:lpstr>
      <vt:lpstr>Franklin Gothic Demi</vt:lpstr>
      <vt:lpstr>Wingdings</vt:lpstr>
      <vt:lpstr>Office 테마</vt:lpstr>
      <vt:lpstr>PowerPoint 프레젠테이션</vt:lpstr>
      <vt:lpstr>학습일정 및 내용</vt:lpstr>
      <vt:lpstr>목차</vt:lpstr>
      <vt:lpstr>1. 배열이란?</vt:lpstr>
      <vt:lpstr>1. 배열이란?</vt:lpstr>
      <vt:lpstr>1. 배열이란?</vt:lpstr>
      <vt:lpstr>1. 배열이란?</vt:lpstr>
      <vt:lpstr>1. 배열이란?</vt:lpstr>
      <vt:lpstr>1. 배열이란?</vt:lpstr>
      <vt:lpstr>1. 배열이란?</vt:lpstr>
      <vt:lpstr>1. 배열이란?</vt:lpstr>
      <vt:lpstr>1. 배열이란?</vt:lpstr>
      <vt:lpstr>1. 배열이란?</vt:lpstr>
      <vt:lpstr>1. 배열이란?</vt:lpstr>
      <vt:lpstr>1. 배열이란?</vt:lpstr>
      <vt:lpstr>1. 배열이란?</vt:lpstr>
      <vt:lpstr>1. 배열이란?</vt:lpstr>
      <vt:lpstr>2. 배열을 초기화하는 세 가지 방법</vt:lpstr>
      <vt:lpstr>2. 배열을 초기화하는 세 가지 방법</vt:lpstr>
      <vt:lpstr>2. 배열을 초기화하는 세 가지 방법</vt:lpstr>
      <vt:lpstr>2. 배열을 초기화하는 세 가지 방법</vt:lpstr>
      <vt:lpstr>3. System.Array </vt:lpstr>
      <vt:lpstr>3. System.Array </vt:lpstr>
      <vt:lpstr>3. System.Array </vt:lpstr>
      <vt:lpstr>3. System.Array </vt:lpstr>
      <vt:lpstr>3. System.Array </vt:lpstr>
      <vt:lpstr>3. System.Array </vt:lpstr>
      <vt:lpstr>3. System.Array </vt:lpstr>
      <vt:lpstr>3. System.Array </vt:lpstr>
      <vt:lpstr>3. System.Array </vt:lpstr>
      <vt:lpstr>3. System.Array </vt:lpstr>
      <vt:lpstr>3. System.Array </vt:lpstr>
      <vt:lpstr>3. System.Array </vt:lpstr>
      <vt:lpstr>3. System.Array </vt:lpstr>
      <vt:lpstr>3. System.Array </vt:lpstr>
      <vt:lpstr>3. System.Array </vt:lpstr>
      <vt:lpstr>3. System.Array </vt:lpstr>
      <vt:lpstr>3. System.Array </vt:lpstr>
      <vt:lpstr>4. 배열 분할하기</vt:lpstr>
      <vt:lpstr>4. 배열 분할하기</vt:lpstr>
      <vt:lpstr>4. 배열 분할하기</vt:lpstr>
      <vt:lpstr>4. 배열 분할하기</vt:lpstr>
      <vt:lpstr>4. 배열 분할하기</vt:lpstr>
      <vt:lpstr>4. 배열 분할하기</vt:lpstr>
      <vt:lpstr>5. 2차원 배열</vt:lpstr>
      <vt:lpstr>5. 2차원 배열</vt:lpstr>
      <vt:lpstr>5. 2차원 배열</vt:lpstr>
      <vt:lpstr>5. 2차원 배열</vt:lpstr>
      <vt:lpstr>5. 2차원 배열</vt:lpstr>
      <vt:lpstr>5. 2차원 배열</vt:lpstr>
      <vt:lpstr>5. 2차원 배열</vt:lpstr>
      <vt:lpstr>5. 2차원 배열</vt:lpstr>
      <vt:lpstr>5. 2차원 배열</vt:lpstr>
      <vt:lpstr>5. 2차원 배열</vt:lpstr>
      <vt:lpstr>5. 2차원 배열</vt:lpstr>
      <vt:lpstr>5. 2차원 배열</vt:lpstr>
      <vt:lpstr>5. 2차원 배열</vt:lpstr>
      <vt:lpstr>5. 2차원 배열</vt:lpstr>
      <vt:lpstr>5. 2차원 배열</vt:lpstr>
      <vt:lpstr>6. 다차원 배열</vt:lpstr>
      <vt:lpstr>6. 다차원 배열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7. 가변배열(Jagged Array)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8. 컬렉션(Collection)</vt:lpstr>
      <vt:lpstr>9. 인덱서(Indexer)</vt:lpstr>
      <vt:lpstr>9. 인덱서(Indexer)</vt:lpstr>
      <vt:lpstr>9. 인덱서(Indexer)</vt:lpstr>
      <vt:lpstr>9. 인덱서(Indexer)</vt:lpstr>
      <vt:lpstr>9. 인덱서(Indexer)</vt:lpstr>
      <vt:lpstr>9. 인덱서(Indexer)</vt:lpstr>
      <vt:lpstr>9. 인덱서(Indexer)</vt:lpstr>
      <vt:lpstr>9. 인덱서(Indexer)</vt:lpstr>
      <vt:lpstr>9. 인덱서(Indexer)</vt:lpstr>
      <vt:lpstr>9. 인덱서(Indexer)</vt:lpstr>
      <vt:lpstr>10. Foreach가 가능한 객체 만들기</vt:lpstr>
      <vt:lpstr>10. Foreach가 가능한 객체 만들기</vt:lpstr>
      <vt:lpstr>10. Foreach가 가능한 객체 만들기</vt:lpstr>
      <vt:lpstr>10. Foreach가 가능한 객체 만들기</vt:lpstr>
      <vt:lpstr>10. Foreach가 가능한 객체 만들기</vt:lpstr>
      <vt:lpstr>10. Foreach가 가능한 객체 만들기</vt:lpstr>
      <vt:lpstr>10. Foreach가 가능한 객체 만들기</vt:lpstr>
      <vt:lpstr>10. Foreach가 가능한 객체 만들기</vt:lpstr>
      <vt:lpstr>10. Foreach가 가능한 객체 만들기</vt:lpstr>
      <vt:lpstr>10. Foreach가 가능한 객체 만들기</vt:lpstr>
      <vt:lpstr>10. Foreach가 가능한 객체 만들기</vt:lpstr>
      <vt:lpstr>10. Foreach가 가능한 객체 만들기</vt:lpstr>
      <vt:lpstr>10. Foreach가 가능한 객체 만들기</vt:lpstr>
      <vt:lpstr>10. Foreach가 가능한 객체 만들기</vt:lpstr>
      <vt:lpstr>10. Foreach가 가능한 객체 만들기</vt:lpstr>
      <vt:lpstr>10. Foreach가 가능한 객체 만들기</vt:lpstr>
      <vt:lpstr>10. Foreach가 가능한 객체 만들기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김혜선</dc:creator>
  <cp:lastModifiedBy>대경 김</cp:lastModifiedBy>
  <cp:revision>999</cp:revision>
  <dcterms:created xsi:type="dcterms:W3CDTF">2016-06-24T06:15:59Z</dcterms:created>
  <dcterms:modified xsi:type="dcterms:W3CDTF">2025-11-15T01:03:34Z</dcterms:modified>
</cp:coreProperties>
</file>